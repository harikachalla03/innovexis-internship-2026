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1"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4D7B39-CC7E-4937-847D-9E5717511EC3}" v="20" dt="2026-09-21T13:12:12.3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13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ika Challa" userId="135cdfd11f38c2ac" providerId="LiveId" clId="{D76684D5-5A26-45C6-AD39-980DC061D39F}"/>
    <pc:docChg chg="custSel addSld modSld">
      <pc:chgData name="Harika Challa" userId="135cdfd11f38c2ac" providerId="LiveId" clId="{D76684D5-5A26-45C6-AD39-980DC061D39F}" dt="2026-09-21T13:12:40.502" v="342" actId="113"/>
      <pc:docMkLst>
        <pc:docMk/>
      </pc:docMkLst>
      <pc:sldChg chg="modSp mod">
        <pc:chgData name="Harika Challa" userId="135cdfd11f38c2ac" providerId="LiveId" clId="{D76684D5-5A26-45C6-AD39-980DC061D39F}" dt="2026-09-21T12:49:13.497" v="44" actId="2711"/>
        <pc:sldMkLst>
          <pc:docMk/>
          <pc:sldMk cId="3985355372" sldId="258"/>
        </pc:sldMkLst>
        <pc:spChg chg="mod">
          <ac:chgData name="Harika Challa" userId="135cdfd11f38c2ac" providerId="LiveId" clId="{D76684D5-5A26-45C6-AD39-980DC061D39F}" dt="2026-09-21T12:49:13.497" v="44" actId="2711"/>
          <ac:spMkLst>
            <pc:docMk/>
            <pc:sldMk cId="3985355372" sldId="258"/>
            <ac:spMk id="3" creationId="{4183D7F2-390E-9075-F536-841F71A5A23F}"/>
          </ac:spMkLst>
        </pc:spChg>
      </pc:sldChg>
      <pc:sldChg chg="addSp delSp modSp new mod">
        <pc:chgData name="Harika Challa" userId="135cdfd11f38c2ac" providerId="LiveId" clId="{D76684D5-5A26-45C6-AD39-980DC061D39F}" dt="2026-09-21T12:49:20.065" v="45" actId="2711"/>
        <pc:sldMkLst>
          <pc:docMk/>
          <pc:sldMk cId="251874578" sldId="259"/>
        </pc:sldMkLst>
        <pc:spChg chg="mod">
          <ac:chgData name="Harika Challa" userId="135cdfd11f38c2ac" providerId="LiveId" clId="{D76684D5-5A26-45C6-AD39-980DC061D39F}" dt="2026-09-21T12:49:20.065" v="45" actId="2711"/>
          <ac:spMkLst>
            <pc:docMk/>
            <pc:sldMk cId="251874578" sldId="259"/>
            <ac:spMk id="2" creationId="{5D5F2107-C74C-FEAE-076D-FDADD4135339}"/>
          </ac:spMkLst>
        </pc:spChg>
        <pc:spChg chg="add del mod">
          <ac:chgData name="Harika Challa" userId="135cdfd11f38c2ac" providerId="LiveId" clId="{D76684D5-5A26-45C6-AD39-980DC061D39F}" dt="2026-09-21T12:47:08.434" v="4" actId="21"/>
          <ac:spMkLst>
            <pc:docMk/>
            <pc:sldMk cId="251874578" sldId="259"/>
            <ac:spMk id="3" creationId="{1EA1C7DD-BC33-135D-E263-49FF0A0D0F7C}"/>
          </ac:spMkLst>
        </pc:spChg>
        <pc:picChg chg="add mod">
          <ac:chgData name="Harika Challa" userId="135cdfd11f38c2ac" providerId="LiveId" clId="{D76684D5-5A26-45C6-AD39-980DC061D39F}" dt="2026-09-21T12:48:22.126" v="37" actId="14100"/>
          <ac:picMkLst>
            <pc:docMk/>
            <pc:sldMk cId="251874578" sldId="259"/>
            <ac:picMk id="5" creationId="{F4325B41-2FFB-B262-2DDB-48725623E808}"/>
          </ac:picMkLst>
        </pc:picChg>
      </pc:sldChg>
      <pc:sldChg chg="addSp modSp new mod">
        <pc:chgData name="Harika Challa" userId="135cdfd11f38c2ac" providerId="LiveId" clId="{D76684D5-5A26-45C6-AD39-980DC061D39F}" dt="2026-09-21T12:50:12.817" v="55" actId="1076"/>
        <pc:sldMkLst>
          <pc:docMk/>
          <pc:sldMk cId="3592023040" sldId="260"/>
        </pc:sldMkLst>
        <pc:spChg chg="mod">
          <ac:chgData name="Harika Challa" userId="135cdfd11f38c2ac" providerId="LiveId" clId="{D76684D5-5A26-45C6-AD39-980DC061D39F}" dt="2026-09-21T12:49:49.304" v="50" actId="1076"/>
          <ac:spMkLst>
            <pc:docMk/>
            <pc:sldMk cId="3592023040" sldId="260"/>
            <ac:spMk id="2" creationId="{D822E43C-7DEB-C0DC-5120-5E14901297FA}"/>
          </ac:spMkLst>
        </pc:spChg>
        <pc:picChg chg="add mod">
          <ac:chgData name="Harika Challa" userId="135cdfd11f38c2ac" providerId="LiveId" clId="{D76684D5-5A26-45C6-AD39-980DC061D39F}" dt="2026-09-21T12:50:12.817" v="55" actId="1076"/>
          <ac:picMkLst>
            <pc:docMk/>
            <pc:sldMk cId="3592023040" sldId="260"/>
            <ac:picMk id="4" creationId="{13CBDD56-0598-CC56-2270-77373188B555}"/>
          </ac:picMkLst>
        </pc:picChg>
      </pc:sldChg>
      <pc:sldChg chg="addSp modSp new mod">
        <pc:chgData name="Harika Challa" userId="135cdfd11f38c2ac" providerId="LiveId" clId="{D76684D5-5A26-45C6-AD39-980DC061D39F}" dt="2026-09-21T12:51:03.812" v="64" actId="1076"/>
        <pc:sldMkLst>
          <pc:docMk/>
          <pc:sldMk cId="604596065" sldId="261"/>
        </pc:sldMkLst>
        <pc:spChg chg="mod">
          <ac:chgData name="Harika Challa" userId="135cdfd11f38c2ac" providerId="LiveId" clId="{D76684D5-5A26-45C6-AD39-980DC061D39F}" dt="2026-09-21T12:51:03.812" v="64" actId="1076"/>
          <ac:spMkLst>
            <pc:docMk/>
            <pc:sldMk cId="604596065" sldId="261"/>
            <ac:spMk id="2" creationId="{26E37139-6369-E2A2-A9AA-4E69CF346D1E}"/>
          </ac:spMkLst>
        </pc:spChg>
        <pc:picChg chg="add mod">
          <ac:chgData name="Harika Challa" userId="135cdfd11f38c2ac" providerId="LiveId" clId="{D76684D5-5A26-45C6-AD39-980DC061D39F}" dt="2026-09-21T12:50:59.937" v="63" actId="14100"/>
          <ac:picMkLst>
            <pc:docMk/>
            <pc:sldMk cId="604596065" sldId="261"/>
            <ac:picMk id="4" creationId="{6A5A6369-237C-7107-6C77-2AEC8B5FCF68}"/>
          </ac:picMkLst>
        </pc:picChg>
      </pc:sldChg>
      <pc:sldChg chg="addSp modSp new mod">
        <pc:chgData name="Harika Challa" userId="135cdfd11f38c2ac" providerId="LiveId" clId="{D76684D5-5A26-45C6-AD39-980DC061D39F}" dt="2026-09-21T12:53:49.741" v="79" actId="1076"/>
        <pc:sldMkLst>
          <pc:docMk/>
          <pc:sldMk cId="39643089" sldId="262"/>
        </pc:sldMkLst>
        <pc:spChg chg="mod">
          <ac:chgData name="Harika Challa" userId="135cdfd11f38c2ac" providerId="LiveId" clId="{D76684D5-5A26-45C6-AD39-980DC061D39F}" dt="2026-09-21T12:53:49.741" v="79" actId="1076"/>
          <ac:spMkLst>
            <pc:docMk/>
            <pc:sldMk cId="39643089" sldId="262"/>
            <ac:spMk id="2" creationId="{E34716CF-F688-AE54-29E1-8789ED05F11D}"/>
          </ac:spMkLst>
        </pc:spChg>
        <pc:picChg chg="add mod">
          <ac:chgData name="Harika Challa" userId="135cdfd11f38c2ac" providerId="LiveId" clId="{D76684D5-5A26-45C6-AD39-980DC061D39F}" dt="2026-09-21T12:53:46.077" v="78" actId="14100"/>
          <ac:picMkLst>
            <pc:docMk/>
            <pc:sldMk cId="39643089" sldId="262"/>
            <ac:picMk id="4" creationId="{722C10AD-BAD5-A943-E525-9072E8C373B7}"/>
          </ac:picMkLst>
        </pc:picChg>
      </pc:sldChg>
      <pc:sldChg chg="addSp delSp modSp new mod">
        <pc:chgData name="Harika Challa" userId="135cdfd11f38c2ac" providerId="LiveId" clId="{D76684D5-5A26-45C6-AD39-980DC061D39F}" dt="2026-09-21T13:10:01.370" v="273" actId="1076"/>
        <pc:sldMkLst>
          <pc:docMk/>
          <pc:sldMk cId="3640766222" sldId="263"/>
        </pc:sldMkLst>
        <pc:spChg chg="mod">
          <ac:chgData name="Harika Challa" userId="135cdfd11f38c2ac" providerId="LiveId" clId="{D76684D5-5A26-45C6-AD39-980DC061D39F}" dt="2026-09-21T13:04:08.963" v="191" actId="1076"/>
          <ac:spMkLst>
            <pc:docMk/>
            <pc:sldMk cId="3640766222" sldId="263"/>
            <ac:spMk id="2" creationId="{63DBEFDC-9613-E681-72C9-F3FBA90E9320}"/>
          </ac:spMkLst>
        </pc:spChg>
        <pc:spChg chg="add del mod">
          <ac:chgData name="Harika Challa" userId="135cdfd11f38c2ac" providerId="LiveId" clId="{D76684D5-5A26-45C6-AD39-980DC061D39F}" dt="2026-09-21T12:56:22.322" v="92" actId="21"/>
          <ac:spMkLst>
            <pc:docMk/>
            <pc:sldMk cId="3640766222" sldId="263"/>
            <ac:spMk id="4" creationId="{6F713F3B-9048-B06B-3810-941A18D0EAFA}"/>
          </ac:spMkLst>
        </pc:spChg>
        <pc:spChg chg="add mod">
          <ac:chgData name="Harika Challa" userId="135cdfd11f38c2ac" providerId="LiveId" clId="{D76684D5-5A26-45C6-AD39-980DC061D39F}" dt="2026-09-21T13:10:01.370" v="273" actId="1076"/>
          <ac:spMkLst>
            <pc:docMk/>
            <pc:sldMk cId="3640766222" sldId="263"/>
            <ac:spMk id="6" creationId="{283FB41C-48A7-A50F-6857-4D47F97A292A}"/>
          </ac:spMkLst>
        </pc:spChg>
      </pc:sldChg>
      <pc:sldChg chg="addSp delSp modSp new mod">
        <pc:chgData name="Harika Challa" userId="135cdfd11f38c2ac" providerId="LiveId" clId="{D76684D5-5A26-45C6-AD39-980DC061D39F}" dt="2026-09-21T13:10:13.821" v="275" actId="1076"/>
        <pc:sldMkLst>
          <pc:docMk/>
          <pc:sldMk cId="1140298392" sldId="264"/>
        </pc:sldMkLst>
        <pc:spChg chg="del">
          <ac:chgData name="Harika Challa" userId="135cdfd11f38c2ac" providerId="LiveId" clId="{D76684D5-5A26-45C6-AD39-980DC061D39F}" dt="2026-09-21T13:04:19.773" v="193" actId="21"/>
          <ac:spMkLst>
            <pc:docMk/>
            <pc:sldMk cId="1140298392" sldId="264"/>
            <ac:spMk id="2" creationId="{5AE1C7BF-F0FC-6D8A-96F9-040C41071F5C}"/>
          </ac:spMkLst>
        </pc:spChg>
        <pc:spChg chg="add mod">
          <ac:chgData name="Harika Challa" userId="135cdfd11f38c2ac" providerId="LiveId" clId="{D76684D5-5A26-45C6-AD39-980DC061D39F}" dt="2026-09-21T13:10:13.821" v="275" actId="1076"/>
          <ac:spMkLst>
            <pc:docMk/>
            <pc:sldMk cId="1140298392" sldId="264"/>
            <ac:spMk id="3" creationId="{A31F9617-49D7-66A1-3220-91F4E77253A1}"/>
          </ac:spMkLst>
        </pc:spChg>
      </pc:sldChg>
      <pc:sldChg chg="addSp modSp new mod">
        <pc:chgData name="Harika Challa" userId="135cdfd11f38c2ac" providerId="LiveId" clId="{D76684D5-5A26-45C6-AD39-980DC061D39F}" dt="2026-09-21T13:11:00.921" v="287" actId="20577"/>
        <pc:sldMkLst>
          <pc:docMk/>
          <pc:sldMk cId="1934030152" sldId="265"/>
        </pc:sldMkLst>
        <pc:spChg chg="add mod">
          <ac:chgData name="Harika Challa" userId="135cdfd11f38c2ac" providerId="LiveId" clId="{D76684D5-5A26-45C6-AD39-980DC061D39F}" dt="2026-09-21T13:11:00.921" v="287" actId="20577"/>
          <ac:spMkLst>
            <pc:docMk/>
            <pc:sldMk cId="1934030152" sldId="265"/>
            <ac:spMk id="2" creationId="{E242D35E-E00B-6F1B-A88F-0C72959D5FEC}"/>
          </ac:spMkLst>
        </pc:spChg>
      </pc:sldChg>
      <pc:sldChg chg="addSp modSp new mod">
        <pc:chgData name="Harika Challa" userId="135cdfd11f38c2ac" providerId="LiveId" clId="{D76684D5-5A26-45C6-AD39-980DC061D39F}" dt="2026-09-21T13:12:40.502" v="342" actId="113"/>
        <pc:sldMkLst>
          <pc:docMk/>
          <pc:sldMk cId="3824386112" sldId="266"/>
        </pc:sldMkLst>
        <pc:spChg chg="add mod">
          <ac:chgData name="Harika Challa" userId="135cdfd11f38c2ac" providerId="LiveId" clId="{D76684D5-5A26-45C6-AD39-980DC061D39F}" dt="2026-09-21T13:12:07.913" v="306" actId="14100"/>
          <ac:spMkLst>
            <pc:docMk/>
            <pc:sldMk cId="3824386112" sldId="266"/>
            <ac:spMk id="3" creationId="{383ADE32-380B-1097-E049-B2A75469E5BD}"/>
          </ac:spMkLst>
        </pc:spChg>
        <pc:spChg chg="add mod">
          <ac:chgData name="Harika Challa" userId="135cdfd11f38c2ac" providerId="LiveId" clId="{D76684D5-5A26-45C6-AD39-980DC061D39F}" dt="2026-09-21T13:12:40.502" v="342" actId="113"/>
          <ac:spMkLst>
            <pc:docMk/>
            <pc:sldMk cId="3824386112" sldId="266"/>
            <ac:spMk id="4" creationId="{A5683ABC-920A-C12B-8D14-7CE14CDB605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60D21-2382-3543-0468-9D35C23A53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AA92A2F-0FA4-53C7-87A5-C17D46977E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9A43698-3E8F-14AF-C96D-AD2138685283}"/>
              </a:ext>
            </a:extLst>
          </p:cNvPr>
          <p:cNvSpPr>
            <a:spLocks noGrp="1"/>
          </p:cNvSpPr>
          <p:nvPr>
            <p:ph type="dt" sz="half" idx="10"/>
          </p:nvPr>
        </p:nvSpPr>
        <p:spPr/>
        <p:txBody>
          <a:bodyPr/>
          <a:lstStyle/>
          <a:p>
            <a:fld id="{28F9C90E-BF67-43B4-9CC1-837B5ACBE523}" type="datetimeFigureOut">
              <a:rPr lang="en-IN" smtClean="0"/>
              <a:t>21-09-2026</a:t>
            </a:fld>
            <a:endParaRPr lang="en-IN"/>
          </a:p>
        </p:txBody>
      </p:sp>
      <p:sp>
        <p:nvSpPr>
          <p:cNvPr id="5" name="Footer Placeholder 4">
            <a:extLst>
              <a:ext uri="{FF2B5EF4-FFF2-40B4-BE49-F238E27FC236}">
                <a16:creationId xmlns:a16="http://schemas.microsoft.com/office/drawing/2014/main" id="{DEF79253-43A6-6A5B-07D1-110951B683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A8C9DB-21D6-C79A-3F23-B9044236440E}"/>
              </a:ext>
            </a:extLst>
          </p:cNvPr>
          <p:cNvSpPr>
            <a:spLocks noGrp="1"/>
          </p:cNvSpPr>
          <p:nvPr>
            <p:ph type="sldNum" sz="quarter" idx="12"/>
          </p:nvPr>
        </p:nvSpPr>
        <p:spPr/>
        <p:txBody>
          <a:bodyPr/>
          <a:lstStyle/>
          <a:p>
            <a:fld id="{266CA9C9-EE28-44D6-9C97-CD5FEE8748D4}" type="slidenum">
              <a:rPr lang="en-IN" smtClean="0"/>
              <a:t>‹#›</a:t>
            </a:fld>
            <a:endParaRPr lang="en-IN"/>
          </a:p>
        </p:txBody>
      </p:sp>
    </p:spTree>
    <p:extLst>
      <p:ext uri="{BB962C8B-B14F-4D97-AF65-F5344CB8AC3E}">
        <p14:creationId xmlns:p14="http://schemas.microsoft.com/office/powerpoint/2010/main" val="4162249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2F2EE-F6E9-A0F1-BDDE-1514CE73DAD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E8C016-1453-12DF-643A-3A0084C877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4CEA3B-8FDA-FEB6-3CCF-39C9A4F2240F}"/>
              </a:ext>
            </a:extLst>
          </p:cNvPr>
          <p:cNvSpPr>
            <a:spLocks noGrp="1"/>
          </p:cNvSpPr>
          <p:nvPr>
            <p:ph type="dt" sz="half" idx="10"/>
          </p:nvPr>
        </p:nvSpPr>
        <p:spPr/>
        <p:txBody>
          <a:bodyPr/>
          <a:lstStyle/>
          <a:p>
            <a:fld id="{28F9C90E-BF67-43B4-9CC1-837B5ACBE523}" type="datetimeFigureOut">
              <a:rPr lang="en-IN" smtClean="0"/>
              <a:t>21-09-2026</a:t>
            </a:fld>
            <a:endParaRPr lang="en-IN"/>
          </a:p>
        </p:txBody>
      </p:sp>
      <p:sp>
        <p:nvSpPr>
          <p:cNvPr id="5" name="Footer Placeholder 4">
            <a:extLst>
              <a:ext uri="{FF2B5EF4-FFF2-40B4-BE49-F238E27FC236}">
                <a16:creationId xmlns:a16="http://schemas.microsoft.com/office/drawing/2014/main" id="{C6E9115D-F321-E6F5-B28F-4A8819D760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A76A74-6CBE-1548-237B-0C86853D8188}"/>
              </a:ext>
            </a:extLst>
          </p:cNvPr>
          <p:cNvSpPr>
            <a:spLocks noGrp="1"/>
          </p:cNvSpPr>
          <p:nvPr>
            <p:ph type="sldNum" sz="quarter" idx="12"/>
          </p:nvPr>
        </p:nvSpPr>
        <p:spPr/>
        <p:txBody>
          <a:bodyPr/>
          <a:lstStyle/>
          <a:p>
            <a:fld id="{266CA9C9-EE28-44D6-9C97-CD5FEE8748D4}" type="slidenum">
              <a:rPr lang="en-IN" smtClean="0"/>
              <a:t>‹#›</a:t>
            </a:fld>
            <a:endParaRPr lang="en-IN"/>
          </a:p>
        </p:txBody>
      </p:sp>
    </p:spTree>
    <p:extLst>
      <p:ext uri="{BB962C8B-B14F-4D97-AF65-F5344CB8AC3E}">
        <p14:creationId xmlns:p14="http://schemas.microsoft.com/office/powerpoint/2010/main" val="21935617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84D6A-97FB-64C7-73E7-60719467C9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8EAE347-C7FE-AE26-0725-201453F156B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E06B92-4757-1498-5567-C6143578367E}"/>
              </a:ext>
            </a:extLst>
          </p:cNvPr>
          <p:cNvSpPr>
            <a:spLocks noGrp="1"/>
          </p:cNvSpPr>
          <p:nvPr>
            <p:ph type="dt" sz="half" idx="10"/>
          </p:nvPr>
        </p:nvSpPr>
        <p:spPr/>
        <p:txBody>
          <a:bodyPr/>
          <a:lstStyle/>
          <a:p>
            <a:fld id="{28F9C90E-BF67-43B4-9CC1-837B5ACBE523}" type="datetimeFigureOut">
              <a:rPr lang="en-IN" smtClean="0"/>
              <a:t>21-09-2026</a:t>
            </a:fld>
            <a:endParaRPr lang="en-IN"/>
          </a:p>
        </p:txBody>
      </p:sp>
      <p:sp>
        <p:nvSpPr>
          <p:cNvPr id="5" name="Footer Placeholder 4">
            <a:extLst>
              <a:ext uri="{FF2B5EF4-FFF2-40B4-BE49-F238E27FC236}">
                <a16:creationId xmlns:a16="http://schemas.microsoft.com/office/drawing/2014/main" id="{D40FEA99-8377-40AC-2086-A796ED3062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83ADFE-695C-BE13-21BD-BAE7CCC6C25B}"/>
              </a:ext>
            </a:extLst>
          </p:cNvPr>
          <p:cNvSpPr>
            <a:spLocks noGrp="1"/>
          </p:cNvSpPr>
          <p:nvPr>
            <p:ph type="sldNum" sz="quarter" idx="12"/>
          </p:nvPr>
        </p:nvSpPr>
        <p:spPr/>
        <p:txBody>
          <a:bodyPr/>
          <a:lstStyle/>
          <a:p>
            <a:fld id="{266CA9C9-EE28-44D6-9C97-CD5FEE8748D4}" type="slidenum">
              <a:rPr lang="en-IN" smtClean="0"/>
              <a:t>‹#›</a:t>
            </a:fld>
            <a:endParaRPr lang="en-IN"/>
          </a:p>
        </p:txBody>
      </p:sp>
    </p:spTree>
    <p:extLst>
      <p:ext uri="{BB962C8B-B14F-4D97-AF65-F5344CB8AC3E}">
        <p14:creationId xmlns:p14="http://schemas.microsoft.com/office/powerpoint/2010/main" val="2180308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AA292-5817-C076-B2B8-498C1B71331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314A69-B8D8-D5D5-B692-8BDCC34159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63434AF-AE8B-7576-5062-112B9EB321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2B191A6-0E28-4AC9-1D1A-86EE6E230006}"/>
              </a:ext>
            </a:extLst>
          </p:cNvPr>
          <p:cNvSpPr>
            <a:spLocks noGrp="1"/>
          </p:cNvSpPr>
          <p:nvPr>
            <p:ph type="dt" sz="half" idx="10"/>
          </p:nvPr>
        </p:nvSpPr>
        <p:spPr/>
        <p:txBody>
          <a:bodyPr/>
          <a:lstStyle/>
          <a:p>
            <a:fld id="{28F9C90E-BF67-43B4-9CC1-837B5ACBE523}" type="datetimeFigureOut">
              <a:rPr lang="en-IN" smtClean="0"/>
              <a:t>21-09-2026</a:t>
            </a:fld>
            <a:endParaRPr lang="en-IN"/>
          </a:p>
        </p:txBody>
      </p:sp>
      <p:sp>
        <p:nvSpPr>
          <p:cNvPr id="6" name="Footer Placeholder 5">
            <a:extLst>
              <a:ext uri="{FF2B5EF4-FFF2-40B4-BE49-F238E27FC236}">
                <a16:creationId xmlns:a16="http://schemas.microsoft.com/office/drawing/2014/main" id="{BECE4042-5AF3-A333-58B8-25B2B33EDA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3328B27-3D83-6261-21FF-FCFB0D7B1F30}"/>
              </a:ext>
            </a:extLst>
          </p:cNvPr>
          <p:cNvSpPr>
            <a:spLocks noGrp="1"/>
          </p:cNvSpPr>
          <p:nvPr>
            <p:ph type="sldNum" sz="quarter" idx="12"/>
          </p:nvPr>
        </p:nvSpPr>
        <p:spPr/>
        <p:txBody>
          <a:bodyPr/>
          <a:lstStyle/>
          <a:p>
            <a:fld id="{266CA9C9-EE28-44D6-9C97-CD5FEE8748D4}" type="slidenum">
              <a:rPr lang="en-IN" smtClean="0"/>
              <a:t>‹#›</a:t>
            </a:fld>
            <a:endParaRPr lang="en-IN"/>
          </a:p>
        </p:txBody>
      </p:sp>
    </p:spTree>
    <p:extLst>
      <p:ext uri="{BB962C8B-B14F-4D97-AF65-F5344CB8AC3E}">
        <p14:creationId xmlns:p14="http://schemas.microsoft.com/office/powerpoint/2010/main" val="3934203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D8307-FED5-8960-FC25-9F5ACE3ACE3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22E29F2-44A8-50CC-15FF-4C8E29B777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389D68-86CA-6695-FF39-02EAF3FBC5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A44DB14-395B-B5DC-90F9-6A69F614D7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DAF130-568B-43B5-B6E8-0EADF8E880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DDD8175-616A-4ABE-5E67-1F4B7F6A6DF9}"/>
              </a:ext>
            </a:extLst>
          </p:cNvPr>
          <p:cNvSpPr>
            <a:spLocks noGrp="1"/>
          </p:cNvSpPr>
          <p:nvPr>
            <p:ph type="dt" sz="half" idx="10"/>
          </p:nvPr>
        </p:nvSpPr>
        <p:spPr/>
        <p:txBody>
          <a:bodyPr/>
          <a:lstStyle/>
          <a:p>
            <a:fld id="{28F9C90E-BF67-43B4-9CC1-837B5ACBE523}" type="datetimeFigureOut">
              <a:rPr lang="en-IN" smtClean="0"/>
              <a:t>21-09-2026</a:t>
            </a:fld>
            <a:endParaRPr lang="en-IN"/>
          </a:p>
        </p:txBody>
      </p:sp>
      <p:sp>
        <p:nvSpPr>
          <p:cNvPr id="8" name="Footer Placeholder 7">
            <a:extLst>
              <a:ext uri="{FF2B5EF4-FFF2-40B4-BE49-F238E27FC236}">
                <a16:creationId xmlns:a16="http://schemas.microsoft.com/office/drawing/2014/main" id="{720E7429-C465-BA18-0D06-33F01B244DD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EAF1B68-BD7E-1F76-1DD4-CC53B6254D24}"/>
              </a:ext>
            </a:extLst>
          </p:cNvPr>
          <p:cNvSpPr>
            <a:spLocks noGrp="1"/>
          </p:cNvSpPr>
          <p:nvPr>
            <p:ph type="sldNum" sz="quarter" idx="12"/>
          </p:nvPr>
        </p:nvSpPr>
        <p:spPr/>
        <p:txBody>
          <a:bodyPr/>
          <a:lstStyle/>
          <a:p>
            <a:fld id="{266CA9C9-EE28-44D6-9C97-CD5FEE8748D4}" type="slidenum">
              <a:rPr lang="en-IN" smtClean="0"/>
              <a:t>‹#›</a:t>
            </a:fld>
            <a:endParaRPr lang="en-IN"/>
          </a:p>
        </p:txBody>
      </p:sp>
    </p:spTree>
    <p:extLst>
      <p:ext uri="{BB962C8B-B14F-4D97-AF65-F5344CB8AC3E}">
        <p14:creationId xmlns:p14="http://schemas.microsoft.com/office/powerpoint/2010/main" val="825144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6B78F-5F3C-E4C7-1D14-998FAA71BB9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AE3284B-1371-32C1-0404-4D4B06FB70BB}"/>
              </a:ext>
            </a:extLst>
          </p:cNvPr>
          <p:cNvSpPr>
            <a:spLocks noGrp="1"/>
          </p:cNvSpPr>
          <p:nvPr>
            <p:ph type="dt" sz="half" idx="10"/>
          </p:nvPr>
        </p:nvSpPr>
        <p:spPr/>
        <p:txBody>
          <a:bodyPr/>
          <a:lstStyle/>
          <a:p>
            <a:fld id="{28F9C90E-BF67-43B4-9CC1-837B5ACBE523}" type="datetimeFigureOut">
              <a:rPr lang="en-IN" smtClean="0"/>
              <a:t>21-09-2026</a:t>
            </a:fld>
            <a:endParaRPr lang="en-IN"/>
          </a:p>
        </p:txBody>
      </p:sp>
      <p:sp>
        <p:nvSpPr>
          <p:cNvPr id="4" name="Footer Placeholder 3">
            <a:extLst>
              <a:ext uri="{FF2B5EF4-FFF2-40B4-BE49-F238E27FC236}">
                <a16:creationId xmlns:a16="http://schemas.microsoft.com/office/drawing/2014/main" id="{25C0AE94-B51B-5B94-AE77-5CD00846959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8B72BB2-7DE9-7844-CC78-CEC0E1766CF2}"/>
              </a:ext>
            </a:extLst>
          </p:cNvPr>
          <p:cNvSpPr>
            <a:spLocks noGrp="1"/>
          </p:cNvSpPr>
          <p:nvPr>
            <p:ph type="sldNum" sz="quarter" idx="12"/>
          </p:nvPr>
        </p:nvSpPr>
        <p:spPr/>
        <p:txBody>
          <a:bodyPr/>
          <a:lstStyle/>
          <a:p>
            <a:fld id="{266CA9C9-EE28-44D6-9C97-CD5FEE8748D4}" type="slidenum">
              <a:rPr lang="en-IN" smtClean="0"/>
              <a:t>‹#›</a:t>
            </a:fld>
            <a:endParaRPr lang="en-IN"/>
          </a:p>
        </p:txBody>
      </p:sp>
    </p:spTree>
    <p:extLst>
      <p:ext uri="{BB962C8B-B14F-4D97-AF65-F5344CB8AC3E}">
        <p14:creationId xmlns:p14="http://schemas.microsoft.com/office/powerpoint/2010/main" val="1584769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E0B7BE-2653-DA55-B8B5-471472F838AA}"/>
              </a:ext>
            </a:extLst>
          </p:cNvPr>
          <p:cNvSpPr>
            <a:spLocks noGrp="1"/>
          </p:cNvSpPr>
          <p:nvPr>
            <p:ph type="dt" sz="half" idx="10"/>
          </p:nvPr>
        </p:nvSpPr>
        <p:spPr/>
        <p:txBody>
          <a:bodyPr/>
          <a:lstStyle/>
          <a:p>
            <a:fld id="{28F9C90E-BF67-43B4-9CC1-837B5ACBE523}" type="datetimeFigureOut">
              <a:rPr lang="en-IN" smtClean="0"/>
              <a:t>21-09-2026</a:t>
            </a:fld>
            <a:endParaRPr lang="en-IN"/>
          </a:p>
        </p:txBody>
      </p:sp>
      <p:sp>
        <p:nvSpPr>
          <p:cNvPr id="3" name="Footer Placeholder 2">
            <a:extLst>
              <a:ext uri="{FF2B5EF4-FFF2-40B4-BE49-F238E27FC236}">
                <a16:creationId xmlns:a16="http://schemas.microsoft.com/office/drawing/2014/main" id="{C34DCAD5-1652-3DB2-2F32-596541B2009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3CA3B00-4F66-918D-0C76-52DDE760F9D8}"/>
              </a:ext>
            </a:extLst>
          </p:cNvPr>
          <p:cNvSpPr>
            <a:spLocks noGrp="1"/>
          </p:cNvSpPr>
          <p:nvPr>
            <p:ph type="sldNum" sz="quarter" idx="12"/>
          </p:nvPr>
        </p:nvSpPr>
        <p:spPr/>
        <p:txBody>
          <a:bodyPr/>
          <a:lstStyle/>
          <a:p>
            <a:fld id="{266CA9C9-EE28-44D6-9C97-CD5FEE8748D4}" type="slidenum">
              <a:rPr lang="en-IN" smtClean="0"/>
              <a:t>‹#›</a:t>
            </a:fld>
            <a:endParaRPr lang="en-IN"/>
          </a:p>
        </p:txBody>
      </p:sp>
    </p:spTree>
    <p:extLst>
      <p:ext uri="{BB962C8B-B14F-4D97-AF65-F5344CB8AC3E}">
        <p14:creationId xmlns:p14="http://schemas.microsoft.com/office/powerpoint/2010/main" val="4023266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5E32A-78C4-EB87-D659-12F45CA774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4C07784-9545-1284-2D9D-E7B4A944A3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E40C122-3B0B-F813-E487-8EFBDBEE43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35AA2D-5DE0-430B-B066-D234D545C47E}"/>
              </a:ext>
            </a:extLst>
          </p:cNvPr>
          <p:cNvSpPr>
            <a:spLocks noGrp="1"/>
          </p:cNvSpPr>
          <p:nvPr>
            <p:ph type="dt" sz="half" idx="10"/>
          </p:nvPr>
        </p:nvSpPr>
        <p:spPr/>
        <p:txBody>
          <a:bodyPr/>
          <a:lstStyle/>
          <a:p>
            <a:fld id="{28F9C90E-BF67-43B4-9CC1-837B5ACBE523}" type="datetimeFigureOut">
              <a:rPr lang="en-IN" smtClean="0"/>
              <a:t>21-09-2026</a:t>
            </a:fld>
            <a:endParaRPr lang="en-IN"/>
          </a:p>
        </p:txBody>
      </p:sp>
      <p:sp>
        <p:nvSpPr>
          <p:cNvPr id="6" name="Footer Placeholder 5">
            <a:extLst>
              <a:ext uri="{FF2B5EF4-FFF2-40B4-BE49-F238E27FC236}">
                <a16:creationId xmlns:a16="http://schemas.microsoft.com/office/drawing/2014/main" id="{98845D33-0AE2-0635-2DD9-61A77B410F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300A37-8184-9C79-127C-37E21EBD3372}"/>
              </a:ext>
            </a:extLst>
          </p:cNvPr>
          <p:cNvSpPr>
            <a:spLocks noGrp="1"/>
          </p:cNvSpPr>
          <p:nvPr>
            <p:ph type="sldNum" sz="quarter" idx="12"/>
          </p:nvPr>
        </p:nvSpPr>
        <p:spPr/>
        <p:txBody>
          <a:bodyPr/>
          <a:lstStyle/>
          <a:p>
            <a:fld id="{266CA9C9-EE28-44D6-9C97-CD5FEE8748D4}" type="slidenum">
              <a:rPr lang="en-IN" smtClean="0"/>
              <a:t>‹#›</a:t>
            </a:fld>
            <a:endParaRPr lang="en-IN"/>
          </a:p>
        </p:txBody>
      </p:sp>
    </p:spTree>
    <p:extLst>
      <p:ext uri="{BB962C8B-B14F-4D97-AF65-F5344CB8AC3E}">
        <p14:creationId xmlns:p14="http://schemas.microsoft.com/office/powerpoint/2010/main" val="1317855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D1FFA-BB5E-276A-5A99-3067D3DAD7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7AC06B1-9D42-DC1E-D3F5-4DBED1F69C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ED17DB7-3FED-1566-B23B-2D9F6E2C1C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0D8E42-371D-F07D-3127-1DBABAA8AD4D}"/>
              </a:ext>
            </a:extLst>
          </p:cNvPr>
          <p:cNvSpPr>
            <a:spLocks noGrp="1"/>
          </p:cNvSpPr>
          <p:nvPr>
            <p:ph type="dt" sz="half" idx="10"/>
          </p:nvPr>
        </p:nvSpPr>
        <p:spPr/>
        <p:txBody>
          <a:bodyPr/>
          <a:lstStyle/>
          <a:p>
            <a:fld id="{28F9C90E-BF67-43B4-9CC1-837B5ACBE523}" type="datetimeFigureOut">
              <a:rPr lang="en-IN" smtClean="0"/>
              <a:t>21-09-2026</a:t>
            </a:fld>
            <a:endParaRPr lang="en-IN"/>
          </a:p>
        </p:txBody>
      </p:sp>
      <p:sp>
        <p:nvSpPr>
          <p:cNvPr id="6" name="Footer Placeholder 5">
            <a:extLst>
              <a:ext uri="{FF2B5EF4-FFF2-40B4-BE49-F238E27FC236}">
                <a16:creationId xmlns:a16="http://schemas.microsoft.com/office/drawing/2014/main" id="{85B7DD0A-1ABD-FDEA-FBF5-30F3A8226B5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343A29B-BD37-0365-BC71-2928875E34A7}"/>
              </a:ext>
            </a:extLst>
          </p:cNvPr>
          <p:cNvSpPr>
            <a:spLocks noGrp="1"/>
          </p:cNvSpPr>
          <p:nvPr>
            <p:ph type="sldNum" sz="quarter" idx="12"/>
          </p:nvPr>
        </p:nvSpPr>
        <p:spPr/>
        <p:txBody>
          <a:bodyPr/>
          <a:lstStyle/>
          <a:p>
            <a:fld id="{266CA9C9-EE28-44D6-9C97-CD5FEE8748D4}" type="slidenum">
              <a:rPr lang="en-IN" smtClean="0"/>
              <a:t>‹#›</a:t>
            </a:fld>
            <a:endParaRPr lang="en-IN"/>
          </a:p>
        </p:txBody>
      </p:sp>
    </p:spTree>
    <p:extLst>
      <p:ext uri="{BB962C8B-B14F-4D97-AF65-F5344CB8AC3E}">
        <p14:creationId xmlns:p14="http://schemas.microsoft.com/office/powerpoint/2010/main" val="3474817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0A4F7-36B0-9C89-0470-2C487ECA474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0D2996F-5710-9F8C-75DF-66F4AA2B6B4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1F1E77-2DA4-EBBA-30FB-FD158AEB7BE7}"/>
              </a:ext>
            </a:extLst>
          </p:cNvPr>
          <p:cNvSpPr>
            <a:spLocks noGrp="1"/>
          </p:cNvSpPr>
          <p:nvPr>
            <p:ph type="dt" sz="half" idx="10"/>
          </p:nvPr>
        </p:nvSpPr>
        <p:spPr/>
        <p:txBody>
          <a:bodyPr/>
          <a:lstStyle/>
          <a:p>
            <a:fld id="{28F9C90E-BF67-43B4-9CC1-837B5ACBE523}" type="datetimeFigureOut">
              <a:rPr lang="en-IN" smtClean="0"/>
              <a:t>21-09-2026</a:t>
            </a:fld>
            <a:endParaRPr lang="en-IN"/>
          </a:p>
        </p:txBody>
      </p:sp>
      <p:sp>
        <p:nvSpPr>
          <p:cNvPr id="5" name="Footer Placeholder 4">
            <a:extLst>
              <a:ext uri="{FF2B5EF4-FFF2-40B4-BE49-F238E27FC236}">
                <a16:creationId xmlns:a16="http://schemas.microsoft.com/office/drawing/2014/main" id="{22F11A55-9C77-C7E7-4848-F913257E68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5B86F7-852F-DF5E-7428-E7705E041484}"/>
              </a:ext>
            </a:extLst>
          </p:cNvPr>
          <p:cNvSpPr>
            <a:spLocks noGrp="1"/>
          </p:cNvSpPr>
          <p:nvPr>
            <p:ph type="sldNum" sz="quarter" idx="12"/>
          </p:nvPr>
        </p:nvSpPr>
        <p:spPr/>
        <p:txBody>
          <a:bodyPr/>
          <a:lstStyle/>
          <a:p>
            <a:fld id="{266CA9C9-EE28-44D6-9C97-CD5FEE8748D4}" type="slidenum">
              <a:rPr lang="en-IN" smtClean="0"/>
              <a:t>‹#›</a:t>
            </a:fld>
            <a:endParaRPr lang="en-IN"/>
          </a:p>
        </p:txBody>
      </p:sp>
    </p:spTree>
    <p:extLst>
      <p:ext uri="{BB962C8B-B14F-4D97-AF65-F5344CB8AC3E}">
        <p14:creationId xmlns:p14="http://schemas.microsoft.com/office/powerpoint/2010/main" val="8097600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A4C6D1-A2FB-37D5-3378-36AFCCBD027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1D73FDC-713E-6E72-40CA-71F16EAE8B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731C27-D2DD-1DD4-65FC-404423FD0F86}"/>
              </a:ext>
            </a:extLst>
          </p:cNvPr>
          <p:cNvSpPr>
            <a:spLocks noGrp="1"/>
          </p:cNvSpPr>
          <p:nvPr>
            <p:ph type="dt" sz="half" idx="10"/>
          </p:nvPr>
        </p:nvSpPr>
        <p:spPr/>
        <p:txBody>
          <a:bodyPr/>
          <a:lstStyle/>
          <a:p>
            <a:fld id="{28F9C90E-BF67-43B4-9CC1-837B5ACBE523}" type="datetimeFigureOut">
              <a:rPr lang="en-IN" smtClean="0"/>
              <a:t>21-09-2026</a:t>
            </a:fld>
            <a:endParaRPr lang="en-IN"/>
          </a:p>
        </p:txBody>
      </p:sp>
      <p:sp>
        <p:nvSpPr>
          <p:cNvPr id="5" name="Footer Placeholder 4">
            <a:extLst>
              <a:ext uri="{FF2B5EF4-FFF2-40B4-BE49-F238E27FC236}">
                <a16:creationId xmlns:a16="http://schemas.microsoft.com/office/drawing/2014/main" id="{DF80F888-64A9-1454-45F5-AE75DD87E4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06D5D2-E59F-3E97-325C-88D5D69F2E3B}"/>
              </a:ext>
            </a:extLst>
          </p:cNvPr>
          <p:cNvSpPr>
            <a:spLocks noGrp="1"/>
          </p:cNvSpPr>
          <p:nvPr>
            <p:ph type="sldNum" sz="quarter" idx="12"/>
          </p:nvPr>
        </p:nvSpPr>
        <p:spPr/>
        <p:txBody>
          <a:bodyPr/>
          <a:lstStyle/>
          <a:p>
            <a:fld id="{266CA9C9-EE28-44D6-9C97-CD5FEE8748D4}" type="slidenum">
              <a:rPr lang="en-IN" smtClean="0"/>
              <a:t>‹#›</a:t>
            </a:fld>
            <a:endParaRPr lang="en-IN"/>
          </a:p>
        </p:txBody>
      </p:sp>
    </p:spTree>
    <p:extLst>
      <p:ext uri="{BB962C8B-B14F-4D97-AF65-F5344CB8AC3E}">
        <p14:creationId xmlns:p14="http://schemas.microsoft.com/office/powerpoint/2010/main" val="15126018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with Pictur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939257"/>
            <a:ext cx="5898630" cy="480373"/>
          </a:xfrm>
        </p:spPr>
        <p:txBody>
          <a:bodyPr vert="horz" lIns="91440" tIns="45720" rIns="91440" bIns="45720" rtlCol="0" anchor="t">
            <a:normAutofit/>
          </a:bodyPr>
          <a:lstStyle>
            <a:lvl1pPr>
              <a:defRPr lang="en-US" dirty="0"/>
            </a:lvl1pPr>
          </a:lstStyle>
          <a:p>
            <a:pPr lvl="0"/>
            <a:r>
              <a:rPr lang="en-US"/>
              <a:t>Click to edit Master subtitle style</a:t>
            </a:r>
            <a:endParaRPr lang="en-US" dirty="0"/>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hasCustomPrompt="1"/>
          </p:nvPr>
        </p:nvSpPr>
        <p:spPr>
          <a:xfrm>
            <a:off x="0" y="-1"/>
            <a:ext cx="12192000" cy="4784036"/>
          </a:xfrm>
          <a:blipFill>
            <a:blip r:embed="rId2">
              <a:alphaModFix amt="70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6205927" y="4939715"/>
            <a:ext cx="4420031" cy="479458"/>
          </a:xfrm>
        </p:spPr>
        <p:txBody>
          <a:bodyPr anchor="t"/>
          <a:lstStyle>
            <a:lvl1pPr>
              <a:defRPr sz="1400"/>
            </a:lvl1pPr>
          </a:lstStyle>
          <a:p>
            <a:endParaRPr lang="en-IN"/>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11762792" y="4939257"/>
            <a:ext cx="429207" cy="365125"/>
          </a:xfrm>
        </p:spPr>
        <p:txBody>
          <a:bodyPr/>
          <a:lstStyle/>
          <a:p>
            <a:fld id="{266CA9C9-EE28-44D6-9C97-CD5FEE8748D4}" type="slidenum">
              <a:rPr lang="en-IN" smtClean="0"/>
              <a:t>‹#›</a:t>
            </a:fld>
            <a:endParaRPr lang="en-IN"/>
          </a:p>
        </p:txBody>
      </p:sp>
      <p:sp>
        <p:nvSpPr>
          <p:cNvPr id="4" name="Title 3">
            <a:extLst>
              <a:ext uri="{FF2B5EF4-FFF2-40B4-BE49-F238E27FC236}">
                <a16:creationId xmlns:a16="http://schemas.microsoft.com/office/drawing/2014/main" id="{009A08CF-24F0-EC7D-277D-CB831E7E7930}"/>
              </a:ext>
            </a:extLst>
          </p:cNvPr>
          <p:cNvSpPr>
            <a:spLocks noGrp="1"/>
          </p:cNvSpPr>
          <p:nvPr>
            <p:ph type="title"/>
          </p:nvPr>
        </p:nvSpPr>
        <p:spPr>
          <a:xfrm>
            <a:off x="-19847" y="5718869"/>
            <a:ext cx="5916168" cy="1143000"/>
          </a:xfrm>
        </p:spPr>
        <p:txBody>
          <a:bodyPr anchor="b">
            <a:normAutofit/>
          </a:bodyPr>
          <a:lstStyle>
            <a:lvl1pPr>
              <a:lnSpc>
                <a:spcPct val="60000"/>
              </a:lnSpc>
              <a:defRPr sz="5200"/>
            </a:lvl1pPr>
          </a:lstStyle>
          <a:p>
            <a:r>
              <a:rPr lang="en-US"/>
              <a:t>Click to edit Master title style</a:t>
            </a:r>
            <a:endParaRPr lang="en-US" dirty="0"/>
          </a:p>
        </p:txBody>
      </p:sp>
    </p:spTree>
    <p:extLst>
      <p:ext uri="{BB962C8B-B14F-4D97-AF65-F5344CB8AC3E}">
        <p14:creationId xmlns:p14="http://schemas.microsoft.com/office/powerpoint/2010/main" val="767224746"/>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87B92A-1415-FA00-2FA0-F54BF3E0B1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832428F-1061-DAC0-3F80-8A01A201E4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CE660C-8E79-4F4B-EEC3-3C99EEEDC6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8F9C90E-BF67-43B4-9CC1-837B5ACBE523}" type="datetimeFigureOut">
              <a:rPr lang="en-IN" smtClean="0"/>
              <a:t>21-09-2026</a:t>
            </a:fld>
            <a:endParaRPr lang="en-IN"/>
          </a:p>
        </p:txBody>
      </p:sp>
      <p:sp>
        <p:nvSpPr>
          <p:cNvPr id="5" name="Footer Placeholder 4">
            <a:extLst>
              <a:ext uri="{FF2B5EF4-FFF2-40B4-BE49-F238E27FC236}">
                <a16:creationId xmlns:a16="http://schemas.microsoft.com/office/drawing/2014/main" id="{4809F463-E233-B754-6301-8E4A62BEA7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DA85415-6785-5F7E-1EB1-154C4C59CE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6CA9C9-EE28-44D6-9C97-CD5FEE8748D4}" type="slidenum">
              <a:rPr lang="en-IN" smtClean="0"/>
              <a:t>‹#›</a:t>
            </a:fld>
            <a:endParaRPr lang="en-IN"/>
          </a:p>
        </p:txBody>
      </p:sp>
    </p:spTree>
    <p:extLst>
      <p:ext uri="{BB962C8B-B14F-4D97-AF65-F5344CB8AC3E}">
        <p14:creationId xmlns:p14="http://schemas.microsoft.com/office/powerpoint/2010/main" val="3431567795"/>
      </p:ext>
    </p:extLst>
  </p:cSld>
  <p:clrMap bg1="lt1" tx1="dk1" bg2="lt2" tx2="dk2" accent1="accent1" accent2="accent2" accent3="accent3" accent4="accent4" accent5="accent5" accent6="accent6" hlink="hlink" folHlink="folHlink"/>
  <p:sldLayoutIdLst>
    <p:sldLayoutId id="2147483902" r:id="rId1"/>
    <p:sldLayoutId id="2147483903" r:id="rId2"/>
    <p:sldLayoutId id="2147483904" r:id="rId3"/>
    <p:sldLayoutId id="2147483905" r:id="rId4"/>
    <p:sldLayoutId id="2147483906" r:id="rId5"/>
    <p:sldLayoutId id="2147483907" r:id="rId6"/>
    <p:sldLayoutId id="2147483908" r:id="rId7"/>
    <p:sldLayoutId id="2147483909" r:id="rId8"/>
    <p:sldLayoutId id="2147483910" r:id="rId9"/>
    <p:sldLayoutId id="2147483911" r:id="rId10"/>
    <p:sldLayoutId id="2147483912" r:id="rId11"/>
    <p:sldLayoutId id="214748391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7FEF93D-BA49-7814-80BE-65EC161ED72D}"/>
              </a:ext>
            </a:extLst>
          </p:cNvPr>
          <p:cNvSpPr>
            <a:spLocks noGrp="1"/>
          </p:cNvSpPr>
          <p:nvPr>
            <p:ph type="ctrTitle"/>
          </p:nvPr>
        </p:nvSpPr>
        <p:spPr>
          <a:xfrm>
            <a:off x="1419828" y="406400"/>
            <a:ext cx="9144000" cy="2387600"/>
          </a:xfrm>
        </p:spPr>
        <p:txBody>
          <a:bodyPr>
            <a:normAutofit fontScale="90000"/>
          </a:bodyPr>
          <a:lstStyle/>
          <a:p>
            <a:r>
              <a:rPr lang="en-IN" dirty="0">
                <a:latin typeface="Arial" panose="020B0604020202020204" pitchFamily="34" charset="0"/>
                <a:cs typeface="Arial" panose="020B0604020202020204" pitchFamily="34" charset="0"/>
              </a:rPr>
              <a:t>Coffee Shop Sales Analysis Dashboard Project</a:t>
            </a:r>
          </a:p>
        </p:txBody>
      </p:sp>
      <p:sp>
        <p:nvSpPr>
          <p:cNvPr id="10" name="Subtitle 9">
            <a:extLst>
              <a:ext uri="{FF2B5EF4-FFF2-40B4-BE49-F238E27FC236}">
                <a16:creationId xmlns:a16="http://schemas.microsoft.com/office/drawing/2014/main" id="{3BB4853C-70EB-BCD9-F5E8-CCC7A8BC1E0E}"/>
              </a:ext>
            </a:extLst>
          </p:cNvPr>
          <p:cNvSpPr>
            <a:spLocks noGrp="1"/>
          </p:cNvSpPr>
          <p:nvPr>
            <p:ph type="subTitle" idx="1"/>
          </p:nvPr>
        </p:nvSpPr>
        <p:spPr>
          <a:xfrm>
            <a:off x="7293427" y="3525838"/>
            <a:ext cx="4267202" cy="2387600"/>
          </a:xfrm>
        </p:spPr>
        <p:txBody>
          <a:bodyPr>
            <a:normAutofit/>
          </a:bodyPr>
          <a:lstStyle/>
          <a:p>
            <a:pPr algn="l"/>
            <a:r>
              <a:rPr lang="en-IN" dirty="0"/>
              <a:t>Challa Harika</a:t>
            </a:r>
          </a:p>
          <a:p>
            <a:pPr algn="l"/>
            <a:r>
              <a:rPr lang="en-IN" dirty="0"/>
              <a:t>Data Analyst Intern</a:t>
            </a:r>
          </a:p>
          <a:p>
            <a:pPr algn="l"/>
            <a:r>
              <a:rPr lang="en-IN" dirty="0"/>
              <a:t>Tools : Power BI, Excel, DAX, Power Query, Business Analysis</a:t>
            </a:r>
          </a:p>
          <a:p>
            <a:pPr algn="l"/>
            <a:endParaRPr lang="en-IN" dirty="0"/>
          </a:p>
          <a:p>
            <a:endParaRPr lang="en-IN" dirty="0"/>
          </a:p>
        </p:txBody>
      </p:sp>
    </p:spTree>
    <p:extLst>
      <p:ext uri="{BB962C8B-B14F-4D97-AF65-F5344CB8AC3E}">
        <p14:creationId xmlns:p14="http://schemas.microsoft.com/office/powerpoint/2010/main" val="627411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FE9B7-9CEE-FD7B-03A7-F6FAB14F5C4A}"/>
              </a:ext>
            </a:extLst>
          </p:cNvPr>
          <p:cNvSpPr>
            <a:spLocks noGrp="1"/>
          </p:cNvSpPr>
          <p:nvPr>
            <p:ph type="title"/>
          </p:nvPr>
        </p:nvSpPr>
        <p:spPr>
          <a:xfrm>
            <a:off x="424543" y="391886"/>
            <a:ext cx="11375571" cy="6150428"/>
          </a:xfrm>
        </p:spPr>
        <p:txBody>
          <a:bodyPr>
            <a:normAutofit/>
          </a:bodyPr>
          <a:lstStyle/>
          <a:p>
            <a:r>
              <a:rPr lang="en-IN" b="1" dirty="0">
                <a:latin typeface="Arial" panose="020B0604020202020204" pitchFamily="34" charset="0"/>
                <a:cs typeface="Arial" panose="020B0604020202020204" pitchFamily="34" charset="0"/>
              </a:rPr>
              <a:t>Business Problem : </a:t>
            </a:r>
            <a:r>
              <a:rPr lang="en-IN" dirty="0">
                <a:latin typeface="Arial" panose="020B0604020202020204" pitchFamily="34" charset="0"/>
                <a:cs typeface="Arial" panose="020B0604020202020204" pitchFamily="34" charset="0"/>
              </a:rPr>
              <a:t>The business wanted to understand sales performance across months, stores, product categories, product types and transaction time.</a:t>
            </a:r>
            <a:br>
              <a:rPr lang="en-IN" dirty="0">
                <a:latin typeface="Arial" panose="020B0604020202020204" pitchFamily="34" charset="0"/>
                <a:cs typeface="Arial" panose="020B0604020202020204" pitchFamily="34" charset="0"/>
              </a:rPr>
            </a:br>
            <a:br>
              <a:rPr lang="en-IN" dirty="0">
                <a:latin typeface="Arial" panose="020B0604020202020204" pitchFamily="34" charset="0"/>
                <a:cs typeface="Arial" panose="020B0604020202020204" pitchFamily="34" charset="0"/>
              </a:rPr>
            </a:br>
            <a:r>
              <a:rPr lang="en-IN" b="1" dirty="0">
                <a:latin typeface="Arial" panose="020B0604020202020204" pitchFamily="34" charset="0"/>
                <a:cs typeface="Arial" panose="020B0604020202020204" pitchFamily="34" charset="0"/>
              </a:rPr>
              <a:t>Dataset: </a:t>
            </a:r>
            <a:r>
              <a:rPr lang="en-US" dirty="0">
                <a:latin typeface="Arial" panose="020B0604020202020204" pitchFamily="34" charset="0"/>
                <a:cs typeface="Arial" panose="020B0604020202020204" pitchFamily="34" charset="0"/>
              </a:rPr>
              <a:t>149,116 Transactions</a:t>
            </a:r>
            <a:br>
              <a:rPr lang="en-US" dirty="0">
                <a:latin typeface="Arial" panose="020B0604020202020204" pitchFamily="34" charset="0"/>
                <a:cs typeface="Arial" panose="020B0604020202020204" pitchFamily="34" charset="0"/>
              </a:rPr>
            </a:br>
            <a:br>
              <a:rPr lang="en-US" sz="2700" dirty="0">
                <a:latin typeface="Arial" panose="020B0604020202020204" pitchFamily="34" charset="0"/>
                <a:cs typeface="Arial" panose="020B0604020202020204" pitchFamily="34" charset="0"/>
              </a:rPr>
            </a:br>
            <a:br>
              <a:rPr lang="en-IN" b="1" dirty="0">
                <a:latin typeface="Arial" panose="020B0604020202020204" pitchFamily="34" charset="0"/>
                <a:cs typeface="Arial" panose="020B0604020202020204" pitchFamily="34" charset="0"/>
              </a:rPr>
            </a:br>
            <a:endParaRPr lang="en-IN"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873291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C6C8D-8E22-4BA9-9336-27096F30F4C0}"/>
              </a:ext>
            </a:extLst>
          </p:cNvPr>
          <p:cNvSpPr>
            <a:spLocks noGrp="1"/>
          </p:cNvSpPr>
          <p:nvPr>
            <p:ph type="title"/>
          </p:nvPr>
        </p:nvSpPr>
        <p:spPr>
          <a:xfrm>
            <a:off x="838200" y="365125"/>
            <a:ext cx="10472057" cy="919389"/>
          </a:xfrm>
        </p:spPr>
        <p:txBody>
          <a:bodyPr>
            <a:normAutofit fontScale="90000"/>
          </a:bodyPr>
          <a:lstStyle/>
          <a:p>
            <a:r>
              <a:rPr lang="en-IN" dirty="0">
                <a:latin typeface="Arial" panose="020B0604020202020204" pitchFamily="34" charset="0"/>
                <a:cs typeface="Arial" panose="020B0604020202020204" pitchFamily="34" charset="0"/>
              </a:rPr>
              <a:t>Data Preparation &amp; Modelling</a:t>
            </a:r>
            <a:br>
              <a:rPr lang="en-IN" dirty="0">
                <a:latin typeface="Arial" panose="020B0604020202020204" pitchFamily="34" charset="0"/>
                <a:cs typeface="Arial" panose="020B0604020202020204" pitchFamily="34" charset="0"/>
              </a:rPr>
            </a:br>
            <a:endParaRPr lang="en-IN"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4183D7F2-390E-9075-F536-841F71A5A23F}"/>
              </a:ext>
            </a:extLst>
          </p:cNvPr>
          <p:cNvSpPr txBox="1"/>
          <p:nvPr/>
        </p:nvSpPr>
        <p:spPr>
          <a:xfrm>
            <a:off x="838200" y="1110343"/>
            <a:ext cx="10798629" cy="5016758"/>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Data Types : </a:t>
            </a:r>
            <a:r>
              <a:rPr lang="en-IN" sz="2000" dirty="0">
                <a:latin typeface="Arial" panose="020B0604020202020204" pitchFamily="34" charset="0"/>
                <a:cs typeface="Arial" panose="020B0604020202020204" pitchFamily="34" charset="0"/>
              </a:rPr>
              <a:t>I assigned appropriate data types to each column—for example, transaction date as </a:t>
            </a:r>
            <a:r>
              <a:rPr lang="en-IN" sz="2000" b="1" dirty="0">
                <a:latin typeface="Arial" panose="020B0604020202020204" pitchFamily="34" charset="0"/>
                <a:cs typeface="Arial" panose="020B0604020202020204" pitchFamily="34" charset="0"/>
              </a:rPr>
              <a:t>Date</a:t>
            </a:r>
            <a:r>
              <a:rPr lang="en-IN" sz="2000" dirty="0">
                <a:latin typeface="Arial" panose="020B0604020202020204" pitchFamily="34" charset="0"/>
                <a:cs typeface="Arial" panose="020B0604020202020204" pitchFamily="34" charset="0"/>
              </a:rPr>
              <a:t>, transaction time as </a:t>
            </a:r>
            <a:r>
              <a:rPr lang="en-IN" sz="2000" b="1" dirty="0">
                <a:latin typeface="Arial" panose="020B0604020202020204" pitchFamily="34" charset="0"/>
                <a:cs typeface="Arial" panose="020B0604020202020204" pitchFamily="34" charset="0"/>
              </a:rPr>
              <a:t>Time</a:t>
            </a:r>
            <a:r>
              <a:rPr lang="en-IN" sz="2000" dirty="0">
                <a:latin typeface="Arial" panose="020B0604020202020204" pitchFamily="34" charset="0"/>
                <a:cs typeface="Arial" panose="020B0604020202020204" pitchFamily="34" charset="0"/>
              </a:rPr>
              <a:t>, quantity as </a:t>
            </a:r>
            <a:r>
              <a:rPr lang="en-IN" sz="2000" b="1" dirty="0">
                <a:latin typeface="Arial" panose="020B0604020202020204" pitchFamily="34" charset="0"/>
                <a:cs typeface="Arial" panose="020B0604020202020204" pitchFamily="34" charset="0"/>
              </a:rPr>
              <a:t>Whole Number</a:t>
            </a:r>
            <a:r>
              <a:rPr lang="en-IN" sz="2000" dirty="0">
                <a:latin typeface="Arial" panose="020B0604020202020204" pitchFamily="34" charset="0"/>
                <a:cs typeface="Arial" panose="020B0604020202020204" pitchFamily="34" charset="0"/>
              </a:rPr>
              <a:t>, and price/sales as </a:t>
            </a:r>
            <a:r>
              <a:rPr lang="en-IN" sz="2000" b="1" dirty="0">
                <a:latin typeface="Arial" panose="020B0604020202020204" pitchFamily="34" charset="0"/>
                <a:cs typeface="Arial" panose="020B0604020202020204" pitchFamily="34" charset="0"/>
              </a:rPr>
              <a:t>Decimal Number</a:t>
            </a:r>
            <a:r>
              <a:rPr lang="en-IN" sz="2000" dirty="0">
                <a:latin typeface="Arial" panose="020B0604020202020204" pitchFamily="34" charset="0"/>
                <a:cs typeface="Arial" panose="020B0604020202020204" pitchFamily="34" charset="0"/>
              </a:rPr>
              <a:t>.</a:t>
            </a:r>
          </a:p>
          <a:p>
            <a:endParaRPr lang="en-US" sz="2000" b="1"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Calculated Sales: </a:t>
            </a:r>
            <a:r>
              <a:rPr lang="en-IN" sz="2000" dirty="0">
                <a:latin typeface="Arial" panose="020B0604020202020204" pitchFamily="34" charset="0"/>
                <a:cs typeface="Arial" panose="020B0604020202020204" pitchFamily="34" charset="0"/>
              </a:rPr>
              <a:t>Sales was calculated by multiplying </a:t>
            </a:r>
            <a:r>
              <a:rPr lang="en-IN" sz="2000" b="1" dirty="0">
                <a:latin typeface="Arial" panose="020B0604020202020204" pitchFamily="34" charset="0"/>
                <a:cs typeface="Arial" panose="020B0604020202020204" pitchFamily="34" charset="0"/>
              </a:rPr>
              <a:t>transaction quantity × unit price</a:t>
            </a:r>
            <a:r>
              <a:rPr lang="en-IN" sz="2000" dirty="0">
                <a:latin typeface="Arial" panose="020B0604020202020204" pitchFamily="34" charset="0"/>
                <a:cs typeface="Arial" panose="020B0604020202020204" pitchFamily="34" charset="0"/>
              </a:rPr>
              <a:t>.</a:t>
            </a:r>
          </a:p>
          <a:p>
            <a:endParaRPr lang="en-IN" sz="2000" b="1" dirty="0">
              <a:latin typeface="Arial" panose="020B0604020202020204" pitchFamily="34" charset="0"/>
              <a:cs typeface="Arial" panose="020B0604020202020204" pitchFamily="34" charset="0"/>
            </a:endParaRPr>
          </a:p>
          <a:p>
            <a:r>
              <a:rPr lang="en-IN" sz="2000" b="1" dirty="0">
                <a:latin typeface="Arial" panose="020B0604020202020204" pitchFamily="34" charset="0"/>
                <a:cs typeface="Arial" panose="020B0604020202020204" pitchFamily="34" charset="0"/>
              </a:rPr>
              <a:t>Transaction Hour : </a:t>
            </a:r>
            <a:r>
              <a:rPr lang="en-IN" sz="2000" dirty="0">
                <a:latin typeface="Arial" panose="020B0604020202020204" pitchFamily="34" charset="0"/>
                <a:cs typeface="Arial" panose="020B0604020202020204" pitchFamily="34" charset="0"/>
              </a:rPr>
              <a:t>I extracted the </a:t>
            </a:r>
            <a:r>
              <a:rPr lang="en-IN" sz="2000" b="1" dirty="0">
                <a:latin typeface="Arial" panose="020B0604020202020204" pitchFamily="34" charset="0"/>
                <a:cs typeface="Arial" panose="020B0604020202020204" pitchFamily="34" charset="0"/>
              </a:rPr>
              <a:t>hour from the transaction time</a:t>
            </a:r>
            <a:r>
              <a:rPr lang="en-IN" sz="2000" dirty="0">
                <a:latin typeface="Arial" panose="020B0604020202020204" pitchFamily="34" charset="0"/>
                <a:cs typeface="Arial" panose="020B0604020202020204" pitchFamily="34" charset="0"/>
              </a:rPr>
              <a:t> to analyse sales by hour, such as 7 AM, 8 AM, 9 AM, etc.</a:t>
            </a:r>
            <a:endParaRPr lang="en-US" sz="2000" b="1"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       </a:t>
            </a:r>
          </a:p>
          <a:p>
            <a:r>
              <a:rPr lang="en-US" sz="2000" b="1" dirty="0">
                <a:latin typeface="Arial" panose="020B0604020202020204" pitchFamily="34" charset="0"/>
                <a:cs typeface="Arial" panose="020B0604020202020204" pitchFamily="34" charset="0"/>
              </a:rPr>
              <a:t>Date Table: </a:t>
            </a:r>
            <a:r>
              <a:rPr lang="en-IN" sz="2000" dirty="0">
                <a:latin typeface="Arial" panose="020B0604020202020204" pitchFamily="34" charset="0"/>
                <a:cs typeface="Arial" panose="020B0604020202020204" pitchFamily="34" charset="0"/>
              </a:rPr>
              <a:t>I created a separate </a:t>
            </a:r>
            <a:r>
              <a:rPr lang="en-IN" sz="2000" b="1" dirty="0">
                <a:latin typeface="Arial" panose="020B0604020202020204" pitchFamily="34" charset="0"/>
                <a:cs typeface="Arial" panose="020B0604020202020204" pitchFamily="34" charset="0"/>
              </a:rPr>
              <a:t>Date Table</a:t>
            </a:r>
            <a:r>
              <a:rPr lang="en-IN" sz="2000" dirty="0">
                <a:latin typeface="Arial" panose="020B0604020202020204" pitchFamily="34" charset="0"/>
                <a:cs typeface="Arial" panose="020B0604020202020204" pitchFamily="34" charset="0"/>
              </a:rPr>
              <a:t> containing dates from January to June 2023 and connected it to the transaction table.</a:t>
            </a:r>
            <a:endParaRPr lang="en-US" sz="2000" b="1"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       </a:t>
            </a:r>
          </a:p>
          <a:p>
            <a:r>
              <a:rPr lang="en-US" sz="2000" b="1" dirty="0">
                <a:latin typeface="Arial" panose="020B0604020202020204" pitchFamily="34" charset="0"/>
                <a:cs typeface="Arial" panose="020B0604020202020204" pitchFamily="34" charset="0"/>
              </a:rPr>
              <a:t>Time Intelligence: </a:t>
            </a:r>
            <a:r>
              <a:rPr lang="en-IN" sz="2000" dirty="0">
                <a:latin typeface="Arial" panose="020B0604020202020204" pitchFamily="34" charset="0"/>
                <a:cs typeface="Arial" panose="020B0604020202020204" pitchFamily="34" charset="0"/>
              </a:rPr>
              <a:t>I used DAX time-intelligence functions to compare sales across different time periods, such as </a:t>
            </a:r>
            <a:r>
              <a:rPr lang="en-IN" sz="2000" b="1" dirty="0">
                <a:latin typeface="Arial" panose="020B0604020202020204" pitchFamily="34" charset="0"/>
                <a:cs typeface="Arial" panose="020B0604020202020204" pitchFamily="34" charset="0"/>
              </a:rPr>
              <a:t>previous month, Month-over-Month (MoM), and Month-to-Date (MTD)</a:t>
            </a:r>
            <a:r>
              <a:rPr lang="en-IN" sz="2000" dirty="0">
                <a:latin typeface="Arial" panose="020B0604020202020204" pitchFamily="34" charset="0"/>
                <a:cs typeface="Arial" panose="020B0604020202020204" pitchFamily="34" charset="0"/>
              </a:rPr>
              <a:t>.</a:t>
            </a:r>
            <a:endParaRPr lang="en-US" sz="2000" b="1"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       </a:t>
            </a:r>
            <a:endParaRPr lang="en-IN"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85355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F2107-C74C-FEAE-076D-FDADD4135339}"/>
              </a:ext>
            </a:extLst>
          </p:cNvPr>
          <p:cNvSpPr>
            <a:spLocks noGrp="1"/>
          </p:cNvSpPr>
          <p:nvPr>
            <p:ph type="title"/>
          </p:nvPr>
        </p:nvSpPr>
        <p:spPr>
          <a:xfrm>
            <a:off x="838200" y="158296"/>
            <a:ext cx="10515600" cy="799647"/>
          </a:xfrm>
        </p:spPr>
        <p:txBody>
          <a:bodyPr/>
          <a:lstStyle/>
          <a:p>
            <a:pPr algn="ctr"/>
            <a:r>
              <a:rPr lang="en-IN" dirty="0">
                <a:latin typeface="Arial" panose="020B0604020202020204" pitchFamily="34" charset="0"/>
                <a:cs typeface="Arial" panose="020B0604020202020204" pitchFamily="34" charset="0"/>
              </a:rPr>
              <a:t>Overall Performance</a:t>
            </a:r>
          </a:p>
        </p:txBody>
      </p:sp>
      <p:pic>
        <p:nvPicPr>
          <p:cNvPr id="5" name="Picture 4">
            <a:extLst>
              <a:ext uri="{FF2B5EF4-FFF2-40B4-BE49-F238E27FC236}">
                <a16:creationId xmlns:a16="http://schemas.microsoft.com/office/drawing/2014/main" id="{F4325B41-2FFB-B262-2DDB-48725623E808}"/>
              </a:ext>
            </a:extLst>
          </p:cNvPr>
          <p:cNvPicPr>
            <a:picLocks noChangeAspect="1"/>
          </p:cNvPicPr>
          <p:nvPr/>
        </p:nvPicPr>
        <p:blipFill>
          <a:blip r:embed="rId2"/>
          <a:stretch>
            <a:fillRect/>
          </a:stretch>
        </p:blipFill>
        <p:spPr>
          <a:xfrm>
            <a:off x="949112" y="957944"/>
            <a:ext cx="10404688" cy="5799464"/>
          </a:xfrm>
          <a:prstGeom prst="rect">
            <a:avLst/>
          </a:prstGeom>
        </p:spPr>
      </p:pic>
    </p:spTree>
    <p:extLst>
      <p:ext uri="{BB962C8B-B14F-4D97-AF65-F5344CB8AC3E}">
        <p14:creationId xmlns:p14="http://schemas.microsoft.com/office/powerpoint/2010/main" val="251874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2E43C-7DEB-C0DC-5120-5E14901297FA}"/>
              </a:ext>
            </a:extLst>
          </p:cNvPr>
          <p:cNvSpPr>
            <a:spLocks noGrp="1"/>
          </p:cNvSpPr>
          <p:nvPr>
            <p:ph type="title"/>
          </p:nvPr>
        </p:nvSpPr>
        <p:spPr>
          <a:xfrm>
            <a:off x="838200" y="79934"/>
            <a:ext cx="10515600" cy="788761"/>
          </a:xfrm>
        </p:spPr>
        <p:txBody>
          <a:bodyPr/>
          <a:lstStyle/>
          <a:p>
            <a:pPr algn="ctr"/>
            <a:r>
              <a:rPr lang="en-IN" dirty="0">
                <a:latin typeface="Arial" panose="020B0604020202020204" pitchFamily="34" charset="0"/>
                <a:cs typeface="Arial" panose="020B0604020202020204" pitchFamily="34" charset="0"/>
              </a:rPr>
              <a:t>Store Performance</a:t>
            </a:r>
          </a:p>
        </p:txBody>
      </p:sp>
      <p:pic>
        <p:nvPicPr>
          <p:cNvPr id="4" name="Picture 3">
            <a:extLst>
              <a:ext uri="{FF2B5EF4-FFF2-40B4-BE49-F238E27FC236}">
                <a16:creationId xmlns:a16="http://schemas.microsoft.com/office/drawing/2014/main" id="{13CBDD56-0598-CC56-2270-77373188B555}"/>
              </a:ext>
            </a:extLst>
          </p:cNvPr>
          <p:cNvPicPr>
            <a:picLocks noChangeAspect="1"/>
          </p:cNvPicPr>
          <p:nvPr/>
        </p:nvPicPr>
        <p:blipFill>
          <a:blip r:embed="rId2"/>
          <a:stretch>
            <a:fillRect/>
          </a:stretch>
        </p:blipFill>
        <p:spPr>
          <a:xfrm>
            <a:off x="1045029" y="990600"/>
            <a:ext cx="10667999" cy="5519057"/>
          </a:xfrm>
          <a:prstGeom prst="rect">
            <a:avLst/>
          </a:prstGeom>
        </p:spPr>
      </p:pic>
    </p:spTree>
    <p:extLst>
      <p:ext uri="{BB962C8B-B14F-4D97-AF65-F5344CB8AC3E}">
        <p14:creationId xmlns:p14="http://schemas.microsoft.com/office/powerpoint/2010/main" val="3592023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37139-6369-E2A2-A9AA-4E69CF346D1E}"/>
              </a:ext>
            </a:extLst>
          </p:cNvPr>
          <p:cNvSpPr>
            <a:spLocks noGrp="1"/>
          </p:cNvSpPr>
          <p:nvPr>
            <p:ph type="title"/>
          </p:nvPr>
        </p:nvSpPr>
        <p:spPr>
          <a:xfrm>
            <a:off x="642257" y="147412"/>
            <a:ext cx="10515600" cy="745218"/>
          </a:xfrm>
        </p:spPr>
        <p:txBody>
          <a:bodyPr/>
          <a:lstStyle/>
          <a:p>
            <a:pPr algn="ctr"/>
            <a:r>
              <a:rPr lang="en-IN" dirty="0">
                <a:latin typeface="Arial" panose="020B0604020202020204" pitchFamily="34" charset="0"/>
                <a:cs typeface="Arial" panose="020B0604020202020204" pitchFamily="34" charset="0"/>
              </a:rPr>
              <a:t>Product Performance</a:t>
            </a:r>
          </a:p>
        </p:txBody>
      </p:sp>
      <p:pic>
        <p:nvPicPr>
          <p:cNvPr id="4" name="Picture 3">
            <a:extLst>
              <a:ext uri="{FF2B5EF4-FFF2-40B4-BE49-F238E27FC236}">
                <a16:creationId xmlns:a16="http://schemas.microsoft.com/office/drawing/2014/main" id="{6A5A6369-237C-7107-6C77-2AEC8B5FCF68}"/>
              </a:ext>
            </a:extLst>
          </p:cNvPr>
          <p:cNvPicPr>
            <a:picLocks noChangeAspect="1"/>
          </p:cNvPicPr>
          <p:nvPr/>
        </p:nvPicPr>
        <p:blipFill>
          <a:blip r:embed="rId2"/>
          <a:stretch>
            <a:fillRect/>
          </a:stretch>
        </p:blipFill>
        <p:spPr>
          <a:xfrm>
            <a:off x="642257" y="1063503"/>
            <a:ext cx="10972830" cy="5429371"/>
          </a:xfrm>
          <a:prstGeom prst="rect">
            <a:avLst/>
          </a:prstGeom>
        </p:spPr>
      </p:pic>
    </p:spTree>
    <p:extLst>
      <p:ext uri="{BB962C8B-B14F-4D97-AF65-F5344CB8AC3E}">
        <p14:creationId xmlns:p14="http://schemas.microsoft.com/office/powerpoint/2010/main" val="604596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716CF-F688-AE54-29E1-8789ED05F11D}"/>
              </a:ext>
            </a:extLst>
          </p:cNvPr>
          <p:cNvSpPr>
            <a:spLocks noGrp="1"/>
          </p:cNvSpPr>
          <p:nvPr>
            <p:ph type="title"/>
          </p:nvPr>
        </p:nvSpPr>
        <p:spPr>
          <a:xfrm>
            <a:off x="947057" y="141516"/>
            <a:ext cx="10515600" cy="620486"/>
          </a:xfrm>
        </p:spPr>
        <p:txBody>
          <a:bodyPr>
            <a:normAutofit fontScale="90000"/>
          </a:bodyPr>
          <a:lstStyle/>
          <a:p>
            <a:pPr algn="ctr"/>
            <a:r>
              <a:rPr lang="en-IN" dirty="0">
                <a:latin typeface="Arial" panose="020B0604020202020204" pitchFamily="34" charset="0"/>
                <a:cs typeface="Arial" panose="020B0604020202020204" pitchFamily="34" charset="0"/>
              </a:rPr>
              <a:t>Time &amp; Trend</a:t>
            </a:r>
          </a:p>
        </p:txBody>
      </p:sp>
      <p:pic>
        <p:nvPicPr>
          <p:cNvPr id="4" name="Picture 3">
            <a:extLst>
              <a:ext uri="{FF2B5EF4-FFF2-40B4-BE49-F238E27FC236}">
                <a16:creationId xmlns:a16="http://schemas.microsoft.com/office/drawing/2014/main" id="{722C10AD-BAD5-A943-E525-9072E8C373B7}"/>
              </a:ext>
            </a:extLst>
          </p:cNvPr>
          <p:cNvPicPr>
            <a:picLocks noChangeAspect="1"/>
          </p:cNvPicPr>
          <p:nvPr/>
        </p:nvPicPr>
        <p:blipFill>
          <a:blip r:embed="rId2"/>
          <a:stretch>
            <a:fillRect/>
          </a:stretch>
        </p:blipFill>
        <p:spPr>
          <a:xfrm>
            <a:off x="685800" y="881744"/>
            <a:ext cx="11038114" cy="5377121"/>
          </a:xfrm>
          <a:prstGeom prst="rect">
            <a:avLst/>
          </a:prstGeom>
        </p:spPr>
      </p:pic>
    </p:spTree>
    <p:extLst>
      <p:ext uri="{BB962C8B-B14F-4D97-AF65-F5344CB8AC3E}">
        <p14:creationId xmlns:p14="http://schemas.microsoft.com/office/powerpoint/2010/main" val="39643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BEFDC-9613-E681-72C9-F3FBA90E9320}"/>
              </a:ext>
            </a:extLst>
          </p:cNvPr>
          <p:cNvSpPr>
            <a:spLocks noGrp="1"/>
          </p:cNvSpPr>
          <p:nvPr>
            <p:ph type="title"/>
          </p:nvPr>
        </p:nvSpPr>
        <p:spPr>
          <a:xfrm>
            <a:off x="1295400" y="180068"/>
            <a:ext cx="9601200" cy="309789"/>
          </a:xfrm>
        </p:spPr>
        <p:txBody>
          <a:bodyPr>
            <a:noAutofit/>
          </a:bodyPr>
          <a:lstStyle/>
          <a:p>
            <a:pPr algn="ctr"/>
            <a:r>
              <a:rPr lang="en-IN" sz="1800" b="1" dirty="0">
                <a:latin typeface="Arial" panose="020B0604020202020204" pitchFamily="34" charset="0"/>
                <a:cs typeface="Arial" panose="020B0604020202020204" pitchFamily="34" charset="0"/>
              </a:rPr>
              <a:t>Business Investigation</a:t>
            </a:r>
          </a:p>
        </p:txBody>
      </p:sp>
      <p:sp>
        <p:nvSpPr>
          <p:cNvPr id="6" name="TextBox 5">
            <a:extLst>
              <a:ext uri="{FF2B5EF4-FFF2-40B4-BE49-F238E27FC236}">
                <a16:creationId xmlns:a16="http://schemas.microsoft.com/office/drawing/2014/main" id="{283FB41C-48A7-A50F-6857-4D47F97A292A}"/>
              </a:ext>
            </a:extLst>
          </p:cNvPr>
          <p:cNvSpPr txBox="1"/>
          <p:nvPr/>
        </p:nvSpPr>
        <p:spPr>
          <a:xfrm>
            <a:off x="217714" y="489857"/>
            <a:ext cx="11462657" cy="6771084"/>
          </a:xfrm>
          <a:prstGeom prst="rect">
            <a:avLst/>
          </a:prstGeom>
          <a:noFill/>
        </p:spPr>
        <p:txBody>
          <a:bodyPr wrap="square">
            <a:spAutoFit/>
          </a:bodyPr>
          <a:lstStyle/>
          <a:p>
            <a:pPr>
              <a:buNone/>
            </a:pPr>
            <a:r>
              <a:rPr lang="en-IN" sz="1400" b="1" dirty="0">
                <a:effectLst/>
                <a:latin typeface="Arial" panose="020B0604020202020204" pitchFamily="34" charset="0"/>
                <a:cs typeface="Arial" panose="020B0604020202020204" pitchFamily="34" charset="0"/>
              </a:rPr>
              <a:t>1. Why did sales increase sharply after February?</a:t>
            </a:r>
            <a:endParaRPr lang="en-IN" sz="1400" dirty="0">
              <a:latin typeface="Arial" panose="020B0604020202020204" pitchFamily="34" charset="0"/>
              <a:cs typeface="Arial" panose="020B0604020202020204" pitchFamily="34" charset="0"/>
            </a:endParaRPr>
          </a:p>
          <a:p>
            <a:pPr>
              <a:buNone/>
            </a:pPr>
            <a:r>
              <a:rPr lang="en-IN" sz="1400" dirty="0">
                <a:effectLst/>
                <a:latin typeface="Arial" panose="020B0604020202020204" pitchFamily="34" charset="0"/>
                <a:cs typeface="Arial" panose="020B0604020202020204" pitchFamily="34" charset="0"/>
              </a:rPr>
              <a:t>Sales increased sharply after February primarily because transaction volume and quantity sold increased substantially. Monthly sales rose from ₹76.15K in February to ₹166.49K in June, while orders increased from 16,359 to 35,352 and quantity increased from 23,550 to 50,942. This indicates that the growth was driven mainly by higher sales volume rather than a major increase in average order value.</a:t>
            </a:r>
            <a:endParaRPr lang="en-IN" sz="1400" dirty="0">
              <a:latin typeface="Arial" panose="020B0604020202020204" pitchFamily="34" charset="0"/>
              <a:cs typeface="Arial" panose="020B0604020202020204" pitchFamily="34" charset="0"/>
            </a:endParaRPr>
          </a:p>
          <a:p>
            <a:pPr>
              <a:buNone/>
            </a:pPr>
            <a:endParaRPr lang="en-IN" sz="1400" b="1" dirty="0">
              <a:latin typeface="Arial" panose="020B0604020202020204" pitchFamily="34" charset="0"/>
              <a:cs typeface="Arial" panose="020B0604020202020204" pitchFamily="34" charset="0"/>
            </a:endParaRPr>
          </a:p>
          <a:p>
            <a:pPr>
              <a:buNone/>
            </a:pPr>
            <a:r>
              <a:rPr lang="en-IN" sz="1400" b="1" dirty="0">
                <a:latin typeface="Arial" panose="020B0604020202020204" pitchFamily="34" charset="0"/>
                <a:cs typeface="Arial" panose="020B0604020202020204" pitchFamily="34" charset="0"/>
              </a:rPr>
              <a:t>2. Why is Astoria generating the lowest sales?</a:t>
            </a:r>
            <a:endParaRPr lang="en-IN" sz="1400"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Astoria recorded the lowest total sales among the three stores. The lower sales level is associated with lower order volume and lower Average Order Value compared with the other store locations.</a:t>
            </a:r>
          </a:p>
          <a:p>
            <a:r>
              <a:rPr lang="en-IN" sz="1400" dirty="0">
                <a:latin typeface="Arial" panose="020B0604020202020204" pitchFamily="34" charset="0"/>
                <a:cs typeface="Arial" panose="020B0604020202020204" pitchFamily="34" charset="0"/>
              </a:rPr>
              <a:t>Further analysis of product mix and hourly sales is required to determine whether differences in customer demand, product mix, or trading hours contribute to the gap.</a:t>
            </a:r>
          </a:p>
          <a:p>
            <a:endParaRPr lang="en-IN" sz="1400"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3.  Are high-value products underperforming?</a:t>
            </a:r>
            <a:endParaRPr lang="en-IN" sz="1400"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Coffee and Tea are major sales- generating categories and both recorded positive MoM growth. Coffee generated approximately ₹91.2K with 31.81% MoM growth, while Tea generated approximately ₹64.7K with 30.75% growth. Therefore, the available figures indicate positive momentum rather than category-level decline.</a:t>
            </a:r>
          </a:p>
          <a:p>
            <a:endParaRPr lang="en-IN" sz="1400"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4</a:t>
            </a:r>
            <a:r>
              <a:rPr lang="en-IN" sz="1400" dirty="0">
                <a:latin typeface="Arial" panose="020B0604020202020204" pitchFamily="34" charset="0"/>
                <a:cs typeface="Arial" panose="020B0604020202020204" pitchFamily="34" charset="0"/>
              </a:rPr>
              <a:t>. </a:t>
            </a:r>
            <a:r>
              <a:rPr lang="en-IN" sz="1400" b="1" dirty="0">
                <a:latin typeface="Arial" panose="020B0604020202020204" pitchFamily="34" charset="0"/>
                <a:cs typeface="Arial" panose="020B0604020202020204" pitchFamily="34" charset="0"/>
              </a:rPr>
              <a:t>What are the peak sales hours?</a:t>
            </a:r>
            <a:endParaRPr lang="en-IN" sz="1400"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Sales are concentrated in the morning, with the strongest performance occurring between approximately 8 AM and 10 AM. 10 AM is the peak sales hour at approximately ₹66K. Sales decline considerably during the later hours, reaching approximately ₹2.9K at 8 PM.</a:t>
            </a:r>
          </a:p>
          <a:p>
            <a:r>
              <a:rPr lang="en-IN" sz="1400" dirty="0">
                <a:latin typeface="Arial" panose="020B0604020202020204" pitchFamily="34" charset="0"/>
                <a:cs typeface="Arial" panose="020B0604020202020204" pitchFamily="34" charset="0"/>
              </a:rPr>
              <a:t>Sales at 7 PM were approximately ₹28.4K and declined further to approximately ₹2.9K by 8 PM.</a:t>
            </a:r>
          </a:p>
          <a:p>
            <a:endParaRPr lang="en-IN" sz="1400"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5</a:t>
            </a:r>
            <a:r>
              <a:rPr lang="en-IN" sz="1400" dirty="0">
                <a:latin typeface="Arial" panose="020B0604020202020204" pitchFamily="34" charset="0"/>
                <a:cs typeface="Arial" panose="020B0604020202020204" pitchFamily="34" charset="0"/>
              </a:rPr>
              <a:t>. </a:t>
            </a:r>
            <a:r>
              <a:rPr lang="en-IN" sz="1400" b="1" dirty="0">
                <a:latin typeface="Arial" panose="020B0604020202020204" pitchFamily="34" charset="0"/>
                <a:cs typeface="Arial" panose="020B0604020202020204" pitchFamily="34" charset="0"/>
              </a:rPr>
              <a:t> Which products sell during peak hours?</a:t>
            </a:r>
            <a:endParaRPr lang="en-IN" sz="1400"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During the peak morning period, multiple product categories contribute to sales, with Coffee and Tea generating the largest sales contribution.</a:t>
            </a:r>
          </a:p>
          <a:p>
            <a:r>
              <a:rPr lang="en-IN" sz="1400" dirty="0">
                <a:latin typeface="Arial" panose="020B0604020202020204" pitchFamily="34" charset="0"/>
                <a:cs typeface="Arial" panose="020B0604020202020204" pitchFamily="34" charset="0"/>
              </a:rPr>
              <a:t>During the peak-hour period, Coffee generated approximately ₹33.3K and Tea approximately ₹23.0K, making them the strongest contributors among the analysed categories.</a:t>
            </a:r>
          </a:p>
          <a:p>
            <a:endParaRPr lang="en-IN" sz="1400" dirty="0">
              <a:latin typeface="Arial" panose="020B0604020202020204" pitchFamily="34" charset="0"/>
              <a:cs typeface="Arial" panose="020B0604020202020204" pitchFamily="34" charset="0"/>
            </a:endParaRPr>
          </a:p>
          <a:p>
            <a:endParaRPr lang="en-IN" sz="1400" dirty="0">
              <a:latin typeface="Arial" panose="020B0604020202020204" pitchFamily="34" charset="0"/>
              <a:cs typeface="Arial" panose="020B0604020202020204" pitchFamily="34" charset="0"/>
            </a:endParaRPr>
          </a:p>
          <a:p>
            <a:endParaRPr lang="en-IN" sz="1400" dirty="0">
              <a:latin typeface="Arial" panose="020B0604020202020204" pitchFamily="34" charset="0"/>
              <a:cs typeface="Arial" panose="020B0604020202020204" pitchFamily="34" charset="0"/>
            </a:endParaRPr>
          </a:p>
          <a:p>
            <a:endParaRPr lang="en-I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40766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1F9617-49D7-66A1-3220-91F4E77253A1}"/>
              </a:ext>
            </a:extLst>
          </p:cNvPr>
          <p:cNvSpPr txBox="1"/>
          <p:nvPr/>
        </p:nvSpPr>
        <p:spPr>
          <a:xfrm>
            <a:off x="141515" y="107245"/>
            <a:ext cx="11658599" cy="7848302"/>
          </a:xfrm>
          <a:prstGeom prst="rect">
            <a:avLst/>
          </a:prstGeom>
          <a:noFill/>
        </p:spPr>
        <p:txBody>
          <a:bodyPr wrap="square" rtlCol="0">
            <a:spAutoFit/>
          </a:bodyPr>
          <a:lstStyle/>
          <a:p>
            <a:r>
              <a:rPr lang="en-IN" sz="1400" b="1" dirty="0">
                <a:latin typeface="Arial" panose="020B0604020202020204" pitchFamily="34" charset="0"/>
                <a:cs typeface="Arial" panose="020B0604020202020204" pitchFamily="34" charset="0"/>
              </a:rPr>
              <a:t>6. Which stores have strongest morning sales?</a:t>
            </a:r>
            <a:endParaRPr lang="en-IN" sz="1400"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The 7 AM–10 AM period represents the strongest morning sales window. Store-level performance during this period should be compared to identify which location contributes most to morning demand.</a:t>
            </a:r>
          </a:p>
          <a:p>
            <a:endParaRPr lang="en-IN" sz="1400"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7. Why are weekday sales much higher than weekend sales?</a:t>
            </a:r>
            <a:endParaRPr lang="en-IN" sz="1400"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Weekday = </a:t>
            </a:r>
            <a:r>
              <a:rPr lang="en-IN" sz="1400" b="1" dirty="0">
                <a:latin typeface="Arial" panose="020B0604020202020204" pitchFamily="34" charset="0"/>
                <a:cs typeface="Arial" panose="020B0604020202020204" pitchFamily="34" charset="0"/>
              </a:rPr>
              <a:t>₹504K</a:t>
            </a:r>
            <a:endParaRPr lang="en-IN" sz="1400"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Weekend = </a:t>
            </a:r>
            <a:r>
              <a:rPr lang="en-IN" sz="1400" b="1" dirty="0">
                <a:latin typeface="Arial" panose="020B0604020202020204" pitchFamily="34" charset="0"/>
                <a:cs typeface="Arial" panose="020B0604020202020204" pitchFamily="34" charset="0"/>
              </a:rPr>
              <a:t>₹195K</a:t>
            </a:r>
            <a:r>
              <a:rPr lang="en-IN" sz="1400" dirty="0">
                <a:latin typeface="Arial" panose="020B0604020202020204" pitchFamily="34" charset="0"/>
                <a:cs typeface="Arial" panose="020B0604020202020204" pitchFamily="34" charset="0"/>
              </a:rPr>
              <a:t> </a:t>
            </a:r>
          </a:p>
          <a:p>
            <a:r>
              <a:rPr lang="en-IN" sz="1400" dirty="0">
                <a:latin typeface="Arial" panose="020B0604020202020204" pitchFamily="34" charset="0"/>
                <a:cs typeface="Arial" panose="020B0604020202020204" pitchFamily="34" charset="0"/>
              </a:rPr>
              <a:t>Customers spend much more on weekdays.</a:t>
            </a:r>
          </a:p>
          <a:p>
            <a:r>
              <a:rPr lang="en-IN" sz="1400" dirty="0">
                <a:latin typeface="Arial" panose="020B0604020202020204" pitchFamily="34" charset="0"/>
                <a:cs typeface="Arial" panose="020B0604020202020204" pitchFamily="34" charset="0"/>
              </a:rPr>
              <a:t>Weekdays generate </a:t>
            </a:r>
            <a:r>
              <a:rPr lang="en-IN" sz="1400" b="1" dirty="0">
                <a:latin typeface="Arial" panose="020B0604020202020204" pitchFamily="34" charset="0"/>
                <a:cs typeface="Arial" panose="020B0604020202020204" pitchFamily="34" charset="0"/>
              </a:rPr>
              <a:t>₹504K </a:t>
            </a:r>
            <a:r>
              <a:rPr lang="en-IN" sz="1400" dirty="0">
                <a:latin typeface="Arial" panose="020B0604020202020204" pitchFamily="34" charset="0"/>
                <a:cs typeface="Arial" panose="020B0604020202020204" pitchFamily="34" charset="0"/>
              </a:rPr>
              <a:t>versus</a:t>
            </a:r>
            <a:r>
              <a:rPr lang="en-IN" sz="1400" b="1" dirty="0">
                <a:latin typeface="Arial" panose="020B0604020202020204" pitchFamily="34" charset="0"/>
                <a:cs typeface="Arial" panose="020B0604020202020204" pitchFamily="34" charset="0"/>
              </a:rPr>
              <a:t> ₹195K</a:t>
            </a:r>
            <a:r>
              <a:rPr lang="en-IN" sz="1400" dirty="0">
                <a:latin typeface="Arial" panose="020B0604020202020204" pitchFamily="34" charset="0"/>
                <a:cs typeface="Arial" panose="020B0604020202020204" pitchFamily="34" charset="0"/>
              </a:rPr>
              <a:t> on weekends, but the difference is largely influenced by the number of weekdays versus weekend days. On a daily basis, weekday sales are approximately</a:t>
            </a:r>
            <a:r>
              <a:rPr lang="en-IN" sz="1400" b="1" dirty="0">
                <a:latin typeface="Arial" panose="020B0604020202020204" pitchFamily="34" charset="0"/>
                <a:cs typeface="Arial" panose="020B0604020202020204" pitchFamily="34" charset="0"/>
              </a:rPr>
              <a:t> ₹100.8K</a:t>
            </a:r>
            <a:r>
              <a:rPr lang="en-IN" sz="1400" dirty="0">
                <a:latin typeface="Arial" panose="020B0604020202020204" pitchFamily="34" charset="0"/>
                <a:cs typeface="Arial" panose="020B0604020202020204" pitchFamily="34" charset="0"/>
              </a:rPr>
              <a:t> compared with </a:t>
            </a:r>
            <a:r>
              <a:rPr lang="en-IN" sz="1400" b="1" dirty="0">
                <a:latin typeface="Arial" panose="020B0604020202020204" pitchFamily="34" charset="0"/>
                <a:cs typeface="Arial" panose="020B0604020202020204" pitchFamily="34" charset="0"/>
              </a:rPr>
              <a:t>₹97.5K</a:t>
            </a:r>
            <a:r>
              <a:rPr lang="en-IN" sz="1400" dirty="0">
                <a:latin typeface="Arial" panose="020B0604020202020204" pitchFamily="34" charset="0"/>
                <a:cs typeface="Arial" panose="020B0604020202020204" pitchFamily="34" charset="0"/>
              </a:rPr>
              <a:t> on weekends, indicating that daily sales are relatively similar, with only a modest weekday advantage.</a:t>
            </a:r>
          </a:p>
          <a:p>
            <a:r>
              <a:rPr lang="en-IN" sz="1400" dirty="0">
                <a:latin typeface="Arial" panose="020B0604020202020204" pitchFamily="34" charset="0"/>
                <a:cs typeface="Arial" panose="020B0604020202020204" pitchFamily="34" charset="0"/>
              </a:rPr>
              <a:t>Total weekday sales are higher primarily because there are more weekdays; average daily sales are relatively similar, with a modest weekday advantage.</a:t>
            </a:r>
          </a:p>
          <a:p>
            <a:endParaRPr lang="en-IN" sz="1400"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8. Why is a product underperforming?</a:t>
            </a:r>
            <a:endParaRPr lang="en-IN" sz="1400"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Dark Chocolate records relatively low sales alongside lower order volume and quantity compared with stronger-performing products. This suggests limited contribution to overall sales, but additional analysis of store availability and product demand is required before concluding that the product itself is unpopular.</a:t>
            </a:r>
          </a:p>
          <a:p>
            <a:endParaRPr lang="en-IN" sz="1400"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9. Peak-Hour Opportunity</a:t>
            </a:r>
            <a:endParaRPr lang="en-IN" sz="1400"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Finding:</a:t>
            </a:r>
            <a:r>
              <a:rPr lang="en-IN" sz="1400" dirty="0">
                <a:latin typeface="Arial" panose="020B0604020202020204" pitchFamily="34" charset="0"/>
                <a:cs typeface="Arial" panose="020B0604020202020204" pitchFamily="34" charset="0"/>
              </a:rPr>
              <a:t> Morning hours represent the strongest sales period, with sales peaking at 10 AM. Coffee and Tea are the dominant categories during this period. Sales decline substantially toward the evening, reaching the lowest level at 8 PM.</a:t>
            </a:r>
          </a:p>
          <a:p>
            <a:r>
              <a:rPr lang="en-IN" sz="1400" b="1" dirty="0">
                <a:latin typeface="Arial" panose="020B0604020202020204" pitchFamily="34" charset="0"/>
                <a:cs typeface="Arial" panose="020B0604020202020204" pitchFamily="34" charset="0"/>
              </a:rPr>
              <a:t>Business interpretation: </a:t>
            </a:r>
            <a:r>
              <a:rPr lang="en-IN" sz="1400" dirty="0">
                <a:latin typeface="Arial" panose="020B0604020202020204" pitchFamily="34" charset="0"/>
                <a:cs typeface="Arial" panose="020B0604020202020204" pitchFamily="34" charset="0"/>
              </a:rPr>
              <a:t>The morning sales concentration indicates that peak-hour product availability and operational capacity could be important factors for maximizing sales during high-demand periods.</a:t>
            </a:r>
          </a:p>
          <a:p>
            <a:endParaRPr lang="en-IN" sz="1400"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10. Revenue Concentration</a:t>
            </a:r>
            <a:endParaRPr lang="en-IN" sz="1400"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The top 10 products contribute approximately 79% of total sales, indicating a high concentration of revenue among a relatively small group of products.</a:t>
            </a:r>
          </a:p>
          <a:p>
            <a:r>
              <a:rPr lang="en-IN" sz="1400" b="1" dirty="0">
                <a:latin typeface="Arial" panose="020B0604020202020204" pitchFamily="34" charset="0"/>
                <a:cs typeface="Arial" panose="020B0604020202020204" pitchFamily="34" charset="0"/>
              </a:rPr>
              <a:t>Business Implication: </a:t>
            </a:r>
            <a:r>
              <a:rPr lang="en-IN" sz="1400" dirty="0">
                <a:latin typeface="Arial" panose="020B0604020202020204" pitchFamily="34" charset="0"/>
                <a:cs typeface="Arial" panose="020B0604020202020204" pitchFamily="34" charset="0"/>
              </a:rPr>
              <a:t>The business may be significantly dependent on its leading products, making their availability and continued demand important to overall sales performance.</a:t>
            </a:r>
          </a:p>
          <a:p>
            <a:endParaRPr lang="en-IN" sz="1400" b="1" dirty="0">
              <a:latin typeface="Arial" panose="020B0604020202020204" pitchFamily="34" charset="0"/>
              <a:cs typeface="Arial" panose="020B0604020202020204" pitchFamily="34" charset="0"/>
            </a:endParaRPr>
          </a:p>
          <a:p>
            <a:endParaRPr lang="en-IN" sz="1400" dirty="0">
              <a:latin typeface="Arial" panose="020B0604020202020204" pitchFamily="34" charset="0"/>
              <a:cs typeface="Arial" panose="020B0604020202020204" pitchFamily="34" charset="0"/>
            </a:endParaRPr>
          </a:p>
          <a:p>
            <a:endParaRPr lang="en-IN" sz="1400" dirty="0">
              <a:latin typeface="Arial" panose="020B0604020202020204" pitchFamily="34" charset="0"/>
              <a:cs typeface="Arial" panose="020B0604020202020204" pitchFamily="34" charset="0"/>
            </a:endParaRPr>
          </a:p>
          <a:p>
            <a:endParaRPr lang="en-IN" sz="1400" dirty="0">
              <a:latin typeface="Arial" panose="020B0604020202020204" pitchFamily="34" charset="0"/>
              <a:cs typeface="Arial" panose="020B0604020202020204" pitchFamily="34" charset="0"/>
            </a:endParaRPr>
          </a:p>
          <a:p>
            <a:endParaRPr lang="en-I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40298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42D35E-E00B-6F1B-A88F-0C72959D5FEC}"/>
              </a:ext>
            </a:extLst>
          </p:cNvPr>
          <p:cNvSpPr txBox="1"/>
          <p:nvPr/>
        </p:nvSpPr>
        <p:spPr>
          <a:xfrm>
            <a:off x="391886" y="424543"/>
            <a:ext cx="10787743" cy="5109091"/>
          </a:xfrm>
          <a:prstGeom prst="rect">
            <a:avLst/>
          </a:prstGeom>
          <a:noFill/>
        </p:spPr>
        <p:txBody>
          <a:bodyPr wrap="square" rtlCol="0">
            <a:spAutoFit/>
          </a:bodyPr>
          <a:lstStyle/>
          <a:p>
            <a:pPr algn="ctr"/>
            <a:r>
              <a:rPr lang="en-IN" sz="2000" b="1" dirty="0">
                <a:latin typeface="Arial" panose="020B0604020202020204" pitchFamily="34" charset="0"/>
                <a:cs typeface="Arial" panose="020B0604020202020204" pitchFamily="34" charset="0"/>
              </a:rPr>
              <a:t>Key Business Insights</a:t>
            </a:r>
          </a:p>
          <a:p>
            <a:pPr algn="ctr"/>
            <a:endParaRPr lang="en-IN" sz="2000" b="1" dirty="0">
              <a:latin typeface="Arial" panose="020B0604020202020204" pitchFamily="34" charset="0"/>
              <a:cs typeface="Arial" panose="020B0604020202020204" pitchFamily="34" charset="0"/>
            </a:endParaRPr>
          </a:p>
          <a:p>
            <a:pPr algn="ctr"/>
            <a:endParaRPr lang="en-IN" sz="2000"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01 — Sales Recovery</a:t>
            </a:r>
            <a:endParaRPr lang="en-IN" sz="1400"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 Sales declined </a:t>
            </a:r>
            <a:r>
              <a:rPr lang="en-IN" sz="1400" b="1" dirty="0">
                <a:latin typeface="Arial" panose="020B0604020202020204" pitchFamily="34" charset="0"/>
                <a:cs typeface="Arial" panose="020B0604020202020204" pitchFamily="34" charset="0"/>
              </a:rPr>
              <a:t>6.77% in February</a:t>
            </a:r>
            <a:r>
              <a:rPr lang="en-IN" sz="1400" dirty="0">
                <a:latin typeface="Arial" panose="020B0604020202020204" pitchFamily="34" charset="0"/>
                <a:cs typeface="Arial" panose="020B0604020202020204" pitchFamily="34" charset="0"/>
              </a:rPr>
              <a:t> but returned to positive MoM growth from March onward, with the strongest growth of </a:t>
            </a:r>
            <a:r>
              <a:rPr lang="en-IN" sz="1400" b="1" dirty="0">
                <a:latin typeface="Arial" panose="020B0604020202020204" pitchFamily="34" charset="0"/>
                <a:cs typeface="Arial" panose="020B0604020202020204" pitchFamily="34" charset="0"/>
              </a:rPr>
              <a:t>31.77% in May</a:t>
            </a:r>
            <a:r>
              <a:rPr lang="en-IN" sz="1400" dirty="0">
                <a:latin typeface="Arial" panose="020B0604020202020204" pitchFamily="34" charset="0"/>
                <a:cs typeface="Arial" panose="020B0604020202020204" pitchFamily="34" charset="0"/>
              </a:rPr>
              <a:t>.</a:t>
            </a:r>
          </a:p>
          <a:p>
            <a:r>
              <a:rPr lang="en-IN" sz="1400" b="1" dirty="0">
                <a:latin typeface="Arial" panose="020B0604020202020204" pitchFamily="34" charset="0"/>
                <a:cs typeface="Arial" panose="020B0604020202020204" pitchFamily="34" charset="0"/>
              </a:rPr>
              <a:t>02 — Stable AOV</a:t>
            </a:r>
            <a:endParaRPr lang="en-IN" sz="1400"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 AOV remained within a narrow range of </a:t>
            </a:r>
            <a:r>
              <a:rPr lang="en-IN" sz="1400" b="1" dirty="0">
                <a:latin typeface="Arial" panose="020B0604020202020204" pitchFamily="34" charset="0"/>
                <a:cs typeface="Arial" panose="020B0604020202020204" pitchFamily="34" charset="0"/>
              </a:rPr>
              <a:t>₹4.65–₹4.72</a:t>
            </a:r>
            <a:r>
              <a:rPr lang="en-IN" sz="1400" dirty="0">
                <a:latin typeface="Arial" panose="020B0604020202020204" pitchFamily="34" charset="0"/>
                <a:cs typeface="Arial" panose="020B0604020202020204" pitchFamily="34" charset="0"/>
              </a:rPr>
              <a:t>, suggesting that sales changes were more closely associated with order activity than major changes in average order value.</a:t>
            </a:r>
          </a:p>
          <a:p>
            <a:r>
              <a:rPr lang="en-IN" sz="1400" b="1" dirty="0">
                <a:latin typeface="Arial" panose="020B0604020202020204" pitchFamily="34" charset="0"/>
                <a:cs typeface="Arial" panose="020B0604020202020204" pitchFamily="34" charset="0"/>
              </a:rPr>
              <a:t>03 — Product Concentration</a:t>
            </a:r>
            <a:endParaRPr lang="en-IN" sz="1400"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Top 10 Product Types</a:t>
            </a:r>
            <a:r>
              <a:rPr lang="en-IN" sz="1400" dirty="0">
                <a:latin typeface="Arial" panose="020B0604020202020204" pitchFamily="34" charset="0"/>
                <a:cs typeface="Arial" panose="020B0604020202020204" pitchFamily="34" charset="0"/>
              </a:rPr>
              <a:t> contribute approximately </a:t>
            </a:r>
            <a:r>
              <a:rPr lang="en-IN" sz="1400" b="1" dirty="0">
                <a:latin typeface="Arial" panose="020B0604020202020204" pitchFamily="34" charset="0"/>
                <a:cs typeface="Arial" panose="020B0604020202020204" pitchFamily="34" charset="0"/>
              </a:rPr>
              <a:t>79% </a:t>
            </a:r>
            <a:r>
              <a:rPr lang="en-IN" sz="1400" dirty="0">
                <a:latin typeface="Arial" panose="020B0604020202020204" pitchFamily="34" charset="0"/>
                <a:cs typeface="Arial" panose="020B0604020202020204" pitchFamily="34" charset="0"/>
              </a:rPr>
              <a:t>of total sales.</a:t>
            </a:r>
          </a:p>
          <a:p>
            <a:r>
              <a:rPr lang="en-IN" sz="1400" b="1" dirty="0">
                <a:latin typeface="Arial" panose="020B0604020202020204" pitchFamily="34" charset="0"/>
                <a:cs typeface="Arial" panose="020B0604020202020204" pitchFamily="34" charset="0"/>
              </a:rPr>
              <a:t>04 — Category Drivers</a:t>
            </a:r>
            <a:endParaRPr lang="en-IN" sz="1400"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 </a:t>
            </a:r>
            <a:r>
              <a:rPr lang="en-IN" sz="1400" b="1" dirty="0">
                <a:latin typeface="Arial" panose="020B0604020202020204" pitchFamily="34" charset="0"/>
                <a:cs typeface="Arial" panose="020B0604020202020204" pitchFamily="34" charset="0"/>
              </a:rPr>
              <a:t>Coffee and Tea</a:t>
            </a:r>
            <a:r>
              <a:rPr lang="en-IN" sz="1400" dirty="0">
                <a:latin typeface="Arial" panose="020B0604020202020204" pitchFamily="34" charset="0"/>
                <a:cs typeface="Arial" panose="020B0604020202020204" pitchFamily="34" charset="0"/>
              </a:rPr>
              <a:t> are the dominant sales categories across the stores. Barista Espresso is the leading individual product by sales.</a:t>
            </a:r>
          </a:p>
          <a:p>
            <a:r>
              <a:rPr lang="en-IN" sz="1400" b="1" dirty="0">
                <a:latin typeface="Arial" panose="020B0604020202020204" pitchFamily="34" charset="0"/>
                <a:cs typeface="Arial" panose="020B0604020202020204" pitchFamily="34" charset="0"/>
              </a:rPr>
              <a:t>05 — Store Performance</a:t>
            </a:r>
            <a:endParaRPr lang="en-IN" sz="1400"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 Hell's Kitchen generated the highest sales at approximately </a:t>
            </a:r>
            <a:r>
              <a:rPr lang="en-IN" sz="1400" b="1" dirty="0">
                <a:latin typeface="Arial" panose="020B0604020202020204" pitchFamily="34" charset="0"/>
                <a:cs typeface="Arial" panose="020B0604020202020204" pitchFamily="34" charset="0"/>
              </a:rPr>
              <a:t>₹236.51K</a:t>
            </a:r>
            <a:r>
              <a:rPr lang="en-IN" sz="1400" dirty="0">
                <a:latin typeface="Arial" panose="020B0604020202020204" pitchFamily="34" charset="0"/>
                <a:cs typeface="Arial" panose="020B0604020202020204" pitchFamily="34" charset="0"/>
              </a:rPr>
              <a:t>, while Lower Manhattan recorded approximately </a:t>
            </a:r>
            <a:r>
              <a:rPr lang="en-IN" sz="1400" b="1" dirty="0">
                <a:latin typeface="Arial" panose="020B0604020202020204" pitchFamily="34" charset="0"/>
                <a:cs typeface="Arial" panose="020B0604020202020204" pitchFamily="34" charset="0"/>
              </a:rPr>
              <a:t>₹230.06K</a:t>
            </a:r>
            <a:r>
              <a:rPr lang="en-IN" sz="1400" dirty="0">
                <a:latin typeface="Arial" panose="020B0604020202020204" pitchFamily="34" charset="0"/>
                <a:cs typeface="Arial" panose="020B0604020202020204" pitchFamily="34" charset="0"/>
              </a:rPr>
              <a:t>.</a:t>
            </a:r>
          </a:p>
          <a:p>
            <a:r>
              <a:rPr lang="en-IN" sz="1400" b="1" dirty="0">
                <a:latin typeface="Arial" panose="020B0604020202020204" pitchFamily="34" charset="0"/>
                <a:cs typeface="Arial" panose="020B0604020202020204" pitchFamily="34" charset="0"/>
              </a:rPr>
              <a:t>06 — Morning Demand</a:t>
            </a:r>
            <a:endParaRPr lang="en-IN" sz="1400"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 Sales are strongest around </a:t>
            </a:r>
            <a:r>
              <a:rPr lang="en-IN" sz="1400" b="1" dirty="0">
                <a:latin typeface="Arial" panose="020B0604020202020204" pitchFamily="34" charset="0"/>
                <a:cs typeface="Arial" panose="020B0604020202020204" pitchFamily="34" charset="0"/>
              </a:rPr>
              <a:t>8–10 AM</a:t>
            </a:r>
            <a:r>
              <a:rPr lang="en-IN" sz="1400" dirty="0">
                <a:latin typeface="Arial" panose="020B0604020202020204" pitchFamily="34" charset="0"/>
                <a:cs typeface="Arial" panose="020B0604020202020204" pitchFamily="34" charset="0"/>
              </a:rPr>
              <a:t>, with </a:t>
            </a:r>
            <a:r>
              <a:rPr lang="en-IN" sz="1400" b="1" dirty="0">
                <a:latin typeface="Arial" panose="020B0604020202020204" pitchFamily="34" charset="0"/>
                <a:cs typeface="Arial" panose="020B0604020202020204" pitchFamily="34" charset="0"/>
              </a:rPr>
              <a:t>10 AM reaching approximately ₹66K</a:t>
            </a:r>
            <a:r>
              <a:rPr lang="en-IN" sz="1400" dirty="0">
                <a:latin typeface="Arial" panose="020B0604020202020204" pitchFamily="34" charset="0"/>
                <a:cs typeface="Arial" panose="020B0604020202020204" pitchFamily="34" charset="0"/>
              </a:rPr>
              <a:t>, while sales fall sharply toward the evening.</a:t>
            </a:r>
          </a:p>
          <a:p>
            <a:r>
              <a:rPr lang="en-IN" sz="1400" b="1" dirty="0">
                <a:latin typeface="Arial" panose="020B0604020202020204" pitchFamily="34" charset="0"/>
                <a:cs typeface="Arial" panose="020B0604020202020204" pitchFamily="34" charset="0"/>
              </a:rPr>
              <a:t>07 — Evening Decline</a:t>
            </a:r>
            <a:endParaRPr lang="en-IN" sz="1400"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 Sales decrease from approximately </a:t>
            </a:r>
            <a:r>
              <a:rPr lang="en-IN" sz="1400" b="1" dirty="0">
                <a:latin typeface="Arial" panose="020B0604020202020204" pitchFamily="34" charset="0"/>
                <a:cs typeface="Arial" panose="020B0604020202020204" pitchFamily="34" charset="0"/>
              </a:rPr>
              <a:t>₹28.4K at 7 PM to ₹2.9K at 8 PM</a:t>
            </a:r>
            <a:r>
              <a:rPr lang="en-IN" sz="1400" dirty="0">
                <a:latin typeface="Arial" panose="020B0604020202020204" pitchFamily="34" charset="0"/>
                <a:cs typeface="Arial" panose="020B0604020202020204" pitchFamily="34" charset="0"/>
              </a:rPr>
              <a:t>, indicating a substantial drop in late-evening demand.</a:t>
            </a:r>
          </a:p>
          <a:p>
            <a:r>
              <a:rPr lang="en-IN" sz="1400" b="1" dirty="0">
                <a:latin typeface="Arial" panose="020B0604020202020204" pitchFamily="34" charset="0"/>
                <a:cs typeface="Arial" panose="020B0604020202020204" pitchFamily="34" charset="0"/>
              </a:rPr>
              <a:t>08 — Product/Volume Relationship</a:t>
            </a:r>
            <a:endParaRPr lang="en-IN" sz="1400"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 Sales volume and revenue should be evaluated separately because high quantities do not necessarily indicate proportionally high sales revenue.</a:t>
            </a:r>
          </a:p>
        </p:txBody>
      </p:sp>
    </p:spTree>
    <p:extLst>
      <p:ext uri="{BB962C8B-B14F-4D97-AF65-F5344CB8AC3E}">
        <p14:creationId xmlns:p14="http://schemas.microsoft.com/office/powerpoint/2010/main" val="1934030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3ADE32-380B-1097-E049-B2A75469E5BD}"/>
              </a:ext>
            </a:extLst>
          </p:cNvPr>
          <p:cNvSpPr txBox="1"/>
          <p:nvPr/>
        </p:nvSpPr>
        <p:spPr>
          <a:xfrm>
            <a:off x="631371" y="1382485"/>
            <a:ext cx="10384971" cy="4247317"/>
          </a:xfrm>
          <a:prstGeom prst="rect">
            <a:avLst/>
          </a:prstGeom>
          <a:noFill/>
        </p:spPr>
        <p:txBody>
          <a:bodyPr wrap="square">
            <a:spAutoFit/>
          </a:bodyPr>
          <a:lstStyle/>
          <a:p>
            <a:pPr>
              <a:buNone/>
            </a:pPr>
            <a:r>
              <a:rPr lang="en-IN" b="1" dirty="0">
                <a:effectLst/>
                <a:latin typeface="Arial" panose="020B0604020202020204" pitchFamily="34" charset="0"/>
                <a:cs typeface="Arial" panose="020B0604020202020204" pitchFamily="34" charset="0"/>
              </a:rPr>
              <a:t>Recommendation 1</a:t>
            </a:r>
            <a:endParaRPr lang="en-IN" dirty="0">
              <a:latin typeface="Arial" panose="020B0604020202020204" pitchFamily="34" charset="0"/>
              <a:cs typeface="Arial" panose="020B0604020202020204" pitchFamily="34" charset="0"/>
            </a:endParaRPr>
          </a:p>
          <a:p>
            <a:pPr>
              <a:buNone/>
            </a:pPr>
            <a:r>
              <a:rPr lang="en-IN" dirty="0">
                <a:effectLst/>
                <a:latin typeface="Arial" panose="020B0604020202020204" pitchFamily="34" charset="0"/>
                <a:cs typeface="Arial" panose="020B0604020202020204" pitchFamily="34" charset="0"/>
              </a:rPr>
              <a:t>Monitor inventory availability for high</a:t>
            </a:r>
            <a:r>
              <a:rPr lang="en-IN" dirty="0">
                <a:latin typeface="Arial" panose="020B0604020202020204" pitchFamily="34" charset="0"/>
                <a:cs typeface="Arial" panose="020B0604020202020204" pitchFamily="34" charset="0"/>
              </a:rPr>
              <a:t>- </a:t>
            </a:r>
            <a:r>
              <a:rPr lang="en-IN" dirty="0">
                <a:effectLst/>
                <a:latin typeface="Arial" panose="020B0604020202020204" pitchFamily="34" charset="0"/>
                <a:cs typeface="Arial" panose="020B0604020202020204" pitchFamily="34" charset="0"/>
              </a:rPr>
              <a:t>contributing Coffee and Tea product types during peak morning hours.</a:t>
            </a:r>
          </a:p>
          <a:p>
            <a:pPr>
              <a:buNone/>
            </a:pPr>
            <a:endParaRPr lang="en-IN" dirty="0">
              <a:latin typeface="Arial" panose="020B0604020202020204" pitchFamily="34" charset="0"/>
              <a:cs typeface="Arial" panose="020B0604020202020204" pitchFamily="34" charset="0"/>
            </a:endParaRPr>
          </a:p>
          <a:p>
            <a:pPr>
              <a:buNone/>
            </a:pPr>
            <a:r>
              <a:rPr lang="en-IN" b="1" dirty="0">
                <a:effectLst/>
                <a:latin typeface="Arial" panose="020B0604020202020204" pitchFamily="34" charset="0"/>
                <a:cs typeface="Arial" panose="020B0604020202020204" pitchFamily="34" charset="0"/>
              </a:rPr>
              <a:t>Recommendation 2</a:t>
            </a:r>
            <a:endParaRPr lang="en-IN" dirty="0">
              <a:latin typeface="Arial" panose="020B0604020202020204" pitchFamily="34" charset="0"/>
              <a:cs typeface="Arial" panose="020B0604020202020204" pitchFamily="34" charset="0"/>
            </a:endParaRPr>
          </a:p>
          <a:p>
            <a:pPr>
              <a:buNone/>
            </a:pPr>
            <a:r>
              <a:rPr lang="en-IN" dirty="0">
                <a:effectLst/>
                <a:latin typeface="Arial" panose="020B0604020202020204" pitchFamily="34" charset="0"/>
                <a:cs typeface="Arial" panose="020B0604020202020204" pitchFamily="34" charset="0"/>
              </a:rPr>
              <a:t>Analyse product-level demand and availability for lower-performing products before making assortment changes.</a:t>
            </a:r>
          </a:p>
          <a:p>
            <a:pPr>
              <a:buNone/>
            </a:pPr>
            <a:endParaRPr lang="en-IN" dirty="0">
              <a:latin typeface="Arial" panose="020B0604020202020204" pitchFamily="34" charset="0"/>
              <a:cs typeface="Arial" panose="020B0604020202020204" pitchFamily="34" charset="0"/>
            </a:endParaRPr>
          </a:p>
          <a:p>
            <a:pPr>
              <a:buNone/>
            </a:pPr>
            <a:r>
              <a:rPr lang="en-IN" b="1" dirty="0">
                <a:effectLst/>
                <a:latin typeface="Arial" panose="020B0604020202020204" pitchFamily="34" charset="0"/>
                <a:cs typeface="Arial" panose="020B0604020202020204" pitchFamily="34" charset="0"/>
              </a:rPr>
              <a:t>Recommendation 3</a:t>
            </a:r>
            <a:endParaRPr lang="en-IN" dirty="0">
              <a:latin typeface="Arial" panose="020B0604020202020204" pitchFamily="34" charset="0"/>
              <a:cs typeface="Arial" panose="020B0604020202020204" pitchFamily="34" charset="0"/>
            </a:endParaRPr>
          </a:p>
          <a:p>
            <a:pPr>
              <a:buNone/>
            </a:pPr>
            <a:r>
              <a:rPr lang="en-IN" dirty="0">
                <a:effectLst/>
                <a:latin typeface="Arial" panose="020B0604020202020204" pitchFamily="34" charset="0"/>
                <a:cs typeface="Arial" panose="020B0604020202020204" pitchFamily="34" charset="0"/>
              </a:rPr>
              <a:t>Use monthly sales and product-type performance as recurring KPIs to monitor whether the post-February growth trend continues.</a:t>
            </a:r>
          </a:p>
          <a:p>
            <a:pPr>
              <a:buNone/>
            </a:pPr>
            <a:endParaRPr lang="en-IN" dirty="0">
              <a:latin typeface="Arial" panose="020B0604020202020204" pitchFamily="34" charset="0"/>
              <a:cs typeface="Arial" panose="020B0604020202020204" pitchFamily="34" charset="0"/>
            </a:endParaRPr>
          </a:p>
          <a:p>
            <a:pPr>
              <a:buNone/>
            </a:pPr>
            <a:r>
              <a:rPr lang="en-IN" b="1" dirty="0">
                <a:effectLst/>
                <a:latin typeface="Arial" panose="020B0604020202020204" pitchFamily="34" charset="0"/>
                <a:cs typeface="Arial" panose="020B0604020202020204" pitchFamily="34" charset="0"/>
              </a:rPr>
              <a:t>Recommendation 4</a:t>
            </a:r>
            <a:endParaRPr lang="en-IN" dirty="0">
              <a:latin typeface="Arial" panose="020B0604020202020204" pitchFamily="34" charset="0"/>
              <a:cs typeface="Arial" panose="020B0604020202020204" pitchFamily="34" charset="0"/>
            </a:endParaRPr>
          </a:p>
          <a:p>
            <a:pPr>
              <a:buNone/>
            </a:pPr>
            <a:r>
              <a:rPr lang="en-IN" dirty="0">
                <a:effectLst/>
                <a:latin typeface="Arial" panose="020B0604020202020204" pitchFamily="34" charset="0"/>
                <a:cs typeface="Arial" panose="020B0604020202020204" pitchFamily="34" charset="0"/>
              </a:rPr>
              <a:t>Compare store-level hourly sales to determine whether peak-hour patterns differ by location before making store-specific operational decisions.</a:t>
            </a:r>
            <a:endParaRPr lang="en-IN"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A5683ABC-920A-C12B-8D14-7CE14CDB6050}"/>
              </a:ext>
            </a:extLst>
          </p:cNvPr>
          <p:cNvSpPr txBox="1"/>
          <p:nvPr/>
        </p:nvSpPr>
        <p:spPr>
          <a:xfrm>
            <a:off x="3750128" y="478971"/>
            <a:ext cx="4691743" cy="461665"/>
          </a:xfrm>
          <a:prstGeom prst="rect">
            <a:avLst/>
          </a:prstGeom>
          <a:noFill/>
        </p:spPr>
        <p:txBody>
          <a:bodyPr wrap="square" rtlCol="0">
            <a:spAutoFit/>
          </a:bodyPr>
          <a:lstStyle/>
          <a:p>
            <a:pPr algn="ctr"/>
            <a:r>
              <a:rPr lang="en-IN" sz="2400" b="1" dirty="0">
                <a:latin typeface="Arial" panose="020B0604020202020204" pitchFamily="34" charset="0"/>
                <a:cs typeface="Arial" panose="020B0604020202020204" pitchFamily="34" charset="0"/>
              </a:rPr>
              <a:t>Business Recommendations</a:t>
            </a:r>
          </a:p>
        </p:txBody>
      </p:sp>
    </p:spTree>
    <p:extLst>
      <p:ext uri="{BB962C8B-B14F-4D97-AF65-F5344CB8AC3E}">
        <p14:creationId xmlns:p14="http://schemas.microsoft.com/office/powerpoint/2010/main" val="38243861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47</TotalTime>
  <Words>1182</Words>
  <Application>Microsoft Office PowerPoint</Application>
  <PresentationFormat>Widescreen</PresentationFormat>
  <Paragraphs>94</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Coffee Shop Sales Analysis Dashboard Project</vt:lpstr>
      <vt:lpstr>Business Problem : The business wanted to understand sales performance across months, stores, product categories, product types and transaction time.  Dataset: 149,116 Transactions   </vt:lpstr>
      <vt:lpstr>Data Preparation &amp; Modelling </vt:lpstr>
      <vt:lpstr>Overall Performance</vt:lpstr>
      <vt:lpstr>Store Performance</vt:lpstr>
      <vt:lpstr>Product Performance</vt:lpstr>
      <vt:lpstr>Time &amp; Trend</vt:lpstr>
      <vt:lpstr>Business Investigation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Harika Challa</dc:creator>
  <cp:lastModifiedBy>Harika Challa</cp:lastModifiedBy>
  <cp:revision>1</cp:revision>
  <dcterms:created xsi:type="dcterms:W3CDTF">2026-09-21T12:25:14Z</dcterms:created>
  <dcterms:modified xsi:type="dcterms:W3CDTF">2026-09-21T13:12:46Z</dcterms:modified>
</cp:coreProperties>
</file>