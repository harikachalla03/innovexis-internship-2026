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347A2D-E83F-4BCC-B796-60C53E59E805}" v="119" dt="2026-07-20T14:33:01.0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2" autoAdjust="0"/>
    <p:restoredTop sz="94660"/>
  </p:normalViewPr>
  <p:slideViewPr>
    <p:cSldViewPr snapToGrid="0">
      <p:cViewPr varScale="1">
        <p:scale>
          <a:sx n="59" d="100"/>
          <a:sy n="59" d="100"/>
        </p:scale>
        <p:origin x="2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ka Challa" userId="135cdfd11f38c2ac" providerId="LiveId" clId="{D76684D5-5A26-45C6-AD39-980DC061D39F}"/>
    <pc:docChg chg="undo custSel addSld delSld modSld">
      <pc:chgData name="Harika Challa" userId="135cdfd11f38c2ac" providerId="LiveId" clId="{D76684D5-5A26-45C6-AD39-980DC061D39F}" dt="2026-07-20T15:14:47.914" v="4478" actId="20577"/>
      <pc:docMkLst>
        <pc:docMk/>
      </pc:docMkLst>
      <pc:sldChg chg="addSp delSp modSp mod">
        <pc:chgData name="Harika Challa" userId="135cdfd11f38c2ac" providerId="LiveId" clId="{D76684D5-5A26-45C6-AD39-980DC061D39F}" dt="2026-07-20T05:31:17.566" v="128" actId="1076"/>
        <pc:sldMkLst>
          <pc:docMk/>
          <pc:sldMk cId="3088850652" sldId="256"/>
        </pc:sldMkLst>
        <pc:spChg chg="mod">
          <ac:chgData name="Harika Challa" userId="135cdfd11f38c2ac" providerId="LiveId" clId="{D76684D5-5A26-45C6-AD39-980DC061D39F}" dt="2026-07-20T05:30:09.906" v="126" actId="1076"/>
          <ac:spMkLst>
            <pc:docMk/>
            <pc:sldMk cId="3088850652" sldId="256"/>
            <ac:spMk id="3" creationId="{A0EB7B77-4C70-E541-D1C0-DDAACE6BF959}"/>
          </ac:spMkLst>
        </pc:spChg>
        <pc:spChg chg="add del mod">
          <ac:chgData name="Harika Challa" userId="135cdfd11f38c2ac" providerId="LiveId" clId="{D76684D5-5A26-45C6-AD39-980DC061D39F}" dt="2026-07-20T05:19:27.348" v="11"/>
          <ac:spMkLst>
            <pc:docMk/>
            <pc:sldMk cId="3088850652" sldId="256"/>
            <ac:spMk id="4" creationId="{9A76DC1C-0207-242B-ED58-F633C31D4062}"/>
          </ac:spMkLst>
        </pc:spChg>
        <pc:spChg chg="add mod">
          <ac:chgData name="Harika Challa" userId="135cdfd11f38c2ac" providerId="LiveId" clId="{D76684D5-5A26-45C6-AD39-980DC061D39F}" dt="2026-07-20T05:31:17.566" v="128" actId="1076"/>
          <ac:spMkLst>
            <pc:docMk/>
            <pc:sldMk cId="3088850652" sldId="256"/>
            <ac:spMk id="5" creationId="{C7F8C36D-47DB-7A67-A75C-AA44E009E044}"/>
          </ac:spMkLst>
        </pc:spChg>
      </pc:sldChg>
      <pc:sldChg chg="addSp delSp modSp new mod">
        <pc:chgData name="Harika Challa" userId="135cdfd11f38c2ac" providerId="LiveId" clId="{D76684D5-5A26-45C6-AD39-980DC061D39F}" dt="2026-07-20T14:01:48.217" v="4077" actId="1076"/>
        <pc:sldMkLst>
          <pc:docMk/>
          <pc:sldMk cId="3034303636" sldId="257"/>
        </pc:sldMkLst>
        <pc:spChg chg="add mod">
          <ac:chgData name="Harika Challa" userId="135cdfd11f38c2ac" providerId="LiveId" clId="{D76684D5-5A26-45C6-AD39-980DC061D39F}" dt="2026-07-20T14:01:31.699" v="4073" actId="20577"/>
          <ac:spMkLst>
            <pc:docMk/>
            <pc:sldMk cId="3034303636" sldId="257"/>
            <ac:spMk id="2" creationId="{FC26AD64-ECDF-5E47-3741-3EEE3DD0BC3D}"/>
          </ac:spMkLst>
        </pc:spChg>
        <pc:spChg chg="add mod">
          <ac:chgData name="Harika Challa" userId="135cdfd11f38c2ac" providerId="LiveId" clId="{D76684D5-5A26-45C6-AD39-980DC061D39F}" dt="2026-07-20T14:01:36.527" v="4074" actId="1076"/>
          <ac:spMkLst>
            <pc:docMk/>
            <pc:sldMk cId="3034303636" sldId="257"/>
            <ac:spMk id="4" creationId="{7BAC7299-EB36-D07D-DB7F-9A8275204772}"/>
          </ac:spMkLst>
        </pc:spChg>
        <pc:spChg chg="add del">
          <ac:chgData name="Harika Challa" userId="135cdfd11f38c2ac" providerId="LiveId" clId="{D76684D5-5A26-45C6-AD39-980DC061D39F}" dt="2026-07-20T13:56:16.762" v="3989" actId="21"/>
          <ac:spMkLst>
            <pc:docMk/>
            <pc:sldMk cId="3034303636" sldId="257"/>
            <ac:spMk id="6" creationId="{A4ACC445-76EB-8A76-69E5-26C350D5285A}"/>
          </ac:spMkLst>
        </pc:spChg>
        <pc:spChg chg="add mod">
          <ac:chgData name="Harika Challa" userId="135cdfd11f38c2ac" providerId="LiveId" clId="{D76684D5-5A26-45C6-AD39-980DC061D39F}" dt="2026-07-20T14:01:45.208" v="4076" actId="1076"/>
          <ac:spMkLst>
            <pc:docMk/>
            <pc:sldMk cId="3034303636" sldId="257"/>
            <ac:spMk id="10" creationId="{E853EDC2-8320-EA33-5F4A-065140FD3024}"/>
          </ac:spMkLst>
        </pc:spChg>
        <pc:spChg chg="add mod">
          <ac:chgData name="Harika Challa" userId="135cdfd11f38c2ac" providerId="LiveId" clId="{D76684D5-5A26-45C6-AD39-980DC061D39F}" dt="2026-07-20T14:01:48.217" v="4077" actId="1076"/>
          <ac:spMkLst>
            <pc:docMk/>
            <pc:sldMk cId="3034303636" sldId="257"/>
            <ac:spMk id="12" creationId="{C07D177A-A08D-BC8F-99C8-98E6ACE937A3}"/>
          </ac:spMkLst>
        </pc:spChg>
        <pc:graphicFrameChg chg="add mod modGraphic">
          <ac:chgData name="Harika Challa" userId="135cdfd11f38c2ac" providerId="LiveId" clId="{D76684D5-5A26-45C6-AD39-980DC061D39F}" dt="2026-07-20T14:01:40.506" v="4075" actId="1076"/>
          <ac:graphicFrameMkLst>
            <pc:docMk/>
            <pc:sldMk cId="3034303636" sldId="257"/>
            <ac:graphicFrameMk id="7" creationId="{2021B5BC-7810-222E-4B76-5F0674C444B0}"/>
          </ac:graphicFrameMkLst>
        </pc:graphicFrameChg>
        <pc:graphicFrameChg chg="add del">
          <ac:chgData name="Harika Challa" userId="135cdfd11f38c2ac" providerId="LiveId" clId="{D76684D5-5A26-45C6-AD39-980DC061D39F}" dt="2026-07-20T13:58:27.085" v="4010" actId="21"/>
          <ac:graphicFrameMkLst>
            <pc:docMk/>
            <pc:sldMk cId="3034303636" sldId="257"/>
            <ac:graphicFrameMk id="8" creationId="{5AE0BF81-6EC1-5A1D-C88E-A73B6B5086A0}"/>
          </ac:graphicFrameMkLst>
        </pc:graphicFrameChg>
      </pc:sldChg>
      <pc:sldChg chg="addSp delSp modSp new del mod">
        <pc:chgData name="Harika Challa" userId="135cdfd11f38c2ac" providerId="LiveId" clId="{D76684D5-5A26-45C6-AD39-980DC061D39F}" dt="2026-07-20T14:01:54.399" v="4078" actId="2696"/>
        <pc:sldMkLst>
          <pc:docMk/>
          <pc:sldMk cId="795790580" sldId="258"/>
        </pc:sldMkLst>
        <pc:spChg chg="add mod">
          <ac:chgData name="Harika Challa" userId="135cdfd11f38c2ac" providerId="LiveId" clId="{D76684D5-5A26-45C6-AD39-980DC061D39F}" dt="2026-07-20T06:36:54.540" v="759" actId="255"/>
          <ac:spMkLst>
            <pc:docMk/>
            <pc:sldMk cId="795790580" sldId="258"/>
            <ac:spMk id="2" creationId="{DF3DB2D6-9166-273D-A001-57BBE4165C31}"/>
          </ac:spMkLst>
        </pc:spChg>
        <pc:spChg chg="add mod">
          <ac:chgData name="Harika Challa" userId="135cdfd11f38c2ac" providerId="LiveId" clId="{D76684D5-5A26-45C6-AD39-980DC061D39F}" dt="2026-07-20T06:37:03.617" v="761" actId="1076"/>
          <ac:spMkLst>
            <pc:docMk/>
            <pc:sldMk cId="795790580" sldId="258"/>
            <ac:spMk id="4" creationId="{67173D02-D260-0DB7-D7BA-26DEAF66C579}"/>
          </ac:spMkLst>
        </pc:spChg>
        <pc:spChg chg="add del mod">
          <ac:chgData name="Harika Challa" userId="135cdfd11f38c2ac" providerId="LiveId" clId="{D76684D5-5A26-45C6-AD39-980DC061D39F}" dt="2026-07-20T14:00:15.536" v="4061" actId="21"/>
          <ac:spMkLst>
            <pc:docMk/>
            <pc:sldMk cId="795790580" sldId="258"/>
            <ac:spMk id="5" creationId="{14131297-4ED6-ABDE-94A2-35AE614E06E5}"/>
          </ac:spMkLst>
        </pc:spChg>
        <pc:graphicFrameChg chg="add mod modGraphic">
          <ac:chgData name="Harika Challa" userId="135cdfd11f38c2ac" providerId="LiveId" clId="{D76684D5-5A26-45C6-AD39-980DC061D39F}" dt="2026-07-20T13:56:59.034" v="3993" actId="14734"/>
          <ac:graphicFrameMkLst>
            <pc:docMk/>
            <pc:sldMk cId="795790580" sldId="258"/>
            <ac:graphicFrameMk id="3" creationId="{0CF36CDD-055E-A6A8-30BB-E92FC9797732}"/>
          </ac:graphicFrameMkLst>
        </pc:graphicFrameChg>
      </pc:sldChg>
      <pc:sldChg chg="addSp modSp new mod">
        <pc:chgData name="Harika Challa" userId="135cdfd11f38c2ac" providerId="LiveId" clId="{D76684D5-5A26-45C6-AD39-980DC061D39F}" dt="2026-07-20T15:14:47.914" v="4478" actId="20577"/>
        <pc:sldMkLst>
          <pc:docMk/>
          <pc:sldMk cId="3389497979" sldId="259"/>
        </pc:sldMkLst>
        <pc:spChg chg="add mod">
          <ac:chgData name="Harika Challa" userId="135cdfd11f38c2ac" providerId="LiveId" clId="{D76684D5-5A26-45C6-AD39-980DC061D39F}" dt="2026-07-20T06:12:10.656" v="484" actId="1076"/>
          <ac:spMkLst>
            <pc:docMk/>
            <pc:sldMk cId="3389497979" sldId="259"/>
            <ac:spMk id="2" creationId="{6519FA5B-87BE-61AE-4B08-94D30C1C1392}"/>
          </ac:spMkLst>
        </pc:spChg>
        <pc:spChg chg="add mod">
          <ac:chgData name="Harika Challa" userId="135cdfd11f38c2ac" providerId="LiveId" clId="{D76684D5-5A26-45C6-AD39-980DC061D39F}" dt="2026-07-20T15:14:47.914" v="4478" actId="20577"/>
          <ac:spMkLst>
            <pc:docMk/>
            <pc:sldMk cId="3389497979" sldId="259"/>
            <ac:spMk id="3" creationId="{FBDDE891-A85E-8903-243B-37A6151A762F}"/>
          </ac:spMkLst>
        </pc:spChg>
        <pc:spChg chg="add mod">
          <ac:chgData name="Harika Challa" userId="135cdfd11f38c2ac" providerId="LiveId" clId="{D76684D5-5A26-45C6-AD39-980DC061D39F}" dt="2026-07-20T06:38:14.154" v="772" actId="1076"/>
          <ac:spMkLst>
            <pc:docMk/>
            <pc:sldMk cId="3389497979" sldId="259"/>
            <ac:spMk id="4" creationId="{0216DFA8-BC30-C6FF-98D6-8A2314DC671D}"/>
          </ac:spMkLst>
        </pc:spChg>
      </pc:sldChg>
      <pc:sldChg chg="addSp delSp modSp new mod">
        <pc:chgData name="Harika Challa" userId="135cdfd11f38c2ac" providerId="LiveId" clId="{D76684D5-5A26-45C6-AD39-980DC061D39F}" dt="2026-07-20T06:14:34.238" v="517"/>
        <pc:sldMkLst>
          <pc:docMk/>
          <pc:sldMk cId="4218403926" sldId="260"/>
        </pc:sldMkLst>
        <pc:spChg chg="add mod">
          <ac:chgData name="Harika Challa" userId="135cdfd11f38c2ac" providerId="LiveId" clId="{D76684D5-5A26-45C6-AD39-980DC061D39F}" dt="2026-07-20T06:14:25.540" v="514" actId="20577"/>
          <ac:spMkLst>
            <pc:docMk/>
            <pc:sldMk cId="4218403926" sldId="260"/>
            <ac:spMk id="3" creationId="{B3B3361C-4E1A-46DF-D307-C9D34BD13B04}"/>
          </ac:spMkLst>
        </pc:spChg>
        <pc:spChg chg="add del mod">
          <ac:chgData name="Harika Challa" userId="135cdfd11f38c2ac" providerId="LiveId" clId="{D76684D5-5A26-45C6-AD39-980DC061D39F}" dt="2026-07-20T06:13:10.799" v="496"/>
          <ac:spMkLst>
            <pc:docMk/>
            <pc:sldMk cId="4218403926" sldId="260"/>
            <ac:spMk id="4" creationId="{9A51F9A7-6140-28F2-7BFF-0FFE440B144B}"/>
          </ac:spMkLst>
        </pc:spChg>
        <pc:spChg chg="add del mod">
          <ac:chgData name="Harika Challa" userId="135cdfd11f38c2ac" providerId="LiveId" clId="{D76684D5-5A26-45C6-AD39-980DC061D39F}" dt="2026-07-20T06:14:34.238" v="517"/>
          <ac:spMkLst>
            <pc:docMk/>
            <pc:sldMk cId="4218403926" sldId="260"/>
            <ac:spMk id="5" creationId="{281851C3-20E2-8C10-D07B-D7718A386A4D}"/>
          </ac:spMkLst>
        </pc:spChg>
        <pc:picChg chg="add mod">
          <ac:chgData name="Harika Challa" userId="135cdfd11f38c2ac" providerId="LiveId" clId="{D76684D5-5A26-45C6-AD39-980DC061D39F}" dt="2026-07-20T06:14:32.418" v="515" actId="1076"/>
          <ac:picMkLst>
            <pc:docMk/>
            <pc:sldMk cId="4218403926" sldId="260"/>
            <ac:picMk id="7" creationId="{6D5A8B73-FD1D-9496-F0E8-BC7510642223}"/>
          </ac:picMkLst>
        </pc:picChg>
      </pc:sldChg>
      <pc:sldChg chg="addSp modSp new mod">
        <pc:chgData name="Harika Challa" userId="135cdfd11f38c2ac" providerId="LiveId" clId="{D76684D5-5A26-45C6-AD39-980DC061D39F}" dt="2026-07-20T07:36:51.508" v="1472" actId="20577"/>
        <pc:sldMkLst>
          <pc:docMk/>
          <pc:sldMk cId="2039695611" sldId="261"/>
        </pc:sldMkLst>
        <pc:spChg chg="add mod">
          <ac:chgData name="Harika Challa" userId="135cdfd11f38c2ac" providerId="LiveId" clId="{D76684D5-5A26-45C6-AD39-980DC061D39F}" dt="2026-07-20T07:36:51.508" v="1472" actId="20577"/>
          <ac:spMkLst>
            <pc:docMk/>
            <pc:sldMk cId="2039695611" sldId="261"/>
            <ac:spMk id="2" creationId="{DCCD6D4D-1114-5BC7-5920-0B5125913A4A}"/>
          </ac:spMkLst>
        </pc:spChg>
      </pc:sldChg>
      <pc:sldChg chg="addSp modSp new mod">
        <pc:chgData name="Harika Challa" userId="135cdfd11f38c2ac" providerId="LiveId" clId="{D76684D5-5A26-45C6-AD39-980DC061D39F}" dt="2026-07-20T06:41:38.284" v="803" actId="14100"/>
        <pc:sldMkLst>
          <pc:docMk/>
          <pc:sldMk cId="1013694602" sldId="262"/>
        </pc:sldMkLst>
        <pc:spChg chg="add mod">
          <ac:chgData name="Harika Challa" userId="135cdfd11f38c2ac" providerId="LiveId" clId="{D76684D5-5A26-45C6-AD39-980DC061D39F}" dt="2026-07-20T06:41:23.452" v="800" actId="1076"/>
          <ac:spMkLst>
            <pc:docMk/>
            <pc:sldMk cId="1013694602" sldId="262"/>
            <ac:spMk id="2" creationId="{819A5670-3143-7D15-6300-67BEDED2F6D5}"/>
          </ac:spMkLst>
        </pc:spChg>
        <pc:picChg chg="add mod">
          <ac:chgData name="Harika Challa" userId="135cdfd11f38c2ac" providerId="LiveId" clId="{D76684D5-5A26-45C6-AD39-980DC061D39F}" dt="2026-07-20T06:41:38.284" v="803" actId="14100"/>
          <ac:picMkLst>
            <pc:docMk/>
            <pc:sldMk cId="1013694602" sldId="262"/>
            <ac:picMk id="4" creationId="{4BD0C163-691D-E6C1-C52B-2023AD6FC31B}"/>
          </ac:picMkLst>
        </pc:picChg>
      </pc:sldChg>
      <pc:sldChg chg="addSp delSp modSp new mod">
        <pc:chgData name="Harika Challa" userId="135cdfd11f38c2ac" providerId="LiveId" clId="{D76684D5-5A26-45C6-AD39-980DC061D39F}" dt="2026-07-20T14:04:29.951" v="4143" actId="1076"/>
        <pc:sldMkLst>
          <pc:docMk/>
          <pc:sldMk cId="1054147248" sldId="263"/>
        </pc:sldMkLst>
        <pc:spChg chg="add mod">
          <ac:chgData name="Harika Challa" userId="135cdfd11f38c2ac" providerId="LiveId" clId="{D76684D5-5A26-45C6-AD39-980DC061D39F}" dt="2026-07-20T14:04:29.951" v="4143" actId="1076"/>
          <ac:spMkLst>
            <pc:docMk/>
            <pc:sldMk cId="1054147248" sldId="263"/>
            <ac:spMk id="2" creationId="{22DC8D01-41DE-A9C4-1FB3-6BB3D6249414}"/>
          </ac:spMkLst>
        </pc:spChg>
        <pc:spChg chg="add del mod">
          <ac:chgData name="Harika Challa" userId="135cdfd11f38c2ac" providerId="LiveId" clId="{D76684D5-5A26-45C6-AD39-980DC061D39F}" dt="2026-07-20T07:41:53.871" v="1490"/>
          <ac:spMkLst>
            <pc:docMk/>
            <pc:sldMk cId="1054147248" sldId="263"/>
            <ac:spMk id="3" creationId="{D3004775-8A10-D840-E0E8-8319CE7193A7}"/>
          </ac:spMkLst>
        </pc:spChg>
        <pc:spChg chg="add mod">
          <ac:chgData name="Harika Challa" userId="135cdfd11f38c2ac" providerId="LiveId" clId="{D76684D5-5A26-45C6-AD39-980DC061D39F}" dt="2026-07-20T14:04:25.817" v="4142" actId="1076"/>
          <ac:spMkLst>
            <pc:docMk/>
            <pc:sldMk cId="1054147248" sldId="263"/>
            <ac:spMk id="4" creationId="{BDAF2971-B9DD-0CB4-B775-CE0D8074EF43}"/>
          </ac:spMkLst>
        </pc:spChg>
      </pc:sldChg>
      <pc:sldChg chg="addSp modSp new del mod">
        <pc:chgData name="Harika Challa" userId="135cdfd11f38c2ac" providerId="LiveId" clId="{D76684D5-5A26-45C6-AD39-980DC061D39F}" dt="2026-07-20T14:04:33.854" v="4144" actId="2696"/>
        <pc:sldMkLst>
          <pc:docMk/>
          <pc:sldMk cId="558814479" sldId="264"/>
        </pc:sldMkLst>
        <pc:spChg chg="add mod">
          <ac:chgData name="Harika Challa" userId="135cdfd11f38c2ac" providerId="LiveId" clId="{D76684D5-5A26-45C6-AD39-980DC061D39F}" dt="2026-07-20T07:07:13.119" v="1440" actId="113"/>
          <ac:spMkLst>
            <pc:docMk/>
            <pc:sldMk cId="558814479" sldId="264"/>
            <ac:spMk id="2" creationId="{5A19EB55-5024-4BF6-E025-C51FACAE1275}"/>
          </ac:spMkLst>
        </pc:spChg>
      </pc:sldChg>
      <pc:sldChg chg="addSp modSp new mod">
        <pc:chgData name="Harika Challa" userId="135cdfd11f38c2ac" providerId="LiveId" clId="{D76684D5-5A26-45C6-AD39-980DC061D39F}" dt="2026-07-20T07:34:25.974" v="1467" actId="1076"/>
        <pc:sldMkLst>
          <pc:docMk/>
          <pc:sldMk cId="1157066671" sldId="265"/>
        </pc:sldMkLst>
        <pc:spChg chg="add mod">
          <ac:chgData name="Harika Challa" userId="135cdfd11f38c2ac" providerId="LiveId" clId="{D76684D5-5A26-45C6-AD39-980DC061D39F}" dt="2026-07-20T07:34:25.974" v="1467" actId="1076"/>
          <ac:spMkLst>
            <pc:docMk/>
            <pc:sldMk cId="1157066671" sldId="265"/>
            <ac:spMk id="2" creationId="{A0C0B2B8-0A9A-8EBD-415F-F16A95721F18}"/>
          </ac:spMkLst>
        </pc:spChg>
        <pc:picChg chg="add mod">
          <ac:chgData name="Harika Challa" userId="135cdfd11f38c2ac" providerId="LiveId" clId="{D76684D5-5A26-45C6-AD39-980DC061D39F}" dt="2026-07-20T07:34:22.443" v="1466" actId="14100"/>
          <ac:picMkLst>
            <pc:docMk/>
            <pc:sldMk cId="1157066671" sldId="265"/>
            <ac:picMk id="4" creationId="{B3846E0E-122F-B0C1-D485-84C477AE422F}"/>
          </ac:picMkLst>
        </pc:picChg>
      </pc:sldChg>
      <pc:sldChg chg="addSp modSp new mod">
        <pc:chgData name="Harika Challa" userId="135cdfd11f38c2ac" providerId="LiveId" clId="{D76684D5-5A26-45C6-AD39-980DC061D39F}" dt="2026-07-20T08:54:39.418" v="2441" actId="20577"/>
        <pc:sldMkLst>
          <pc:docMk/>
          <pc:sldMk cId="2080583021" sldId="266"/>
        </pc:sldMkLst>
        <pc:spChg chg="add mod">
          <ac:chgData name="Harika Challa" userId="135cdfd11f38c2ac" providerId="LiveId" clId="{D76684D5-5A26-45C6-AD39-980DC061D39F}" dt="2026-07-20T08:51:17.466" v="2406" actId="113"/>
          <ac:spMkLst>
            <pc:docMk/>
            <pc:sldMk cId="2080583021" sldId="266"/>
            <ac:spMk id="2" creationId="{4F5EC0C2-F071-9BBB-FD4B-950D81B075C2}"/>
          </ac:spMkLst>
        </pc:spChg>
        <pc:spChg chg="add mod">
          <ac:chgData name="Harika Challa" userId="135cdfd11f38c2ac" providerId="LiveId" clId="{D76684D5-5A26-45C6-AD39-980DC061D39F}" dt="2026-07-20T08:03:41.245" v="1563" actId="20577"/>
          <ac:spMkLst>
            <pc:docMk/>
            <pc:sldMk cId="2080583021" sldId="266"/>
            <ac:spMk id="3" creationId="{89011A5E-7C34-5762-E183-D6889AE76B9F}"/>
          </ac:spMkLst>
        </pc:spChg>
        <pc:spChg chg="add mod">
          <ac:chgData name="Harika Challa" userId="135cdfd11f38c2ac" providerId="LiveId" clId="{D76684D5-5A26-45C6-AD39-980DC061D39F}" dt="2026-07-20T08:54:39.418" v="2441" actId="20577"/>
          <ac:spMkLst>
            <pc:docMk/>
            <pc:sldMk cId="2080583021" sldId="266"/>
            <ac:spMk id="4" creationId="{010C4250-29C0-A5EA-947B-C4BFBAD8E450}"/>
          </ac:spMkLst>
        </pc:spChg>
      </pc:sldChg>
      <pc:sldChg chg="addSp delSp modSp new mod">
        <pc:chgData name="Harika Challa" userId="135cdfd11f38c2ac" providerId="LiveId" clId="{D76684D5-5A26-45C6-AD39-980DC061D39F}" dt="2026-07-20T08:56:36.414" v="2468" actId="113"/>
        <pc:sldMkLst>
          <pc:docMk/>
          <pc:sldMk cId="3526561316" sldId="267"/>
        </pc:sldMkLst>
        <pc:spChg chg="add del mod">
          <ac:chgData name="Harika Challa" userId="135cdfd11f38c2ac" providerId="LiveId" clId="{D76684D5-5A26-45C6-AD39-980DC061D39F}" dt="2026-07-20T08:21:23.300" v="1987"/>
          <ac:spMkLst>
            <pc:docMk/>
            <pc:sldMk cId="3526561316" sldId="267"/>
            <ac:spMk id="2" creationId="{3FEBCA2E-6DF7-1FA6-71A0-B17797E8130B}"/>
          </ac:spMkLst>
        </pc:spChg>
        <pc:spChg chg="add mod">
          <ac:chgData name="Harika Challa" userId="135cdfd11f38c2ac" providerId="LiveId" clId="{D76684D5-5A26-45C6-AD39-980DC061D39F}" dt="2026-07-20T08:56:36.414" v="2468" actId="113"/>
          <ac:spMkLst>
            <pc:docMk/>
            <pc:sldMk cId="3526561316" sldId="267"/>
            <ac:spMk id="3" creationId="{F1AA2948-A03F-4EC5-EAE4-CFDD8718EACB}"/>
          </ac:spMkLst>
        </pc:spChg>
      </pc:sldChg>
      <pc:sldChg chg="addSp delSp modSp new mod">
        <pc:chgData name="Harika Challa" userId="135cdfd11f38c2ac" providerId="LiveId" clId="{D76684D5-5A26-45C6-AD39-980DC061D39F}" dt="2026-07-20T13:45:09.641" v="3956" actId="14100"/>
        <pc:sldMkLst>
          <pc:docMk/>
          <pc:sldMk cId="3758894352" sldId="268"/>
        </pc:sldMkLst>
        <pc:spChg chg="add del mod">
          <ac:chgData name="Harika Challa" userId="135cdfd11f38c2ac" providerId="LiveId" clId="{D76684D5-5A26-45C6-AD39-980DC061D39F}" dt="2026-07-20T08:58:07.615" v="2474"/>
          <ac:spMkLst>
            <pc:docMk/>
            <pc:sldMk cId="3758894352" sldId="268"/>
            <ac:spMk id="2" creationId="{80F91A0E-ABF0-4961-823D-045BF7855962}"/>
          </ac:spMkLst>
        </pc:spChg>
        <pc:spChg chg="add mod">
          <ac:chgData name="Harika Challa" userId="135cdfd11f38c2ac" providerId="LiveId" clId="{D76684D5-5A26-45C6-AD39-980DC061D39F}" dt="2026-07-20T09:04:44.666" v="2543" actId="1076"/>
          <ac:spMkLst>
            <pc:docMk/>
            <pc:sldMk cId="3758894352" sldId="268"/>
            <ac:spMk id="3" creationId="{B24914B4-BB7E-AA17-CF47-E86FDB4D7512}"/>
          </ac:spMkLst>
        </pc:spChg>
        <pc:picChg chg="add del mod">
          <ac:chgData name="Harika Challa" userId="135cdfd11f38c2ac" providerId="LiveId" clId="{D76684D5-5A26-45C6-AD39-980DC061D39F}" dt="2026-07-20T13:02:47.407" v="3198" actId="478"/>
          <ac:picMkLst>
            <pc:docMk/>
            <pc:sldMk cId="3758894352" sldId="268"/>
            <ac:picMk id="5" creationId="{03C153F2-0D59-BA43-38D6-D6400C5D1038}"/>
          </ac:picMkLst>
        </pc:picChg>
        <pc:picChg chg="add mod">
          <ac:chgData name="Harika Challa" userId="135cdfd11f38c2ac" providerId="LiveId" clId="{D76684D5-5A26-45C6-AD39-980DC061D39F}" dt="2026-07-20T13:45:09.641" v="3956" actId="14100"/>
          <ac:picMkLst>
            <pc:docMk/>
            <pc:sldMk cId="3758894352" sldId="268"/>
            <ac:picMk id="7" creationId="{D2958605-6B15-3FFB-FE95-3322F90738E3}"/>
          </ac:picMkLst>
        </pc:picChg>
      </pc:sldChg>
      <pc:sldChg chg="addSp delSp modSp new mod">
        <pc:chgData name="Harika Challa" userId="135cdfd11f38c2ac" providerId="LiveId" clId="{D76684D5-5A26-45C6-AD39-980DC061D39F}" dt="2026-07-20T14:05:33.856" v="4153" actId="1076"/>
        <pc:sldMkLst>
          <pc:docMk/>
          <pc:sldMk cId="3770971330" sldId="269"/>
        </pc:sldMkLst>
        <pc:spChg chg="add del mod">
          <ac:chgData name="Harika Challa" userId="135cdfd11f38c2ac" providerId="LiveId" clId="{D76684D5-5A26-45C6-AD39-980DC061D39F}" dt="2026-07-20T09:06:44.155" v="2550"/>
          <ac:spMkLst>
            <pc:docMk/>
            <pc:sldMk cId="3770971330" sldId="269"/>
            <ac:spMk id="2" creationId="{1220E992-0276-E217-E550-36AB9DD84178}"/>
          </ac:spMkLst>
        </pc:spChg>
        <pc:spChg chg="add mod">
          <ac:chgData name="Harika Challa" userId="135cdfd11f38c2ac" providerId="LiveId" clId="{D76684D5-5A26-45C6-AD39-980DC061D39F}" dt="2026-07-20T14:05:00.097" v="4145" actId="1076"/>
          <ac:spMkLst>
            <pc:docMk/>
            <pc:sldMk cId="3770971330" sldId="269"/>
            <ac:spMk id="3" creationId="{4535D222-44C4-0206-5DB5-F7B151620ED8}"/>
          </ac:spMkLst>
        </pc:spChg>
        <pc:spChg chg="add mod">
          <ac:chgData name="Harika Challa" userId="135cdfd11f38c2ac" providerId="LiveId" clId="{D76684D5-5A26-45C6-AD39-980DC061D39F}" dt="2026-07-20T14:05:33.856" v="4153" actId="1076"/>
          <ac:spMkLst>
            <pc:docMk/>
            <pc:sldMk cId="3770971330" sldId="269"/>
            <ac:spMk id="4" creationId="{F01F30AF-E3CC-1C8D-7138-76A6A5E8D7A8}"/>
          </ac:spMkLst>
        </pc:spChg>
      </pc:sldChg>
      <pc:sldChg chg="addSp modSp new mod">
        <pc:chgData name="Harika Challa" userId="135cdfd11f38c2ac" providerId="LiveId" clId="{D76684D5-5A26-45C6-AD39-980DC061D39F}" dt="2026-07-20T14:21:01.598" v="4246" actId="20577"/>
        <pc:sldMkLst>
          <pc:docMk/>
          <pc:sldMk cId="1209940154" sldId="270"/>
        </pc:sldMkLst>
        <pc:spChg chg="add mod">
          <ac:chgData name="Harika Challa" userId="135cdfd11f38c2ac" providerId="LiveId" clId="{D76684D5-5A26-45C6-AD39-980DC061D39F}" dt="2026-07-20T14:21:01.598" v="4246" actId="20577"/>
          <ac:spMkLst>
            <pc:docMk/>
            <pc:sldMk cId="1209940154" sldId="270"/>
            <ac:spMk id="3" creationId="{8031A743-152A-FDD1-8868-4660BFC669C0}"/>
          </ac:spMkLst>
        </pc:spChg>
        <pc:spChg chg="add mod">
          <ac:chgData name="Harika Challa" userId="135cdfd11f38c2ac" providerId="LiveId" clId="{D76684D5-5A26-45C6-AD39-980DC061D39F}" dt="2026-07-20T14:12:30.910" v="4182" actId="255"/>
          <ac:spMkLst>
            <pc:docMk/>
            <pc:sldMk cId="1209940154" sldId="270"/>
            <ac:spMk id="4" creationId="{3A2F73F6-5A89-A60E-393B-F167B08AC0A4}"/>
          </ac:spMkLst>
        </pc:spChg>
      </pc:sldChg>
      <pc:sldChg chg="addSp modSp new del mod">
        <pc:chgData name="Harika Challa" userId="135cdfd11f38c2ac" providerId="LiveId" clId="{D76684D5-5A26-45C6-AD39-980DC061D39F}" dt="2026-07-20T14:05:39.355" v="4154" actId="2696"/>
        <pc:sldMkLst>
          <pc:docMk/>
          <pc:sldMk cId="3825302376" sldId="270"/>
        </pc:sldMkLst>
        <pc:spChg chg="add mod">
          <ac:chgData name="Harika Challa" userId="135cdfd11f38c2ac" providerId="LiveId" clId="{D76684D5-5A26-45C6-AD39-980DC061D39F}" dt="2026-07-20T13:44:41.807" v="3948" actId="1076"/>
          <ac:spMkLst>
            <pc:docMk/>
            <pc:sldMk cId="3825302376" sldId="270"/>
            <ac:spMk id="3" creationId="{FED891FA-5B0F-9A5B-81D1-B6752EC8FCB8}"/>
          </ac:spMkLst>
        </pc:spChg>
      </pc:sldChg>
      <pc:sldChg chg="addSp modSp new mod">
        <pc:chgData name="Harika Challa" userId="135cdfd11f38c2ac" providerId="LiveId" clId="{D76684D5-5A26-45C6-AD39-980DC061D39F}" dt="2026-07-20T14:23:54.905" v="4276" actId="20577"/>
        <pc:sldMkLst>
          <pc:docMk/>
          <pc:sldMk cId="3340198889" sldId="271"/>
        </pc:sldMkLst>
        <pc:spChg chg="add mod">
          <ac:chgData name="Harika Challa" userId="135cdfd11f38c2ac" providerId="LiveId" clId="{D76684D5-5A26-45C6-AD39-980DC061D39F}" dt="2026-07-20T14:23:15.613" v="4259" actId="20577"/>
          <ac:spMkLst>
            <pc:docMk/>
            <pc:sldMk cId="3340198889" sldId="271"/>
            <ac:spMk id="3" creationId="{7D534197-0753-663F-554B-0088C79799A0}"/>
          </ac:spMkLst>
        </pc:spChg>
        <pc:spChg chg="add mod">
          <ac:chgData name="Harika Challa" userId="135cdfd11f38c2ac" providerId="LiveId" clId="{D76684D5-5A26-45C6-AD39-980DC061D39F}" dt="2026-07-20T14:23:54.905" v="4276" actId="20577"/>
          <ac:spMkLst>
            <pc:docMk/>
            <pc:sldMk cId="3340198889" sldId="271"/>
            <ac:spMk id="5" creationId="{4AF9FB72-B3C0-405D-8DE6-F7986566FCFF}"/>
          </ac:spMkLst>
        </pc:spChg>
      </pc:sldChg>
      <pc:sldChg chg="addSp modSp new mod">
        <pc:chgData name="Harika Challa" userId="135cdfd11f38c2ac" providerId="LiveId" clId="{D76684D5-5A26-45C6-AD39-980DC061D39F}" dt="2026-07-20T14:26:58.986" v="4322" actId="1076"/>
        <pc:sldMkLst>
          <pc:docMk/>
          <pc:sldMk cId="4125591113" sldId="272"/>
        </pc:sldMkLst>
        <pc:spChg chg="add mod">
          <ac:chgData name="Harika Challa" userId="135cdfd11f38c2ac" providerId="LiveId" clId="{D76684D5-5A26-45C6-AD39-980DC061D39F}" dt="2026-07-20T14:25:35.682" v="4303" actId="1076"/>
          <ac:spMkLst>
            <pc:docMk/>
            <pc:sldMk cId="4125591113" sldId="272"/>
            <ac:spMk id="3" creationId="{4FCB2AE4-C94B-88BE-A3FA-928960CF23FE}"/>
          </ac:spMkLst>
        </pc:spChg>
        <pc:spChg chg="add mod">
          <ac:chgData name="Harika Challa" userId="135cdfd11f38c2ac" providerId="LiveId" clId="{D76684D5-5A26-45C6-AD39-980DC061D39F}" dt="2026-07-20T14:26:58.986" v="4322" actId="1076"/>
          <ac:spMkLst>
            <pc:docMk/>
            <pc:sldMk cId="4125591113" sldId="272"/>
            <ac:spMk id="5" creationId="{14D770CB-D1E0-930A-CEEB-71AF7E5BBD05}"/>
          </ac:spMkLst>
        </pc:spChg>
      </pc:sldChg>
      <pc:sldChg chg="addSp delSp modSp new mod">
        <pc:chgData name="Harika Challa" userId="135cdfd11f38c2ac" providerId="LiveId" clId="{D76684D5-5A26-45C6-AD39-980DC061D39F}" dt="2026-07-20T14:30:30.071" v="4367" actId="1076"/>
        <pc:sldMkLst>
          <pc:docMk/>
          <pc:sldMk cId="2749854192" sldId="273"/>
        </pc:sldMkLst>
        <pc:spChg chg="add mod">
          <ac:chgData name="Harika Challa" userId="135cdfd11f38c2ac" providerId="LiveId" clId="{D76684D5-5A26-45C6-AD39-980DC061D39F}" dt="2026-07-20T14:30:23.502" v="4365" actId="14100"/>
          <ac:spMkLst>
            <pc:docMk/>
            <pc:sldMk cId="2749854192" sldId="273"/>
            <ac:spMk id="3" creationId="{94B8D680-5B1F-FC33-2EA5-ABCDCE3433D4}"/>
          </ac:spMkLst>
        </pc:spChg>
        <pc:spChg chg="add mod">
          <ac:chgData name="Harika Challa" userId="135cdfd11f38c2ac" providerId="LiveId" clId="{D76684D5-5A26-45C6-AD39-980DC061D39F}" dt="2026-07-20T14:30:30.071" v="4367" actId="1076"/>
          <ac:spMkLst>
            <pc:docMk/>
            <pc:sldMk cId="2749854192" sldId="273"/>
            <ac:spMk id="5" creationId="{87EB8A47-A3B4-FE0A-308F-24044A6F5319}"/>
          </ac:spMkLst>
        </pc:spChg>
        <pc:spChg chg="add del mod">
          <ac:chgData name="Harika Challa" userId="135cdfd11f38c2ac" providerId="LiveId" clId="{D76684D5-5A26-45C6-AD39-980DC061D39F}" dt="2026-07-20T14:30:12.715" v="4363" actId="21"/>
          <ac:spMkLst>
            <pc:docMk/>
            <pc:sldMk cId="2749854192" sldId="273"/>
            <ac:spMk id="6" creationId="{13140B10-7575-7E45-5EA2-81EC427C68D3}"/>
          </ac:spMkLst>
        </pc:spChg>
      </pc:sldChg>
      <pc:sldChg chg="addSp modSp new mod">
        <pc:chgData name="Harika Challa" userId="135cdfd11f38c2ac" providerId="LiveId" clId="{D76684D5-5A26-45C6-AD39-980DC061D39F}" dt="2026-07-20T14:33:55.510" v="4454" actId="1076"/>
        <pc:sldMkLst>
          <pc:docMk/>
          <pc:sldMk cId="3709451361" sldId="274"/>
        </pc:sldMkLst>
        <pc:spChg chg="add mod">
          <ac:chgData name="Harika Challa" userId="135cdfd11f38c2ac" providerId="LiveId" clId="{D76684D5-5A26-45C6-AD39-980DC061D39F}" dt="2026-07-20T14:33:55.510" v="4454" actId="1076"/>
          <ac:spMkLst>
            <pc:docMk/>
            <pc:sldMk cId="3709451361" sldId="274"/>
            <ac:spMk id="2" creationId="{735A3754-8D4A-6215-CBA2-0A1F20B6C0E7}"/>
          </ac:spMkLst>
        </pc:spChg>
        <pc:spChg chg="add mod">
          <ac:chgData name="Harika Challa" userId="135cdfd11f38c2ac" providerId="LiveId" clId="{D76684D5-5A26-45C6-AD39-980DC061D39F}" dt="2026-07-20T14:33:52.561" v="4453" actId="1076"/>
          <ac:spMkLst>
            <pc:docMk/>
            <pc:sldMk cId="3709451361" sldId="274"/>
            <ac:spMk id="4" creationId="{8BF17175-0483-6549-BC6F-700CD5ED0ABB}"/>
          </ac:spMkLst>
        </pc:spChg>
      </pc:sldChg>
      <pc:sldChg chg="addSp modSp new mod">
        <pc:chgData name="Harika Challa" userId="135cdfd11f38c2ac" providerId="LiveId" clId="{D76684D5-5A26-45C6-AD39-980DC061D39F}" dt="2026-07-20T14:36:01.093" v="4465" actId="20577"/>
        <pc:sldMkLst>
          <pc:docMk/>
          <pc:sldMk cId="4232533604" sldId="275"/>
        </pc:sldMkLst>
        <pc:spChg chg="add mod">
          <ac:chgData name="Harika Challa" userId="135cdfd11f38c2ac" providerId="LiveId" clId="{D76684D5-5A26-45C6-AD39-980DC061D39F}" dt="2026-07-20T14:36:01.093" v="4465" actId="20577"/>
          <ac:spMkLst>
            <pc:docMk/>
            <pc:sldMk cId="4232533604" sldId="275"/>
            <ac:spMk id="3" creationId="{781F7D16-D915-73AB-BF83-F8B409CA6BB3}"/>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F6D695A5-7428-47A4-B3B7-1D49D95EFC19}" type="datetimeFigureOut">
              <a:rPr lang="en-IN" smtClean="0"/>
              <a:t>20-07-2026</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9F11E8D3-8BEC-4F46-9F2F-5339ADB8683A}" type="slidenum">
              <a:rPr lang="en-IN" smtClean="0"/>
              <a:t>‹#›</a:t>
            </a:fld>
            <a:endParaRPr lang="en-IN"/>
          </a:p>
        </p:txBody>
      </p:sp>
    </p:spTree>
    <p:extLst>
      <p:ext uri="{BB962C8B-B14F-4D97-AF65-F5344CB8AC3E}">
        <p14:creationId xmlns:p14="http://schemas.microsoft.com/office/powerpoint/2010/main" val="394760655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D695A5-7428-47A4-B3B7-1D49D95EFC19}" type="datetimeFigureOut">
              <a:rPr lang="en-IN" smtClean="0"/>
              <a:t>20-07-2026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423460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F6D695A5-7428-47A4-B3B7-1D49D95EFC19}" type="datetimeFigureOut">
              <a:rPr lang="en-IN" smtClean="0"/>
              <a:t>20-07-2026</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265424462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D695A5-7428-47A4-B3B7-1D49D95EFC19}" type="datetimeFigureOut">
              <a:rPr lang="en-IN" smtClean="0"/>
              <a:t>20-07-2026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2039277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D695A5-7428-47A4-B3B7-1D49D95EFC19}" type="datetimeFigureOut">
              <a:rPr lang="en-IN" smtClean="0"/>
              <a:t>20-07-2026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3898586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D695A5-7428-47A4-B3B7-1D49D95EFC19}" type="datetimeFigureOut">
              <a:rPr lang="en-IN" smtClean="0"/>
              <a:t>20-07-2026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143706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D695A5-7428-47A4-B3B7-1D49D95EFC19}" type="datetimeFigureOut">
              <a:rPr lang="en-IN" smtClean="0"/>
              <a:t>20-07-2026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3058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F6D695A5-7428-47A4-B3B7-1D49D95EFC19}" type="datetimeFigureOut">
              <a:rPr lang="en-IN" smtClean="0"/>
              <a:t>20-07-2026</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9F11E8D3-8BEC-4F46-9F2F-5339ADB8683A}"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482028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6D695A5-7428-47A4-B3B7-1D49D95EFC19}" type="datetimeFigureOut">
              <a:rPr lang="en-IN" smtClean="0"/>
              <a:t>20-07-2026</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9F11E8D3-8BEC-4F46-9F2F-5339ADB8683A}"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11770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D695A5-7428-47A4-B3B7-1D49D95EFC19}"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4128880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D695A5-7428-47A4-B3B7-1D49D95EFC19}" type="datetimeFigureOut">
              <a:rPr lang="en-IN" smtClean="0"/>
              <a:t>20-07-2026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F11E8D3-8BEC-4F46-9F2F-5339ADB8683A}" type="slidenum">
              <a:rPr lang="en-IN" smtClean="0"/>
              <a:t>‹#›</a:t>
            </a:fld>
            <a:endParaRPr lang="en-IN"/>
          </a:p>
        </p:txBody>
      </p:sp>
    </p:spTree>
    <p:extLst>
      <p:ext uri="{BB962C8B-B14F-4D97-AF65-F5344CB8AC3E}">
        <p14:creationId xmlns:p14="http://schemas.microsoft.com/office/powerpoint/2010/main" val="23974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en-IN"/>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F6D695A5-7428-47A4-B3B7-1D49D95EFC19}" type="datetimeFigureOut">
              <a:rPr lang="en-IN" smtClean="0"/>
              <a:t>20-07-2026</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9F11E8D3-8BEC-4F46-9F2F-5339ADB8683A}" type="slidenum">
              <a:rPr lang="en-IN" smtClean="0"/>
              <a:t>‹#›</a:t>
            </a:fld>
            <a:endParaRPr lang="en-IN"/>
          </a:p>
        </p:txBody>
      </p:sp>
    </p:spTree>
    <p:extLst>
      <p:ext uri="{BB962C8B-B14F-4D97-AF65-F5344CB8AC3E}">
        <p14:creationId xmlns:p14="http://schemas.microsoft.com/office/powerpoint/2010/main" val="40152076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82A49-796A-C2CB-EB77-16CB6A20DE8C}"/>
              </a:ext>
            </a:extLst>
          </p:cNvPr>
          <p:cNvSpPr>
            <a:spLocks noGrp="1"/>
          </p:cNvSpPr>
          <p:nvPr>
            <p:ph type="ctrTitle"/>
          </p:nvPr>
        </p:nvSpPr>
        <p:spPr>
          <a:xfrm>
            <a:off x="1564362" y="1427234"/>
            <a:ext cx="9068586" cy="2590800"/>
          </a:xfrm>
        </p:spPr>
        <p:txBody>
          <a:bodyPr/>
          <a:lstStyle/>
          <a:p>
            <a:r>
              <a:rPr lang="en-US" sz="4000" b="1" dirty="0">
                <a:solidFill>
                  <a:schemeClr val="tx1"/>
                </a:solidFill>
                <a:latin typeface="Arial" panose="020B0604020202020204" pitchFamily="34" charset="0"/>
                <a:cs typeface="Arial" panose="020B0604020202020204" pitchFamily="34" charset="0"/>
              </a:rPr>
              <a:t>British Airways CustomeR</a:t>
            </a:r>
            <a:br>
              <a:rPr lang="en-US" sz="4000" b="1" dirty="0">
                <a:solidFill>
                  <a:schemeClr val="tx1"/>
                </a:solidFill>
                <a:latin typeface="Arial" panose="020B0604020202020204" pitchFamily="34" charset="0"/>
                <a:cs typeface="Arial" panose="020B0604020202020204" pitchFamily="34" charset="0"/>
              </a:rPr>
            </a:br>
            <a:r>
              <a:rPr lang="en-US" sz="4000" b="1" dirty="0">
                <a:solidFill>
                  <a:schemeClr val="tx1"/>
                </a:solidFill>
                <a:latin typeface="Arial" panose="020B0604020202020204" pitchFamily="34" charset="0"/>
                <a:cs typeface="Arial" panose="020B0604020202020204" pitchFamily="34" charset="0"/>
              </a:rPr>
              <a:t>Satisfaction Analysis</a:t>
            </a:r>
            <a:endParaRPr lang="en-IN" sz="4000" b="1" dirty="0">
              <a:solidFill>
                <a:schemeClr val="tx1"/>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A0EB7B77-4C70-E541-D1C0-DDAACE6BF959}"/>
              </a:ext>
            </a:extLst>
          </p:cNvPr>
          <p:cNvSpPr>
            <a:spLocks noGrp="1"/>
          </p:cNvSpPr>
          <p:nvPr>
            <p:ph type="subTitle" idx="1"/>
          </p:nvPr>
        </p:nvSpPr>
        <p:spPr>
          <a:xfrm>
            <a:off x="1560576" y="3429000"/>
            <a:ext cx="9070848" cy="457201"/>
          </a:xfrm>
        </p:spPr>
        <p:txBody>
          <a:bodyPr>
            <a:noAutofit/>
          </a:bodyPr>
          <a:lstStyle/>
          <a:p>
            <a:r>
              <a:rPr lang="en-IN" sz="2000" b="1" dirty="0">
                <a:latin typeface="Arial" panose="020B0604020202020204" pitchFamily="34" charset="0"/>
                <a:cs typeface="Arial" panose="020B0604020202020204" pitchFamily="34" charset="0"/>
              </a:rPr>
              <a:t>Interactive Tableau Dashboard for Customer Experience &amp; Operational Insights</a:t>
            </a:r>
          </a:p>
        </p:txBody>
      </p:sp>
      <p:sp>
        <p:nvSpPr>
          <p:cNvPr id="5" name="TextBox 4">
            <a:extLst>
              <a:ext uri="{FF2B5EF4-FFF2-40B4-BE49-F238E27FC236}">
                <a16:creationId xmlns:a16="http://schemas.microsoft.com/office/drawing/2014/main" id="{C7F8C36D-47DB-7A67-A75C-AA44E009E044}"/>
              </a:ext>
            </a:extLst>
          </p:cNvPr>
          <p:cNvSpPr txBox="1"/>
          <p:nvPr/>
        </p:nvSpPr>
        <p:spPr>
          <a:xfrm>
            <a:off x="7373350" y="4230437"/>
            <a:ext cx="3523250" cy="1200329"/>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Challa Harika</a:t>
            </a:r>
          </a:p>
          <a:p>
            <a:r>
              <a:rPr lang="en-US" dirty="0">
                <a:latin typeface="Arial" panose="020B0604020202020204" pitchFamily="34" charset="0"/>
                <a:cs typeface="Arial" panose="020B0604020202020204" pitchFamily="34" charset="0"/>
              </a:rPr>
              <a:t>DA/BA Batch</a:t>
            </a:r>
          </a:p>
          <a:p>
            <a:r>
              <a:rPr lang="en-US" dirty="0">
                <a:latin typeface="Arial" panose="020B0604020202020204" pitchFamily="34" charset="0"/>
                <a:cs typeface="Arial" panose="020B0604020202020204" pitchFamily="34" charset="0"/>
              </a:rPr>
              <a:t>Tools Used: Tableau, Excel, Power Query, Data Modeling</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8850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26AD64-ECDF-5E47-3741-3EEE3DD0BC3D}"/>
              </a:ext>
            </a:extLst>
          </p:cNvPr>
          <p:cNvSpPr txBox="1"/>
          <p:nvPr/>
        </p:nvSpPr>
        <p:spPr>
          <a:xfrm>
            <a:off x="457199" y="382012"/>
            <a:ext cx="10678885" cy="3293209"/>
          </a:xfrm>
          <a:prstGeom prst="rect">
            <a:avLst/>
          </a:prstGeom>
          <a:noFill/>
        </p:spPr>
        <p:txBody>
          <a:bodyPr wrap="square" rtlCol="0">
            <a:spAutoFit/>
          </a:bodyPr>
          <a:lstStyle/>
          <a:p>
            <a:r>
              <a:rPr lang="en-IN" sz="1600" b="1" dirty="0">
                <a:latin typeface="Arial" panose="020B0604020202020204" pitchFamily="34" charset="0"/>
                <a:cs typeface="Arial" panose="020B0604020202020204" pitchFamily="34" charset="0"/>
              </a:rPr>
              <a:t>Business Problem:</a:t>
            </a:r>
          </a:p>
          <a:p>
            <a:endParaRPr lang="en-IN" sz="1600" b="1"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British Airways receives thousands of customer reviews from passengers worldwide. However, management needs answers to questions like:</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How satisfied are customers? </a:t>
            </a:r>
          </a:p>
          <a:p>
            <a:r>
              <a:rPr lang="en-IN" sz="1400" dirty="0">
                <a:latin typeface="Arial" panose="020B0604020202020204" pitchFamily="34" charset="0"/>
                <a:cs typeface="Arial" panose="020B0604020202020204" pitchFamily="34" charset="0"/>
              </a:rPr>
              <a:t>Which services need improvement? </a:t>
            </a:r>
          </a:p>
          <a:p>
            <a:r>
              <a:rPr lang="en-IN" sz="1400" dirty="0">
                <a:latin typeface="Arial" panose="020B0604020202020204" pitchFamily="34" charset="0"/>
                <a:cs typeface="Arial" panose="020B0604020202020204" pitchFamily="34" charset="0"/>
              </a:rPr>
              <a:t>Which routes perform well? </a:t>
            </a:r>
          </a:p>
          <a:p>
            <a:r>
              <a:rPr lang="en-IN" sz="1400" dirty="0">
                <a:latin typeface="Arial" panose="020B0604020202020204" pitchFamily="34" charset="0"/>
                <a:cs typeface="Arial" panose="020B0604020202020204" pitchFamily="34" charset="0"/>
              </a:rPr>
              <a:t>Which aircraft provide better experiences? </a:t>
            </a:r>
          </a:p>
          <a:p>
            <a:r>
              <a:rPr lang="en-IN" sz="1400" dirty="0">
                <a:latin typeface="Arial" panose="020B0604020202020204" pitchFamily="34" charset="0"/>
                <a:cs typeface="Arial" panose="020B0604020202020204" pitchFamily="34" charset="0"/>
              </a:rPr>
              <a:t>Which customer segments are most satisfied?</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Objective: </a:t>
            </a:r>
            <a:r>
              <a:rPr lang="en-IN" sz="1400" dirty="0">
                <a:latin typeface="Arial" panose="020B0604020202020204" pitchFamily="34" charset="0"/>
                <a:cs typeface="Arial" panose="020B0604020202020204" pitchFamily="34" charset="0"/>
              </a:rPr>
              <a:t>Build an interactive Tableau dashboard to monitor customer satisfaction and support data-driven operational decisions.</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BAC7299-EB36-D07D-DB7F-9A8275204772}"/>
              </a:ext>
            </a:extLst>
          </p:cNvPr>
          <p:cNvSpPr txBox="1"/>
          <p:nvPr/>
        </p:nvSpPr>
        <p:spPr>
          <a:xfrm>
            <a:off x="457198" y="3312260"/>
            <a:ext cx="10765971" cy="615553"/>
          </a:xfrm>
          <a:prstGeom prst="rect">
            <a:avLst/>
          </a:prstGeom>
          <a:noFill/>
        </p:spPr>
        <p:txBody>
          <a:bodyPr wrap="square" rtlCol="0">
            <a:spAutoFit/>
          </a:bodyPr>
          <a:lstStyle/>
          <a:p>
            <a:r>
              <a:rPr lang="en-US" sz="1600" b="1" dirty="0">
                <a:latin typeface="Arial" panose="020B0604020202020204" pitchFamily="34" charset="0"/>
                <a:cs typeface="Arial" panose="020B0604020202020204" pitchFamily="34" charset="0"/>
              </a:rPr>
              <a:t>Dataset Overview:</a:t>
            </a:r>
          </a:p>
          <a:p>
            <a:pPr fontAlgn="ctr"/>
            <a:r>
              <a:rPr lang="en-US" dirty="0">
                <a:latin typeface="Arial" panose="020B0604020202020204" pitchFamily="34" charset="0"/>
                <a:cs typeface="Arial" panose="020B0604020202020204" pitchFamily="34" charset="0"/>
              </a:rPr>
              <a:t> </a:t>
            </a:r>
            <a:endParaRPr lang="en-IN" dirty="0">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021B5BC-7810-222E-4B76-5F0674C444B0}"/>
              </a:ext>
            </a:extLst>
          </p:cNvPr>
          <p:cNvGraphicFramePr>
            <a:graphicFrameLocks noGrp="1"/>
          </p:cNvGraphicFramePr>
          <p:nvPr>
            <p:extLst>
              <p:ext uri="{D42A27DB-BD31-4B8C-83A1-F6EECF244321}">
                <p14:modId xmlns:p14="http://schemas.microsoft.com/office/powerpoint/2010/main" val="3329016608"/>
              </p:ext>
            </p:extLst>
          </p:nvPr>
        </p:nvGraphicFramePr>
        <p:xfrm>
          <a:off x="457197" y="3787957"/>
          <a:ext cx="6158230" cy="914400"/>
        </p:xfrm>
        <a:graphic>
          <a:graphicData uri="http://schemas.openxmlformats.org/drawingml/2006/table">
            <a:tbl>
              <a:tblPr/>
              <a:tblGrid>
                <a:gridCol w="1129030">
                  <a:extLst>
                    <a:ext uri="{9D8B030D-6E8A-4147-A177-3AD203B41FA5}">
                      <a16:colId xmlns:a16="http://schemas.microsoft.com/office/drawing/2014/main" val="3616929700"/>
                    </a:ext>
                  </a:extLst>
                </a:gridCol>
                <a:gridCol w="5029200">
                  <a:extLst>
                    <a:ext uri="{9D8B030D-6E8A-4147-A177-3AD203B41FA5}">
                      <a16:colId xmlns:a16="http://schemas.microsoft.com/office/drawing/2014/main" val="2215202859"/>
                    </a:ext>
                  </a:extLst>
                </a:gridCol>
              </a:tblGrid>
              <a:tr h="0">
                <a:tc>
                  <a:txBody>
                    <a:bodyPr/>
                    <a:lstStyle/>
                    <a:p>
                      <a:pPr>
                        <a:buNone/>
                      </a:pPr>
                      <a:r>
                        <a:rPr lang="en-IN" sz="1400" b="1" dirty="0">
                          <a:latin typeface="Arial" panose="020B0604020202020204" pitchFamily="34" charset="0"/>
                          <a:cs typeface="Arial" panose="020B0604020202020204" pitchFamily="34" charset="0"/>
                        </a:rPr>
                        <a:t>Dataset</a:t>
                      </a:r>
                    </a:p>
                  </a:txBody>
                  <a:tcPr anchor="ctr">
                    <a:lnL>
                      <a:noFill/>
                    </a:lnL>
                    <a:lnR>
                      <a:noFill/>
                    </a:lnR>
                    <a:lnT>
                      <a:noFill/>
                    </a:lnT>
                    <a:lnB>
                      <a:noFill/>
                    </a:lnB>
                    <a:noFill/>
                  </a:tcPr>
                </a:tc>
                <a:tc>
                  <a:txBody>
                    <a:bodyPr/>
                    <a:lstStyle/>
                    <a:p>
                      <a:pPr>
                        <a:buNone/>
                      </a:pPr>
                      <a:r>
                        <a:rPr lang="en-IN" sz="1400" b="1" dirty="0">
                          <a:latin typeface="Arial" panose="020B0604020202020204" pitchFamily="34" charset="0"/>
                          <a:cs typeface="Arial" panose="020B0604020202020204" pitchFamily="34" charset="0"/>
                        </a:rPr>
                        <a:t>Description</a:t>
                      </a:r>
                    </a:p>
                  </a:txBody>
                  <a:tcPr anchor="ctr">
                    <a:lnL>
                      <a:noFill/>
                    </a:lnL>
                    <a:lnR>
                      <a:noFill/>
                    </a:lnR>
                    <a:lnT>
                      <a:noFill/>
                    </a:lnT>
                    <a:lnB>
                      <a:noFill/>
                    </a:lnB>
                    <a:noFill/>
                  </a:tcPr>
                </a:tc>
                <a:extLst>
                  <a:ext uri="{0D108BD9-81ED-4DB2-BD59-A6C34878D82A}">
                    <a16:rowId xmlns:a16="http://schemas.microsoft.com/office/drawing/2014/main" val="1953932985"/>
                  </a:ext>
                </a:extLst>
              </a:tr>
              <a:tr h="0">
                <a:tc>
                  <a:txBody>
                    <a:bodyPr/>
                    <a:lstStyle/>
                    <a:p>
                      <a:pPr>
                        <a:buNone/>
                      </a:pPr>
                      <a:r>
                        <a:rPr lang="en-IN" sz="1400" dirty="0" err="1">
                          <a:latin typeface="Arial" panose="020B0604020202020204" pitchFamily="34" charset="0"/>
                          <a:cs typeface="Arial" panose="020B0604020202020204" pitchFamily="34" charset="0"/>
                        </a:rPr>
                        <a:t>ba_reviews</a:t>
                      </a:r>
                      <a:endParaRPr lang="en-IN" sz="1400" dirty="0">
                        <a:latin typeface="Arial" panose="020B0604020202020204" pitchFamily="34" charset="0"/>
                        <a:cs typeface="Arial" panose="020B0604020202020204" pitchFamily="34" charset="0"/>
                      </a:endParaRPr>
                    </a:p>
                  </a:txBody>
                  <a:tcPr anchor="ctr">
                    <a:lnL>
                      <a:noFill/>
                    </a:lnL>
                    <a:lnR>
                      <a:noFill/>
                    </a:lnR>
                    <a:lnT>
                      <a:noFill/>
                    </a:lnT>
                    <a:lnB>
                      <a:noFill/>
                    </a:lnB>
                    <a:noFill/>
                  </a:tcPr>
                </a:tc>
                <a:tc>
                  <a:txBody>
                    <a:bodyPr/>
                    <a:lstStyle/>
                    <a:p>
                      <a:pPr>
                        <a:buNone/>
                      </a:pPr>
                      <a:r>
                        <a:rPr lang="en-IN" sz="1400" dirty="0">
                          <a:latin typeface="Arial" panose="020B0604020202020204" pitchFamily="34" charset="0"/>
                          <a:cs typeface="Arial" panose="020B0604020202020204" pitchFamily="34" charset="0"/>
                        </a:rPr>
                        <a:t>Customer review details</a:t>
                      </a:r>
                    </a:p>
                  </a:txBody>
                  <a:tcPr anchor="ctr">
                    <a:lnL>
                      <a:noFill/>
                    </a:lnL>
                    <a:lnR>
                      <a:noFill/>
                    </a:lnR>
                    <a:lnT>
                      <a:noFill/>
                    </a:lnT>
                    <a:lnB>
                      <a:noFill/>
                    </a:lnB>
                    <a:noFill/>
                  </a:tcPr>
                </a:tc>
                <a:extLst>
                  <a:ext uri="{0D108BD9-81ED-4DB2-BD59-A6C34878D82A}">
                    <a16:rowId xmlns:a16="http://schemas.microsoft.com/office/drawing/2014/main" val="2697779683"/>
                  </a:ext>
                </a:extLst>
              </a:tr>
              <a:tr h="0">
                <a:tc>
                  <a:txBody>
                    <a:bodyPr/>
                    <a:lstStyle/>
                    <a:p>
                      <a:pPr>
                        <a:buNone/>
                      </a:pPr>
                      <a:r>
                        <a:rPr lang="en-IN" sz="1400" dirty="0">
                          <a:latin typeface="Arial" panose="020B0604020202020204" pitchFamily="34" charset="0"/>
                          <a:cs typeface="Arial" panose="020B0604020202020204" pitchFamily="34" charset="0"/>
                        </a:rPr>
                        <a:t>countries</a:t>
                      </a:r>
                    </a:p>
                  </a:txBody>
                  <a:tcPr anchor="ctr">
                    <a:lnL>
                      <a:noFill/>
                    </a:lnL>
                    <a:lnR>
                      <a:noFill/>
                    </a:lnR>
                    <a:lnT>
                      <a:noFill/>
                    </a:lnT>
                    <a:lnB>
                      <a:noFill/>
                    </a:lnB>
                    <a:noFill/>
                  </a:tcPr>
                </a:tc>
                <a:tc>
                  <a:txBody>
                    <a:bodyPr/>
                    <a:lstStyle/>
                    <a:p>
                      <a:pPr>
                        <a:buNone/>
                      </a:pPr>
                      <a:r>
                        <a:rPr lang="en-IN" sz="1400" dirty="0">
                          <a:latin typeface="Arial" panose="020B0604020202020204" pitchFamily="34" charset="0"/>
                          <a:cs typeface="Arial" panose="020B0604020202020204" pitchFamily="34" charset="0"/>
                        </a:rPr>
                        <a:t>Country and Region Mapping</a:t>
                      </a:r>
                    </a:p>
                  </a:txBody>
                  <a:tcPr anchor="ctr">
                    <a:lnL>
                      <a:noFill/>
                    </a:lnL>
                    <a:lnR>
                      <a:noFill/>
                    </a:lnR>
                    <a:lnT>
                      <a:noFill/>
                    </a:lnT>
                    <a:lnB>
                      <a:noFill/>
                    </a:lnB>
                    <a:noFill/>
                  </a:tcPr>
                </a:tc>
                <a:extLst>
                  <a:ext uri="{0D108BD9-81ED-4DB2-BD59-A6C34878D82A}">
                    <a16:rowId xmlns:a16="http://schemas.microsoft.com/office/drawing/2014/main" val="1908749764"/>
                  </a:ext>
                </a:extLst>
              </a:tr>
            </a:tbl>
          </a:graphicData>
        </a:graphic>
      </p:graphicFrame>
      <p:sp>
        <p:nvSpPr>
          <p:cNvPr id="10" name="TextBox 9">
            <a:extLst>
              <a:ext uri="{FF2B5EF4-FFF2-40B4-BE49-F238E27FC236}">
                <a16:creationId xmlns:a16="http://schemas.microsoft.com/office/drawing/2014/main" id="{E853EDC2-8320-EA33-5F4A-065140FD3024}"/>
              </a:ext>
            </a:extLst>
          </p:cNvPr>
          <p:cNvSpPr txBox="1"/>
          <p:nvPr/>
        </p:nvSpPr>
        <p:spPr>
          <a:xfrm>
            <a:off x="457197" y="4916444"/>
            <a:ext cx="11190516" cy="523220"/>
          </a:xfrm>
          <a:prstGeom prst="rect">
            <a:avLst/>
          </a:prstGeom>
          <a:noFill/>
        </p:spPr>
        <p:txBody>
          <a:bodyPr wrap="square">
            <a:spAutoFit/>
          </a:bodyPr>
          <a:lstStyle/>
          <a:p>
            <a:r>
              <a:rPr lang="en-IN" sz="1400" b="1" dirty="0">
                <a:latin typeface="Arial" panose="020B0604020202020204" pitchFamily="34" charset="0"/>
                <a:cs typeface="Arial" panose="020B0604020202020204" pitchFamily="34" charset="0"/>
              </a:rPr>
              <a:t>Important Columns : </a:t>
            </a:r>
            <a:r>
              <a:rPr lang="en-IN" sz="1400" dirty="0">
                <a:latin typeface="Arial" panose="020B0604020202020204" pitchFamily="34" charset="0"/>
                <a:cs typeface="Arial" panose="020B0604020202020204" pitchFamily="34" charset="0"/>
              </a:rPr>
              <a:t>Overall Rating, Cabin Staff Rating, Seat Comfort Rating, Food Rating, Entertainment Rating, Ground Service Rating </a:t>
            </a:r>
          </a:p>
          <a:p>
            <a:r>
              <a:rPr lang="en-IN" sz="1400" dirty="0">
                <a:latin typeface="Arial" panose="020B0604020202020204" pitchFamily="34" charset="0"/>
                <a:cs typeface="Arial" panose="020B0604020202020204" pitchFamily="34" charset="0"/>
              </a:rPr>
              <a:t>Average Value for Money, Traveller Type, Seat Type, Aircraft, Route, Date Flown, Recommended, Country</a:t>
            </a:r>
          </a:p>
        </p:txBody>
      </p:sp>
      <p:sp>
        <p:nvSpPr>
          <p:cNvPr id="12" name="TextBox 11">
            <a:extLst>
              <a:ext uri="{FF2B5EF4-FFF2-40B4-BE49-F238E27FC236}">
                <a16:creationId xmlns:a16="http://schemas.microsoft.com/office/drawing/2014/main" id="{C07D177A-A08D-BC8F-99C8-98E6ACE937A3}"/>
              </a:ext>
            </a:extLst>
          </p:cNvPr>
          <p:cNvSpPr txBox="1"/>
          <p:nvPr/>
        </p:nvSpPr>
        <p:spPr>
          <a:xfrm>
            <a:off x="457197" y="5653751"/>
            <a:ext cx="3695701" cy="523220"/>
          </a:xfrm>
          <a:prstGeom prst="rect">
            <a:avLst/>
          </a:prstGeom>
          <a:noFill/>
        </p:spPr>
        <p:txBody>
          <a:bodyPr wrap="square" rtlCol="0">
            <a:spAutoFit/>
          </a:bodyPr>
          <a:lstStyle/>
          <a:p>
            <a:r>
              <a:rPr lang="en-IN" sz="1400" dirty="0">
                <a:latin typeface="Arial" panose="020B0604020202020204" pitchFamily="34" charset="0"/>
                <a:cs typeface="Arial" panose="020B0604020202020204" pitchFamily="34" charset="0"/>
              </a:rPr>
              <a:t>Total Reviews: </a:t>
            </a:r>
            <a:r>
              <a:rPr lang="en-IN" sz="1400" b="1" dirty="0">
                <a:latin typeface="Arial" panose="020B0604020202020204" pitchFamily="34" charset="0"/>
                <a:cs typeface="Arial" panose="020B0604020202020204" pitchFamily="34" charset="0"/>
              </a:rPr>
              <a:t>1295</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Time Period: </a:t>
            </a:r>
            <a:r>
              <a:rPr lang="en-IN" sz="1400" b="1" dirty="0">
                <a:latin typeface="Arial" panose="020B0604020202020204" pitchFamily="34" charset="0"/>
                <a:cs typeface="Arial" panose="020B0604020202020204" pitchFamily="34" charset="0"/>
              </a:rPr>
              <a:t>2015–2023</a:t>
            </a:r>
            <a:r>
              <a:rPr lang="en-IN" sz="14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34303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19FA5B-87BE-61AE-4B08-94D30C1C1392}"/>
              </a:ext>
            </a:extLst>
          </p:cNvPr>
          <p:cNvSpPr txBox="1"/>
          <p:nvPr/>
        </p:nvSpPr>
        <p:spPr>
          <a:xfrm>
            <a:off x="642257" y="293913"/>
            <a:ext cx="1090748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Data Preparation</a:t>
            </a:r>
            <a:endParaRPr lang="en-IN" sz="2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BDDE891-A85E-8903-243B-37A6151A762F}"/>
              </a:ext>
            </a:extLst>
          </p:cNvPr>
          <p:cNvSpPr txBox="1"/>
          <p:nvPr/>
        </p:nvSpPr>
        <p:spPr>
          <a:xfrm>
            <a:off x="1208315" y="1099456"/>
            <a:ext cx="10025742" cy="3970318"/>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Data Cleaning: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Removed missing values.</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Corrected datatype mismatch between columns</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Created relationships between tables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Verified data quality</a:t>
            </a:r>
          </a:p>
          <a:p>
            <a:pPr marL="285750" indent="-285750">
              <a:buFont typeface="Wingdings" panose="05000000000000000000" pitchFamily="2" charset="2"/>
              <a:buChar char="§"/>
            </a:pPr>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Created Calculated Fields:</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Overall Rating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Cabin Staff Rating</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Seat Comfort Rating</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Food Rating</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Entertainment Rating</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Ground Service Rating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Average Value for Money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Recommendation Rating</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Total Reviews </a:t>
            </a:r>
          </a:p>
          <a:p>
            <a:pPr marL="285750" indent="-285750">
              <a:buFont typeface="Wingdings" panose="05000000000000000000" pitchFamily="2" charset="2"/>
              <a:buChar char="§"/>
            </a:pPr>
            <a:r>
              <a:rPr lang="en-IN" sz="1400" dirty="0">
                <a:latin typeface="Arial" panose="020B0604020202020204" pitchFamily="34" charset="0"/>
                <a:cs typeface="Arial" panose="020B0604020202020204" pitchFamily="34" charset="0"/>
              </a:rPr>
              <a:t>Review count</a:t>
            </a:r>
          </a:p>
        </p:txBody>
      </p:sp>
      <p:sp>
        <p:nvSpPr>
          <p:cNvPr id="4" name="TextBox 3">
            <a:extLst>
              <a:ext uri="{FF2B5EF4-FFF2-40B4-BE49-F238E27FC236}">
                <a16:creationId xmlns:a16="http://schemas.microsoft.com/office/drawing/2014/main" id="{0216DFA8-BC30-C6FF-98D6-8A2314DC671D}"/>
              </a:ext>
            </a:extLst>
          </p:cNvPr>
          <p:cNvSpPr txBox="1"/>
          <p:nvPr/>
        </p:nvSpPr>
        <p:spPr>
          <a:xfrm>
            <a:off x="7587343" y="1099456"/>
            <a:ext cx="4942114" cy="267765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Workflow Diagram:</a:t>
            </a:r>
          </a:p>
          <a:p>
            <a:r>
              <a:rPr lang="en-IN" sz="1400" dirty="0">
                <a:latin typeface="Arial" panose="020B0604020202020204" pitchFamily="34" charset="0"/>
                <a:cs typeface="Arial" panose="020B0604020202020204" pitchFamily="34" charset="0"/>
              </a:rPr>
              <a:t>Raw Data</a:t>
            </a:r>
          </a:p>
          <a:p>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Data Cleaning</a:t>
            </a:r>
          </a:p>
          <a:p>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Data </a:t>
            </a:r>
            <a:r>
              <a:rPr lang="en-IN" sz="1400" dirty="0" err="1">
                <a:latin typeface="Arial" panose="020B0604020202020204" pitchFamily="34" charset="0"/>
                <a:cs typeface="Arial" panose="020B0604020202020204" pitchFamily="34" charset="0"/>
              </a:rPr>
              <a:t>Modeling</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Calculated Fields</a:t>
            </a:r>
          </a:p>
          <a:p>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Worksheets</a:t>
            </a:r>
          </a:p>
          <a:p>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Dashboards</a:t>
            </a:r>
          </a:p>
        </p:txBody>
      </p:sp>
    </p:spTree>
    <p:extLst>
      <p:ext uri="{BB962C8B-B14F-4D97-AF65-F5344CB8AC3E}">
        <p14:creationId xmlns:p14="http://schemas.microsoft.com/office/powerpoint/2010/main" val="33894979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B3361C-4E1A-46DF-D307-C9D34BD13B04}"/>
              </a:ext>
            </a:extLst>
          </p:cNvPr>
          <p:cNvSpPr txBox="1"/>
          <p:nvPr/>
        </p:nvSpPr>
        <p:spPr>
          <a:xfrm>
            <a:off x="3048000" y="414048"/>
            <a:ext cx="6096000" cy="523220"/>
          </a:xfrm>
          <a:prstGeom prst="rect">
            <a:avLst/>
          </a:prstGeom>
          <a:noFill/>
        </p:spPr>
        <p:txBody>
          <a:bodyPr wrap="square">
            <a:spAutoFit/>
          </a:bodyPr>
          <a:lstStyle/>
          <a:p>
            <a:pPr algn="ctr"/>
            <a:r>
              <a:rPr lang="en-IN" sz="2800" b="1" dirty="0">
                <a:latin typeface="Arial" panose="020B0604020202020204" pitchFamily="34" charset="0"/>
                <a:cs typeface="Arial" panose="020B0604020202020204" pitchFamily="34" charset="0"/>
              </a:rPr>
              <a:t>Executive Overview Dashboard</a:t>
            </a:r>
          </a:p>
        </p:txBody>
      </p:sp>
      <p:pic>
        <p:nvPicPr>
          <p:cNvPr id="7" name="Picture 6">
            <a:extLst>
              <a:ext uri="{FF2B5EF4-FFF2-40B4-BE49-F238E27FC236}">
                <a16:creationId xmlns:a16="http://schemas.microsoft.com/office/drawing/2014/main" id="{6D5A8B73-FD1D-9496-F0E8-BC75106422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034849"/>
            <a:ext cx="11310257" cy="5409103"/>
          </a:xfrm>
          <a:prstGeom prst="rect">
            <a:avLst/>
          </a:prstGeom>
        </p:spPr>
      </p:pic>
    </p:spTree>
    <p:extLst>
      <p:ext uri="{BB962C8B-B14F-4D97-AF65-F5344CB8AC3E}">
        <p14:creationId xmlns:p14="http://schemas.microsoft.com/office/powerpoint/2010/main" val="4218403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CD6D4D-1114-5BC7-5920-0B5125913A4A}"/>
              </a:ext>
            </a:extLst>
          </p:cNvPr>
          <p:cNvSpPr txBox="1"/>
          <p:nvPr/>
        </p:nvSpPr>
        <p:spPr>
          <a:xfrm>
            <a:off x="555171" y="315686"/>
            <a:ext cx="10482943" cy="7140416"/>
          </a:xfrm>
          <a:prstGeom prst="rect">
            <a:avLst/>
          </a:prstGeom>
          <a:noFill/>
        </p:spPr>
        <p:txBody>
          <a:bodyPr wrap="square" rtlCol="0">
            <a:spAutoFit/>
          </a:bodyPr>
          <a:lstStyle/>
          <a:p>
            <a:pPr algn="ctr"/>
            <a:r>
              <a:rPr lang="en-IN" b="1" dirty="0">
                <a:latin typeface="Arial" panose="020B0604020202020204" pitchFamily="34" charset="0"/>
                <a:cs typeface="Arial" panose="020B0604020202020204" pitchFamily="34" charset="0"/>
              </a:rPr>
              <a:t>Executive Overview Dashboard Insights</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How is British Airways performing overall?</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KPIs: </a:t>
            </a:r>
          </a:p>
          <a:p>
            <a:r>
              <a:rPr lang="en-IN" sz="1400" dirty="0">
                <a:latin typeface="Arial" panose="020B0604020202020204" pitchFamily="34" charset="0"/>
                <a:cs typeface="Arial" panose="020B0604020202020204" pitchFamily="34" charset="0"/>
              </a:rPr>
              <a:t>Total Reviews : 1,295</a:t>
            </a:r>
          </a:p>
          <a:p>
            <a:r>
              <a:rPr lang="en-IN" sz="1400" dirty="0">
                <a:latin typeface="Arial" panose="020B0604020202020204" pitchFamily="34" charset="0"/>
                <a:cs typeface="Arial" panose="020B0604020202020204" pitchFamily="34" charset="0"/>
              </a:rPr>
              <a:t>Average Overall Rating : 4.19/5 </a:t>
            </a:r>
          </a:p>
          <a:p>
            <a:r>
              <a:rPr lang="en-IN" sz="1400" dirty="0">
                <a:latin typeface="Arial" panose="020B0604020202020204" pitchFamily="34" charset="0"/>
                <a:cs typeface="Arial" panose="020B0604020202020204" pitchFamily="34" charset="0"/>
              </a:rPr>
              <a:t>Recommendation Rate : 43.3%</a:t>
            </a:r>
          </a:p>
          <a:p>
            <a:r>
              <a:rPr lang="en-IN" sz="1400" dirty="0">
                <a:latin typeface="Arial" panose="020B0604020202020204" pitchFamily="34" charset="0"/>
                <a:cs typeface="Arial" panose="020B0604020202020204" pitchFamily="34" charset="0"/>
              </a:rPr>
              <a:t>Average Value for Money : 2.79/5</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Overall Rating Trend : </a:t>
            </a:r>
            <a:r>
              <a:rPr lang="en-IN" sz="1400" dirty="0">
                <a:latin typeface="Arial" panose="020B0604020202020204" pitchFamily="34" charset="0"/>
                <a:cs typeface="Arial" panose="020B0604020202020204" pitchFamily="34" charset="0"/>
              </a:rPr>
              <a:t>Customer satisfaction fluctuates over time rather than improving consistently.</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Recommendation Trend : </a:t>
            </a:r>
            <a:r>
              <a:rPr lang="en-IN" sz="1400" dirty="0">
                <a:latin typeface="Arial" panose="020B0604020202020204" pitchFamily="34" charset="0"/>
                <a:cs typeface="Arial" panose="020B0604020202020204" pitchFamily="34" charset="0"/>
              </a:rPr>
              <a:t>Recommendation peaked around 2021 before declining again, suggesting customer loyalty is unstable.</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Customer Reviews by Flight Year :</a:t>
            </a:r>
            <a:r>
              <a:rPr lang="en-IN" sz="1400" dirty="0">
                <a:latin typeface="Arial" panose="020B0604020202020204" pitchFamily="34" charset="0"/>
                <a:cs typeface="Arial" panose="020B0604020202020204" pitchFamily="34" charset="0"/>
              </a:rPr>
              <a:t> Most reviews were received during 2017–2019.</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Business interpretation:</a:t>
            </a:r>
          </a:p>
          <a:p>
            <a:pPr marL="285750" indent="-285750">
              <a:buFont typeface="Arial" panose="020B0604020202020204" pitchFamily="34" charset="0"/>
              <a:buChar char="•"/>
            </a:pP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Larger review volume provides stronger confidence in those years' insights.</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 Recent years have fewer reviews, so conclusions should be interpreted carefully.</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Executive Insight: </a:t>
            </a:r>
          </a:p>
          <a:p>
            <a:r>
              <a:rPr lang="en-IN" sz="1400" dirty="0">
                <a:latin typeface="Arial" panose="020B0604020202020204" pitchFamily="34" charset="0"/>
                <a:cs typeface="Arial" panose="020B0604020202020204" pitchFamily="34" charset="0"/>
              </a:rPr>
              <a:t>Overall ratings are relatively good, but recommendation rate is below 50%, indicating customers may be satisfied with some aspects of the flight but are still reluctant to recommend British Airways. The KPI card shows the overall recommendation rate of 43.3%, meaning fewer than half of all reviewers recommended British Airways. The line chart breaks this down by year. While 2015 shows a 100% recommendation rate, that year had only one review, so it isn't representative. From 2016 onward, recommendation rates generally range between 30% and 60%, indicating that customer advocacy has remained inconsistent over time.</a:t>
            </a:r>
          </a:p>
          <a:p>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2039695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9A5670-3143-7D15-6300-67BEDED2F6D5}"/>
              </a:ext>
            </a:extLst>
          </p:cNvPr>
          <p:cNvSpPr txBox="1"/>
          <p:nvPr/>
        </p:nvSpPr>
        <p:spPr>
          <a:xfrm>
            <a:off x="4210160" y="261257"/>
            <a:ext cx="4011163" cy="400110"/>
          </a:xfrm>
          <a:prstGeom prst="rect">
            <a:avLst/>
          </a:prstGeom>
          <a:noFill/>
        </p:spPr>
        <p:txBody>
          <a:bodyPr wrap="none" rtlCol="0">
            <a:spAutoFit/>
          </a:bodyPr>
          <a:lstStyle/>
          <a:p>
            <a:pPr algn="ctr"/>
            <a:r>
              <a:rPr lang="en-IN" sz="2000" b="1" dirty="0">
                <a:latin typeface="Arial" panose="020B0604020202020204" pitchFamily="34" charset="0"/>
                <a:cs typeface="Arial" panose="020B0604020202020204" pitchFamily="34" charset="0"/>
              </a:rPr>
              <a:t>Passenger Analysis Dashboard</a:t>
            </a:r>
          </a:p>
        </p:txBody>
      </p:sp>
      <p:pic>
        <p:nvPicPr>
          <p:cNvPr id="4" name="Picture 3">
            <a:extLst>
              <a:ext uri="{FF2B5EF4-FFF2-40B4-BE49-F238E27FC236}">
                <a16:creationId xmlns:a16="http://schemas.microsoft.com/office/drawing/2014/main" id="{4BD0C163-691D-E6C1-C52B-2023AD6FC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1" y="661367"/>
            <a:ext cx="11425176" cy="5935376"/>
          </a:xfrm>
          <a:prstGeom prst="rect">
            <a:avLst/>
          </a:prstGeom>
        </p:spPr>
      </p:pic>
    </p:spTree>
    <p:extLst>
      <p:ext uri="{BB962C8B-B14F-4D97-AF65-F5344CB8AC3E}">
        <p14:creationId xmlns:p14="http://schemas.microsoft.com/office/powerpoint/2010/main" val="1013694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DC8D01-41DE-A9C4-1FB3-6BB3D6249414}"/>
              </a:ext>
            </a:extLst>
          </p:cNvPr>
          <p:cNvSpPr txBox="1"/>
          <p:nvPr/>
        </p:nvSpPr>
        <p:spPr>
          <a:xfrm>
            <a:off x="419099" y="706789"/>
            <a:ext cx="11353800" cy="7725192"/>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1. Which traveller type is most satisfied with British Airways?</a:t>
            </a:r>
          </a:p>
          <a:p>
            <a:r>
              <a:rPr lang="en-IN" sz="1400" b="1" dirty="0">
                <a:latin typeface="Arial" panose="020B0604020202020204" pitchFamily="34" charset="0"/>
                <a:cs typeface="Arial" panose="020B0604020202020204" pitchFamily="34" charset="0"/>
              </a:rPr>
              <a:t>A.    Solo Leisure</a:t>
            </a:r>
            <a:r>
              <a:rPr lang="en-IN" sz="1400" dirty="0">
                <a:latin typeface="Arial" panose="020B0604020202020204" pitchFamily="34" charset="0"/>
                <a:cs typeface="Arial" panose="020B0604020202020204" pitchFamily="34" charset="0"/>
              </a:rPr>
              <a:t> travellers reported the highest average overall rating (</a:t>
            </a:r>
            <a:r>
              <a:rPr lang="en-IN" sz="1400" b="1" dirty="0">
                <a:latin typeface="Arial" panose="020B0604020202020204" pitchFamily="34" charset="0"/>
                <a:cs typeface="Arial" panose="020B0604020202020204" pitchFamily="34" charset="0"/>
              </a:rPr>
              <a:t>4.29/5</a:t>
            </a:r>
            <a:r>
              <a:rPr lang="en-IN" sz="1400" dirty="0">
                <a:latin typeface="Arial" panose="020B0604020202020204" pitchFamily="34" charset="0"/>
                <a:cs typeface="Arial" panose="020B0604020202020204" pitchFamily="34" charset="0"/>
              </a:rPr>
              <a:t>), closely followed by </a:t>
            </a:r>
            <a:r>
              <a:rPr lang="en-IN" sz="1400" b="1" dirty="0">
                <a:latin typeface="Arial" panose="020B0604020202020204" pitchFamily="34" charset="0"/>
                <a:cs typeface="Arial" panose="020B0604020202020204" pitchFamily="34" charset="0"/>
              </a:rPr>
              <a:t>Couple Leisure (4.27/5)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Business travellers (4.21/5)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Family Leisure</a:t>
            </a:r>
            <a:r>
              <a:rPr lang="en-IN" sz="1400" dirty="0">
                <a:latin typeface="Arial" panose="020B0604020202020204" pitchFamily="34" charset="0"/>
                <a:cs typeface="Arial" panose="020B0604020202020204" pitchFamily="34" charset="0"/>
              </a:rPr>
              <a:t> travellers recorded the lowest satisfaction (</a:t>
            </a:r>
            <a:r>
              <a:rPr lang="en-IN" sz="1400" b="1" dirty="0">
                <a:latin typeface="Arial" panose="020B0604020202020204" pitchFamily="34" charset="0"/>
                <a:cs typeface="Arial" panose="020B0604020202020204" pitchFamily="34" charset="0"/>
              </a:rPr>
              <a:t>3.77/5</a:t>
            </a:r>
            <a:r>
              <a:rPr lang="en-IN" sz="1400" dirty="0">
                <a:latin typeface="Arial" panose="020B0604020202020204" pitchFamily="34" charset="0"/>
                <a:cs typeface="Arial" panose="020B0604020202020204" pitchFamily="34" charset="0"/>
              </a:rPr>
              <a:t>), indicating opportunities to improve the travel experience for families.</a:t>
            </a:r>
          </a:p>
          <a:p>
            <a:pPr marL="342900" indent="-342900">
              <a:buAutoNum type="alphaUcPeriod"/>
            </a:pPr>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2. </a:t>
            </a:r>
            <a:r>
              <a:rPr lang="en-US" sz="1400" b="1" dirty="0">
                <a:latin typeface="Arial" panose="020B0604020202020204" pitchFamily="34" charset="0"/>
                <a:cs typeface="Arial" panose="020B0604020202020204" pitchFamily="34" charset="0"/>
              </a:rPr>
              <a:t>Which routes deliver the best customer experience?</a:t>
            </a:r>
          </a:p>
          <a:p>
            <a:r>
              <a:rPr lang="en-IN" sz="1400" b="1" dirty="0">
                <a:latin typeface="Arial" panose="020B0604020202020204" pitchFamily="34" charset="0"/>
                <a:cs typeface="Arial" panose="020B0604020202020204" pitchFamily="34" charset="0"/>
              </a:rPr>
              <a:t>A.     London to Athens (5.89/5)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London to Vancouver (5.50/5)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London to Hong Kong (5.38/5)</a:t>
            </a:r>
            <a:r>
              <a:rPr lang="en-IN" sz="1400" dirty="0">
                <a:latin typeface="Arial" panose="020B0604020202020204" pitchFamily="34" charset="0"/>
                <a:cs typeface="Arial" panose="020B0604020202020204" pitchFamily="34" charset="0"/>
              </a:rPr>
              <a:t> received the highest customer ratings, suggesting these routes consistently deliver a better passenger experience. In contrast, </a:t>
            </a:r>
            <a:r>
              <a:rPr lang="en-IN" sz="1400" b="1" dirty="0">
                <a:latin typeface="Arial" panose="020B0604020202020204" pitchFamily="34" charset="0"/>
                <a:cs typeface="Arial" panose="020B0604020202020204" pitchFamily="34" charset="0"/>
              </a:rPr>
              <a:t>Johannesburg to London (2.00/5)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Cape Town to London (2.33/5)</a:t>
            </a:r>
            <a:r>
              <a:rPr lang="en-IN" sz="1400" dirty="0">
                <a:latin typeface="Arial" panose="020B0604020202020204" pitchFamily="34" charset="0"/>
                <a:cs typeface="Arial" panose="020B0604020202020204" pitchFamily="34" charset="0"/>
              </a:rPr>
              <a:t> received comparatively lower ratings and may require further operational review.</a:t>
            </a:r>
          </a:p>
          <a:p>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a:t>
            </a:r>
            <a:r>
              <a:rPr lang="en-US" sz="1400" b="1" dirty="0">
                <a:latin typeface="Arial" panose="020B0604020202020204" pitchFamily="34" charset="0"/>
                <a:cs typeface="Arial" panose="020B0604020202020204" pitchFamily="34" charset="0"/>
              </a:rPr>
              <a:t>Which seat class provides the best customer experience?</a:t>
            </a:r>
          </a:p>
          <a:p>
            <a:pPr marL="342900" indent="-342900">
              <a:buAutoNum type="alphaUcPeriod"/>
            </a:pPr>
            <a:r>
              <a:rPr lang="en-IN" sz="1400" b="1" dirty="0">
                <a:latin typeface="Arial" panose="020B0604020202020204" pitchFamily="34" charset="0"/>
                <a:cs typeface="Arial" panose="020B0604020202020204" pitchFamily="34" charset="0"/>
              </a:rPr>
              <a:t>Economy Class (4.38/5)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First Class (4.36/5)</a:t>
            </a:r>
            <a:r>
              <a:rPr lang="en-IN" sz="1400" dirty="0">
                <a:latin typeface="Arial" panose="020B0604020202020204" pitchFamily="34" charset="0"/>
                <a:cs typeface="Arial" panose="020B0604020202020204" pitchFamily="34" charset="0"/>
              </a:rPr>
              <a:t> received the highest overall ratings, while </a:t>
            </a:r>
            <a:r>
              <a:rPr lang="en-IN" sz="1400" b="1" dirty="0">
                <a:latin typeface="Arial" panose="020B0604020202020204" pitchFamily="34" charset="0"/>
                <a:cs typeface="Arial" panose="020B0604020202020204" pitchFamily="34" charset="0"/>
              </a:rPr>
              <a:t>Business Class (3.94/5)</a:t>
            </a:r>
            <a:r>
              <a:rPr lang="en-IN" sz="1400" dirty="0">
                <a:latin typeface="Arial" panose="020B0604020202020204" pitchFamily="34" charset="0"/>
                <a:cs typeface="Arial" panose="020B0604020202020204" pitchFamily="34" charset="0"/>
              </a:rPr>
              <a:t> recorded the lowest customer satisfaction among the four seat types. This suggests that the premium Business Class experience may not be meeting passenger expectations relative to its offering.</a:t>
            </a:r>
          </a:p>
          <a:p>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4. Which aircraft consistently receive the highest customer ratings?</a:t>
            </a:r>
          </a:p>
          <a:p>
            <a:pPr marL="342900" indent="-342900">
              <a:buAutoNum type="alphaUcPeriod"/>
            </a:pPr>
            <a:r>
              <a:rPr lang="en-IN" sz="1400" dirty="0">
                <a:latin typeface="Arial" panose="020B0604020202020204" pitchFamily="34" charset="0"/>
                <a:cs typeface="Arial" panose="020B0604020202020204" pitchFamily="34" charset="0"/>
              </a:rPr>
              <a:t>The </a:t>
            </a:r>
            <a:r>
              <a:rPr lang="en-IN" sz="1400" b="1" dirty="0">
                <a:latin typeface="Arial" panose="020B0604020202020204" pitchFamily="34" charset="0"/>
                <a:cs typeface="Arial" panose="020B0604020202020204" pitchFamily="34" charset="0"/>
              </a:rPr>
              <a:t>Boeing 747-400 (4.58/5)</a:t>
            </a:r>
            <a:r>
              <a:rPr lang="en-IN" sz="1400" dirty="0">
                <a:latin typeface="Arial" panose="020B0604020202020204" pitchFamily="34" charset="0"/>
                <a:cs typeface="Arial" panose="020B0604020202020204" pitchFamily="34" charset="0"/>
              </a:rPr>
              <a:t> received the highest average customer rating, followed by the </a:t>
            </a:r>
            <a:r>
              <a:rPr lang="en-IN" sz="1400" b="1" dirty="0">
                <a:latin typeface="Arial" panose="020B0604020202020204" pitchFamily="34" charset="0"/>
                <a:cs typeface="Arial" panose="020B0604020202020204" pitchFamily="34" charset="0"/>
              </a:rPr>
              <a:t>Boeing 747 (4.53/5)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Boeing 777 (4.44/5)</a:t>
            </a:r>
            <a:r>
              <a:rPr lang="en-IN" sz="1400" dirty="0">
                <a:latin typeface="Arial" panose="020B0604020202020204" pitchFamily="34" charset="0"/>
                <a:cs typeface="Arial" panose="020B0604020202020204" pitchFamily="34" charset="0"/>
              </a:rPr>
              <a:t>. These aircraft demonstrate consistently strong customer satisfaction and can serve as benchmarks for service quality across the fleet.</a:t>
            </a:r>
          </a:p>
          <a:p>
            <a:pPr marL="342900" indent="-342900">
              <a:buAutoNum type="alphaUcPeriod"/>
            </a:pPr>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5.  Which countries have higher or lower customer satisfaction?</a:t>
            </a:r>
          </a:p>
          <a:p>
            <a:r>
              <a:rPr lang="en-IN" sz="1400" b="1" dirty="0">
                <a:latin typeface="Arial" panose="020B0604020202020204" pitchFamily="34" charset="0"/>
                <a:cs typeface="Arial" panose="020B0604020202020204" pitchFamily="34" charset="0"/>
              </a:rPr>
              <a:t>A.   </a:t>
            </a:r>
            <a:r>
              <a:rPr lang="en-IN" sz="1400" dirty="0">
                <a:latin typeface="Arial" panose="020B0604020202020204" pitchFamily="34" charset="0"/>
                <a:cs typeface="Arial" panose="020B0604020202020204" pitchFamily="34" charset="0"/>
              </a:rPr>
              <a:t>Customer satisfaction varies across countries, highlighting regional differences in passenger experience. This geographic analysis enables British Airways to identify markets with stronger customer satisfaction while prioritizing improvement initiatives in lower-performing regions.</a:t>
            </a:r>
            <a:endParaRPr lang="en-IN" sz="1400" b="1"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dirty="0"/>
          </a:p>
          <a:p>
            <a:endParaRPr lang="en-US" b="1" dirty="0">
              <a:latin typeface="Arial" panose="020B0604020202020204" pitchFamily="34" charset="0"/>
              <a:cs typeface="Arial" panose="020B0604020202020204" pitchFamily="34" charset="0"/>
            </a:endParaRPr>
          </a:p>
          <a:p>
            <a:pPr marL="342900" indent="-342900">
              <a:buAutoNum type="arabicPeriod"/>
            </a:pPr>
            <a:endParaRPr lang="en-US" dirty="0"/>
          </a:p>
          <a:p>
            <a:pPr marL="342900" indent="-342900">
              <a:buAutoNum type="arabicPeriod"/>
            </a:pPr>
            <a:endParaRPr lang="en-US" dirty="0"/>
          </a:p>
          <a:p>
            <a:endParaRPr lang="en-IN" dirty="0"/>
          </a:p>
        </p:txBody>
      </p:sp>
      <p:sp>
        <p:nvSpPr>
          <p:cNvPr id="4" name="TextBox 3">
            <a:extLst>
              <a:ext uri="{FF2B5EF4-FFF2-40B4-BE49-F238E27FC236}">
                <a16:creationId xmlns:a16="http://schemas.microsoft.com/office/drawing/2014/main" id="{BDAF2971-B9DD-0CB4-B775-CE0D8074EF43}"/>
              </a:ext>
            </a:extLst>
          </p:cNvPr>
          <p:cNvSpPr txBox="1"/>
          <p:nvPr/>
        </p:nvSpPr>
        <p:spPr>
          <a:xfrm>
            <a:off x="3808642" y="337457"/>
            <a:ext cx="4574714" cy="369332"/>
          </a:xfrm>
          <a:prstGeom prst="rect">
            <a:avLst/>
          </a:prstGeom>
          <a:noFill/>
        </p:spPr>
        <p:txBody>
          <a:bodyPr wrap="none" rtlCol="0">
            <a:spAutoFit/>
          </a:bodyPr>
          <a:lstStyle/>
          <a:p>
            <a:pPr algn="ctr"/>
            <a:r>
              <a:rPr lang="en-IN" b="1" dirty="0">
                <a:latin typeface="Arial" panose="020B0604020202020204" pitchFamily="34" charset="0"/>
                <a:cs typeface="Arial" panose="020B0604020202020204" pitchFamily="34" charset="0"/>
              </a:rPr>
              <a:t>Passenger Analysis Dashboard Insights</a:t>
            </a:r>
          </a:p>
        </p:txBody>
      </p:sp>
    </p:spTree>
    <p:extLst>
      <p:ext uri="{BB962C8B-B14F-4D97-AF65-F5344CB8AC3E}">
        <p14:creationId xmlns:p14="http://schemas.microsoft.com/office/powerpoint/2010/main" val="1054147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C0B2B8-0A9A-8EBD-415F-F16A95721F18}"/>
              </a:ext>
            </a:extLst>
          </p:cNvPr>
          <p:cNvSpPr txBox="1"/>
          <p:nvPr/>
        </p:nvSpPr>
        <p:spPr>
          <a:xfrm>
            <a:off x="4033063" y="348733"/>
            <a:ext cx="4125873" cy="369332"/>
          </a:xfrm>
          <a:prstGeom prst="rect">
            <a:avLst/>
          </a:prstGeom>
          <a:noFill/>
        </p:spPr>
        <p:txBody>
          <a:bodyPr wrap="none" rtlCol="0">
            <a:spAutoFit/>
          </a:bodyPr>
          <a:lstStyle/>
          <a:p>
            <a:pPr algn="ctr"/>
            <a:r>
              <a:rPr lang="en-IN" b="1" dirty="0">
                <a:latin typeface="Arial" panose="020B0604020202020204" pitchFamily="34" charset="0"/>
                <a:cs typeface="Arial" panose="020B0604020202020204" pitchFamily="34" charset="0"/>
              </a:rPr>
              <a:t>Service Quality Analysis Dashboard</a:t>
            </a:r>
          </a:p>
        </p:txBody>
      </p:sp>
      <p:pic>
        <p:nvPicPr>
          <p:cNvPr id="4" name="Picture 3">
            <a:extLst>
              <a:ext uri="{FF2B5EF4-FFF2-40B4-BE49-F238E27FC236}">
                <a16:creationId xmlns:a16="http://schemas.microsoft.com/office/drawing/2014/main" id="{B3846E0E-122F-B0C1-D485-84C477AE4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658" y="815647"/>
            <a:ext cx="10874828" cy="5508954"/>
          </a:xfrm>
          <a:prstGeom prst="rect">
            <a:avLst/>
          </a:prstGeom>
        </p:spPr>
      </p:pic>
    </p:spTree>
    <p:extLst>
      <p:ext uri="{BB962C8B-B14F-4D97-AF65-F5344CB8AC3E}">
        <p14:creationId xmlns:p14="http://schemas.microsoft.com/office/powerpoint/2010/main" val="1157066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5EC0C2-F071-9BBB-FD4B-950D81B075C2}"/>
              </a:ext>
            </a:extLst>
          </p:cNvPr>
          <p:cNvSpPr txBox="1"/>
          <p:nvPr/>
        </p:nvSpPr>
        <p:spPr>
          <a:xfrm>
            <a:off x="523057" y="786159"/>
            <a:ext cx="11145885" cy="2677656"/>
          </a:xfrm>
          <a:prstGeom prst="rect">
            <a:avLst/>
          </a:prstGeom>
          <a:noFill/>
        </p:spPr>
        <p:txBody>
          <a:bodyPr wrap="square" rtlCol="0">
            <a:spAutoFit/>
          </a:bodyPr>
          <a:lstStyle/>
          <a:p>
            <a:r>
              <a:rPr lang="en-IN" sz="1400" b="1" dirty="0">
                <a:latin typeface="Arial" panose="020B0604020202020204" pitchFamily="34" charset="0"/>
                <a:cs typeface="Arial" panose="020B0604020202020204" pitchFamily="34" charset="0"/>
              </a:rPr>
              <a:t>Which service areas influence customer satisfaction the most?</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KPI cards:</a:t>
            </a:r>
          </a:p>
          <a:p>
            <a:r>
              <a:rPr lang="en-IN" sz="1400" dirty="0">
                <a:latin typeface="Arial" panose="020B0604020202020204" pitchFamily="34" charset="0"/>
                <a:cs typeface="Arial" panose="020B0604020202020204" pitchFamily="34" charset="0"/>
              </a:rPr>
              <a:t>Cabin Staff: 3.28 </a:t>
            </a:r>
          </a:p>
          <a:p>
            <a:r>
              <a:rPr lang="en-IN" sz="1400" dirty="0">
                <a:latin typeface="Arial" panose="020B0604020202020204" pitchFamily="34" charset="0"/>
                <a:cs typeface="Arial" panose="020B0604020202020204" pitchFamily="34" charset="0"/>
              </a:rPr>
              <a:t>Seat Comfort: 2.88 </a:t>
            </a:r>
          </a:p>
          <a:p>
            <a:r>
              <a:rPr lang="en-IN" sz="1400" dirty="0">
                <a:latin typeface="Arial" panose="020B0604020202020204" pitchFamily="34" charset="0"/>
                <a:cs typeface="Arial" panose="020B0604020202020204" pitchFamily="34" charset="0"/>
              </a:rPr>
              <a:t>Food: 2.39 </a:t>
            </a:r>
          </a:p>
          <a:p>
            <a:r>
              <a:rPr lang="en-IN" sz="1400" dirty="0">
                <a:latin typeface="Arial" panose="020B0604020202020204" pitchFamily="34" charset="0"/>
                <a:cs typeface="Arial" panose="020B0604020202020204" pitchFamily="34" charset="0"/>
              </a:rPr>
              <a:t>Entertainment: 1.44 </a:t>
            </a:r>
          </a:p>
          <a:p>
            <a:r>
              <a:rPr lang="en-IN" sz="1400" dirty="0">
                <a:latin typeface="Arial" panose="020B0604020202020204" pitchFamily="34" charset="0"/>
                <a:cs typeface="Arial" panose="020B0604020202020204" pitchFamily="34" charset="0"/>
              </a:rPr>
              <a:t>Value for Money: 2.79 </a:t>
            </a:r>
          </a:p>
          <a:p>
            <a:r>
              <a:rPr lang="en-IN" sz="1400" dirty="0">
                <a:latin typeface="Arial" panose="020B0604020202020204" pitchFamily="34" charset="0"/>
                <a:cs typeface="Arial" panose="020B0604020202020204" pitchFamily="34" charset="0"/>
              </a:rPr>
              <a:t>Ground Service: 3.03</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Entertainment received the lowest customer rating and appears to be the weakest service area</a:t>
            </a:r>
            <a:r>
              <a:rPr lang="en-IN" sz="1400" dirty="0"/>
              <a:t>.</a:t>
            </a:r>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9011A5E-7C34-5762-E183-D6889AE76B9F}"/>
              </a:ext>
            </a:extLst>
          </p:cNvPr>
          <p:cNvSpPr txBox="1"/>
          <p:nvPr/>
        </p:nvSpPr>
        <p:spPr>
          <a:xfrm>
            <a:off x="3229238" y="416827"/>
            <a:ext cx="5138971" cy="369332"/>
          </a:xfrm>
          <a:prstGeom prst="rect">
            <a:avLst/>
          </a:prstGeom>
          <a:noFill/>
        </p:spPr>
        <p:txBody>
          <a:bodyPr wrap="none" rtlCol="0">
            <a:spAutoFit/>
          </a:bodyPr>
          <a:lstStyle/>
          <a:p>
            <a:pPr algn="ctr"/>
            <a:r>
              <a:rPr lang="en-IN" b="1" dirty="0">
                <a:latin typeface="Arial" panose="020B0604020202020204" pitchFamily="34" charset="0"/>
                <a:cs typeface="Arial" panose="020B0604020202020204" pitchFamily="34" charset="0"/>
              </a:rPr>
              <a:t>Service Quality Analysis Dashboard Insights </a:t>
            </a:r>
          </a:p>
        </p:txBody>
      </p:sp>
      <p:sp>
        <p:nvSpPr>
          <p:cNvPr id="4" name="TextBox 3">
            <a:extLst>
              <a:ext uri="{FF2B5EF4-FFF2-40B4-BE49-F238E27FC236}">
                <a16:creationId xmlns:a16="http://schemas.microsoft.com/office/drawing/2014/main" id="{010C4250-29C0-A5EA-947B-C4BFBAD8E450}"/>
              </a:ext>
            </a:extLst>
          </p:cNvPr>
          <p:cNvSpPr txBox="1"/>
          <p:nvPr/>
        </p:nvSpPr>
        <p:spPr>
          <a:xfrm>
            <a:off x="523057" y="3242176"/>
            <a:ext cx="11145885" cy="3231654"/>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Business Questions and Insights</a:t>
            </a:r>
          </a:p>
          <a:p>
            <a:endParaRPr lang="en-US"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1. Which Aircraft Service Performs Best ?</a:t>
            </a:r>
          </a:p>
          <a:p>
            <a:r>
              <a:rPr lang="en-IN" sz="1400" dirty="0">
                <a:latin typeface="Arial" panose="020B0604020202020204" pitchFamily="34" charset="0"/>
                <a:cs typeface="Arial" panose="020B0604020202020204" pitchFamily="34" charset="0"/>
              </a:rPr>
              <a:t>A. The </a:t>
            </a:r>
            <a:r>
              <a:rPr lang="en-IN" sz="1400" b="1" dirty="0">
                <a:latin typeface="Arial" panose="020B0604020202020204" pitchFamily="34" charset="0"/>
                <a:cs typeface="Arial" panose="020B0604020202020204" pitchFamily="34" charset="0"/>
              </a:rPr>
              <a:t>Boeing 747-400</a:t>
            </a:r>
            <a:r>
              <a:rPr lang="en-IN" sz="1400" dirty="0">
                <a:latin typeface="Arial" panose="020B0604020202020204" pitchFamily="34" charset="0"/>
                <a:cs typeface="Arial" panose="020B0604020202020204" pitchFamily="34" charset="0"/>
              </a:rPr>
              <a:t> achieved the highest overall service rating (</a:t>
            </a:r>
            <a:r>
              <a:rPr lang="en-IN" sz="1400" b="1" dirty="0">
                <a:latin typeface="Arial" panose="020B0604020202020204" pitchFamily="34" charset="0"/>
                <a:cs typeface="Arial" panose="020B0604020202020204" pitchFamily="34" charset="0"/>
              </a:rPr>
              <a:t>4.58/5</a:t>
            </a:r>
            <a:r>
              <a:rPr lang="en-IN" sz="1400" dirty="0">
                <a:latin typeface="Arial" panose="020B0604020202020204" pitchFamily="34" charset="0"/>
                <a:cs typeface="Arial" panose="020B0604020202020204" pitchFamily="34" charset="0"/>
              </a:rPr>
              <a:t>), followed by the </a:t>
            </a:r>
            <a:r>
              <a:rPr lang="en-IN" sz="1400" b="1" dirty="0">
                <a:latin typeface="Arial" panose="020B0604020202020204" pitchFamily="34" charset="0"/>
                <a:cs typeface="Arial" panose="020B0604020202020204" pitchFamily="34" charset="0"/>
              </a:rPr>
              <a:t>Boeing 747 (4.53/5)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Boeing 777 (4.44/5)</a:t>
            </a:r>
            <a:r>
              <a:rPr lang="en-IN" sz="1400" dirty="0">
                <a:latin typeface="Arial" panose="020B0604020202020204" pitchFamily="34" charset="0"/>
                <a:cs typeface="Arial" panose="020B0604020202020204" pitchFamily="34" charset="0"/>
              </a:rPr>
              <a:t>. These aircraft consistently deliver a superior customer experience and can serve as operational benchmarks for the rest of the fleet.</a:t>
            </a: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2. Which Aircraft Receive better cabin crew ratings ?</a:t>
            </a:r>
          </a:p>
          <a:p>
            <a:r>
              <a:rPr lang="en-IN" sz="1400" dirty="0">
                <a:latin typeface="Arial" panose="020B0604020202020204" pitchFamily="34" charset="0"/>
                <a:cs typeface="Arial" panose="020B0604020202020204" pitchFamily="34" charset="0"/>
              </a:rPr>
              <a:t>A. The </a:t>
            </a:r>
            <a:r>
              <a:rPr lang="en-IN" sz="1400" b="1" dirty="0">
                <a:latin typeface="Arial" panose="020B0604020202020204" pitchFamily="34" charset="0"/>
                <a:cs typeface="Arial" panose="020B0604020202020204" pitchFamily="34" charset="0"/>
              </a:rPr>
              <a:t>Boeing 777-200</a:t>
            </a:r>
            <a:r>
              <a:rPr lang="en-IN" sz="1400" dirty="0">
                <a:latin typeface="Arial" panose="020B0604020202020204" pitchFamily="34" charset="0"/>
                <a:cs typeface="Arial" panose="020B0604020202020204" pitchFamily="34" charset="0"/>
              </a:rPr>
              <a:t> received the highest average Cabin Staff Rating (</a:t>
            </a:r>
            <a:r>
              <a:rPr lang="en-IN" sz="1400" b="1" dirty="0">
                <a:latin typeface="Arial" panose="020B0604020202020204" pitchFamily="34" charset="0"/>
                <a:cs typeface="Arial" panose="020B0604020202020204" pitchFamily="34" charset="0"/>
              </a:rPr>
              <a:t>3.58/5</a:t>
            </a:r>
            <a:r>
              <a:rPr lang="en-IN" sz="1400" dirty="0">
                <a:latin typeface="Arial" panose="020B0604020202020204" pitchFamily="34" charset="0"/>
                <a:cs typeface="Arial" panose="020B0604020202020204" pitchFamily="34" charset="0"/>
              </a:rPr>
              <a:t>), followed by the </a:t>
            </a:r>
            <a:r>
              <a:rPr lang="en-IN" sz="1400" b="1" dirty="0">
                <a:latin typeface="Arial" panose="020B0604020202020204" pitchFamily="34" charset="0"/>
                <a:cs typeface="Arial" panose="020B0604020202020204" pitchFamily="34" charset="0"/>
              </a:rPr>
              <a:t>Boeing 787-9 (3.43/5)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Airbus A380 (3.41/5)</a:t>
            </a:r>
            <a:r>
              <a:rPr lang="en-IN" sz="1400" dirty="0">
                <a:latin typeface="Arial" panose="020B0604020202020204" pitchFamily="34" charset="0"/>
                <a:cs typeface="Arial" panose="020B0604020202020204" pitchFamily="34" charset="0"/>
              </a:rPr>
              <a:t>. This suggests passengers perceive cabin crew service to be strongest on these aircraft.</a:t>
            </a:r>
          </a:p>
          <a:p>
            <a:pPr marL="342900" indent="-342900">
              <a:buAutoNum type="alphaUcPeriod"/>
            </a:pP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Which Traveller Type Feels They Receive the Best Value?</a:t>
            </a:r>
          </a:p>
          <a:p>
            <a:r>
              <a:rPr lang="en-IN" sz="1400"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Solo Leisure</a:t>
            </a:r>
            <a:r>
              <a:rPr lang="en-IN" sz="1400" dirty="0">
                <a:latin typeface="Arial" panose="020B0604020202020204" pitchFamily="34" charset="0"/>
                <a:cs typeface="Arial" panose="020B0604020202020204" pitchFamily="34" charset="0"/>
              </a:rPr>
              <a:t> travellers reported the highest </a:t>
            </a:r>
            <a:r>
              <a:rPr lang="en-IN" sz="1400" b="1" dirty="0">
                <a:latin typeface="Arial" panose="020B0604020202020204" pitchFamily="34" charset="0"/>
                <a:cs typeface="Arial" panose="020B0604020202020204" pitchFamily="34" charset="0"/>
              </a:rPr>
              <a:t>Value for Money</a:t>
            </a:r>
            <a:r>
              <a:rPr lang="en-IN" sz="1400" dirty="0">
                <a:latin typeface="Arial" panose="020B0604020202020204" pitchFamily="34" charset="0"/>
                <a:cs typeface="Arial" panose="020B0604020202020204" pitchFamily="34" charset="0"/>
              </a:rPr>
              <a:t> rating (</a:t>
            </a:r>
            <a:r>
              <a:rPr lang="en-IN" sz="1400" b="1" dirty="0">
                <a:latin typeface="Arial" panose="020B0604020202020204" pitchFamily="34" charset="0"/>
                <a:cs typeface="Arial" panose="020B0604020202020204" pitchFamily="34" charset="0"/>
              </a:rPr>
              <a:t>3.15/5</a:t>
            </a:r>
            <a:r>
              <a:rPr lang="en-IN" sz="1400" dirty="0">
                <a:latin typeface="Arial" panose="020B0604020202020204" pitchFamily="34" charset="0"/>
                <a:cs typeface="Arial" panose="020B0604020202020204" pitchFamily="34" charset="0"/>
              </a:rPr>
              <a:t>), followed by </a:t>
            </a:r>
            <a:r>
              <a:rPr lang="en-IN" sz="1400" b="1" dirty="0">
                <a:latin typeface="Arial" panose="020B0604020202020204" pitchFamily="34" charset="0"/>
                <a:cs typeface="Arial" panose="020B0604020202020204" pitchFamily="34" charset="0"/>
              </a:rPr>
              <a:t>Family Leisure (2.95/5)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Couple Leisure (2.81/5)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Business travellers</a:t>
            </a:r>
            <a:r>
              <a:rPr lang="en-IN" sz="1400" dirty="0">
                <a:latin typeface="Arial" panose="020B0604020202020204" pitchFamily="34" charset="0"/>
                <a:cs typeface="Arial" panose="020B0604020202020204" pitchFamily="34" charset="0"/>
              </a:rPr>
              <a:t> gave the lowest value rating (</a:t>
            </a:r>
            <a:r>
              <a:rPr lang="en-IN" sz="1400" b="1" dirty="0">
                <a:latin typeface="Arial" panose="020B0604020202020204" pitchFamily="34" charset="0"/>
                <a:cs typeface="Arial" panose="020B0604020202020204" pitchFamily="34" charset="0"/>
              </a:rPr>
              <a:t>2.22/5</a:t>
            </a:r>
            <a:r>
              <a:rPr lang="en-IN" sz="1400" dirty="0">
                <a:latin typeface="Arial" panose="020B0604020202020204" pitchFamily="34" charset="0"/>
                <a:cs typeface="Arial" panose="020B0604020202020204" pitchFamily="34" charset="0"/>
              </a:rPr>
              <a:t>), indicating that premium travellers perceive less value from the services received.</a:t>
            </a:r>
          </a:p>
        </p:txBody>
      </p:sp>
    </p:spTree>
    <p:extLst>
      <p:ext uri="{BB962C8B-B14F-4D97-AF65-F5344CB8AC3E}">
        <p14:creationId xmlns:p14="http://schemas.microsoft.com/office/powerpoint/2010/main" val="208058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AA2948-A03F-4EC5-EAE4-CFDD8718EACB}"/>
              </a:ext>
            </a:extLst>
          </p:cNvPr>
          <p:cNvSpPr txBox="1"/>
          <p:nvPr/>
        </p:nvSpPr>
        <p:spPr>
          <a:xfrm>
            <a:off x="620486" y="653143"/>
            <a:ext cx="10472057" cy="5078313"/>
          </a:xfrm>
          <a:prstGeom prst="rect">
            <a:avLst/>
          </a:prstGeom>
          <a:noFill/>
        </p:spPr>
        <p:txBody>
          <a:bodyPr wrap="square" rtlCol="0">
            <a:spAutoFit/>
          </a:bodyPr>
          <a:lstStyle/>
          <a:p>
            <a:endParaRPr lang="en-US"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4. Which Seat Class Offers the Best Comfort?</a:t>
            </a:r>
          </a:p>
          <a:p>
            <a:r>
              <a:rPr lang="en-IN" sz="1400"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First Class</a:t>
            </a:r>
            <a:r>
              <a:rPr lang="en-IN" sz="1400" dirty="0">
                <a:latin typeface="Arial" panose="020B0604020202020204" pitchFamily="34" charset="0"/>
                <a:cs typeface="Arial" panose="020B0604020202020204" pitchFamily="34" charset="0"/>
              </a:rPr>
              <a:t> received the highest </a:t>
            </a:r>
            <a:r>
              <a:rPr lang="en-IN" sz="1400" b="1" dirty="0">
                <a:latin typeface="Arial" panose="020B0604020202020204" pitchFamily="34" charset="0"/>
                <a:cs typeface="Arial" panose="020B0604020202020204" pitchFamily="34" charset="0"/>
              </a:rPr>
              <a:t>Seat Comfort Rating (3.55/5)</a:t>
            </a:r>
            <a:r>
              <a:rPr lang="en-IN" sz="1400" dirty="0">
                <a:latin typeface="Arial" panose="020B0604020202020204" pitchFamily="34" charset="0"/>
                <a:cs typeface="Arial" panose="020B0604020202020204" pitchFamily="34" charset="0"/>
              </a:rPr>
              <a:t>, followed by </a:t>
            </a:r>
            <a:r>
              <a:rPr lang="en-IN" sz="1400" b="1" dirty="0">
                <a:latin typeface="Arial" panose="020B0604020202020204" pitchFamily="34" charset="0"/>
                <a:cs typeface="Arial" panose="020B0604020202020204" pitchFamily="34" charset="0"/>
              </a:rPr>
              <a:t>Premium Economy (3.13/5)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Business Class (2.87/5)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Economy Class (2.75/5)</a:t>
            </a:r>
            <a:r>
              <a:rPr lang="en-IN" sz="1400" dirty="0">
                <a:latin typeface="Arial" panose="020B0604020202020204" pitchFamily="34" charset="0"/>
                <a:cs typeface="Arial" panose="020B0604020202020204" pitchFamily="34" charset="0"/>
              </a:rPr>
              <a:t> received comparatively lower comfort ratings, suggesting opportunities to improve seating comfort outside First Class.</a:t>
            </a:r>
          </a:p>
          <a:p>
            <a:endParaRPr lang="en-US" dirty="0"/>
          </a:p>
          <a:p>
            <a:r>
              <a:rPr lang="en-IN" sz="1400" b="1" dirty="0">
                <a:latin typeface="Arial" panose="020B0604020202020204" pitchFamily="34" charset="0"/>
                <a:cs typeface="Arial" panose="020B0604020202020204" pitchFamily="34" charset="0"/>
              </a:rPr>
              <a:t>5. Which Routes Provide the Best Entertainment Experience?</a:t>
            </a:r>
          </a:p>
          <a:p>
            <a:r>
              <a:rPr lang="en-IN" sz="1400"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Vancouver to London</a:t>
            </a:r>
            <a:r>
              <a:rPr lang="en-IN" sz="1400" dirty="0">
                <a:latin typeface="Arial" panose="020B0604020202020204" pitchFamily="34" charset="0"/>
                <a:cs typeface="Arial" panose="020B0604020202020204" pitchFamily="34" charset="0"/>
              </a:rPr>
              <a:t> achieved the highest </a:t>
            </a:r>
            <a:r>
              <a:rPr lang="en-IN" sz="1400" b="1" dirty="0">
                <a:latin typeface="Arial" panose="020B0604020202020204" pitchFamily="34" charset="0"/>
                <a:cs typeface="Arial" panose="020B0604020202020204" pitchFamily="34" charset="0"/>
              </a:rPr>
              <a:t>Entertainment Rating (3.80/5)</a:t>
            </a:r>
            <a:r>
              <a:rPr lang="en-IN" sz="1400" dirty="0">
                <a:latin typeface="Arial" panose="020B0604020202020204" pitchFamily="34" charset="0"/>
                <a:cs typeface="Arial" panose="020B0604020202020204" pitchFamily="34" charset="0"/>
              </a:rPr>
              <a:t>, followed by </a:t>
            </a:r>
            <a:r>
              <a:rPr lang="en-IN" sz="1400" b="1" dirty="0">
                <a:latin typeface="Arial" panose="020B0604020202020204" pitchFamily="34" charset="0"/>
                <a:cs typeface="Arial" panose="020B0604020202020204" pitchFamily="34" charset="0"/>
              </a:rPr>
              <a:t>London to Hong Kong (3.63/5)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Johannesburg to London (3.27/5)</a:t>
            </a:r>
            <a:r>
              <a:rPr lang="en-IN" sz="1400" dirty="0">
                <a:latin typeface="Arial" panose="020B0604020202020204" pitchFamily="34" charset="0"/>
                <a:cs typeface="Arial" panose="020B0604020202020204" pitchFamily="34" charset="0"/>
              </a:rPr>
              <a:t>. Conversely, </a:t>
            </a:r>
            <a:r>
              <a:rPr lang="en-IN" sz="1400" b="1" dirty="0">
                <a:latin typeface="Arial" panose="020B0604020202020204" pitchFamily="34" charset="0"/>
                <a:cs typeface="Arial" panose="020B0604020202020204" pitchFamily="34" charset="0"/>
              </a:rPr>
              <a:t>London to Athens (-0.22)</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Madrid to London (-0.13)</a:t>
            </a:r>
            <a:r>
              <a:rPr lang="en-IN" sz="1400" dirty="0">
                <a:latin typeface="Arial" panose="020B0604020202020204" pitchFamily="34" charset="0"/>
                <a:cs typeface="Arial" panose="020B0604020202020204" pitchFamily="34" charset="0"/>
              </a:rPr>
              <a:t> received the lowest entertainment scores in the dataset and may require further investigation.</a:t>
            </a:r>
          </a:p>
          <a:p>
            <a:endParaRPr lang="en-US" dirty="0"/>
          </a:p>
          <a:p>
            <a:r>
              <a:rPr lang="en-IN" sz="1400" b="1" dirty="0">
                <a:latin typeface="Arial" panose="020B0604020202020204" pitchFamily="34" charset="0"/>
                <a:cs typeface="Arial" panose="020B0604020202020204" pitchFamily="34" charset="0"/>
              </a:rPr>
              <a:t>6. Which Traveller Type Is Most Satisfied with Food?</a:t>
            </a:r>
          </a:p>
          <a:p>
            <a:r>
              <a:rPr lang="en-IN" sz="1400"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Solo Leisure</a:t>
            </a:r>
            <a:r>
              <a:rPr lang="en-IN" sz="1400" dirty="0">
                <a:latin typeface="Arial" panose="020B0604020202020204" pitchFamily="34" charset="0"/>
                <a:cs typeface="Arial" panose="020B0604020202020204" pitchFamily="34" charset="0"/>
              </a:rPr>
              <a:t> travellers reported the highest </a:t>
            </a:r>
            <a:r>
              <a:rPr lang="en-IN" sz="1400" b="1" dirty="0">
                <a:latin typeface="Arial" panose="020B0604020202020204" pitchFamily="34" charset="0"/>
                <a:cs typeface="Arial" panose="020B0604020202020204" pitchFamily="34" charset="0"/>
              </a:rPr>
              <a:t>Food Rating (2.66/5)</a:t>
            </a:r>
            <a:r>
              <a:rPr lang="en-IN" sz="1400" dirty="0">
                <a:latin typeface="Arial" panose="020B0604020202020204" pitchFamily="34" charset="0"/>
                <a:cs typeface="Arial" panose="020B0604020202020204" pitchFamily="34" charset="0"/>
              </a:rPr>
              <a:t>, followed by </a:t>
            </a:r>
            <a:r>
              <a:rPr lang="en-IN" sz="1400" b="1" dirty="0">
                <a:latin typeface="Arial" panose="020B0604020202020204" pitchFamily="34" charset="0"/>
                <a:cs typeface="Arial" panose="020B0604020202020204" pitchFamily="34" charset="0"/>
              </a:rPr>
              <a:t>Family Leisure (2.53/5)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Couple Leisure (2.50/5)</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Business travellers</a:t>
            </a:r>
            <a:r>
              <a:rPr lang="en-IN" sz="1400" dirty="0">
                <a:latin typeface="Arial" panose="020B0604020202020204" pitchFamily="34" charset="0"/>
                <a:cs typeface="Arial" panose="020B0604020202020204" pitchFamily="34" charset="0"/>
              </a:rPr>
              <a:t> provided the lowest food rating (</a:t>
            </a:r>
            <a:r>
              <a:rPr lang="en-IN" sz="1400" b="1" dirty="0">
                <a:latin typeface="Arial" panose="020B0604020202020204" pitchFamily="34" charset="0"/>
                <a:cs typeface="Arial" panose="020B0604020202020204" pitchFamily="34" charset="0"/>
              </a:rPr>
              <a:t>1.86/5</a:t>
            </a:r>
            <a:r>
              <a:rPr lang="en-IN" sz="1400" dirty="0">
                <a:latin typeface="Arial" panose="020B0604020202020204" pitchFamily="34" charset="0"/>
                <a:cs typeface="Arial" panose="020B0604020202020204" pitchFamily="34" charset="0"/>
              </a:rPr>
              <a:t>), indicating an opportunity to enhance meal quality for premium passengers.</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7. </a:t>
            </a:r>
            <a:r>
              <a:rPr lang="en-IN" sz="1400" b="1" dirty="0">
                <a:latin typeface="Arial" panose="020B0604020202020204" pitchFamily="34" charset="0"/>
                <a:cs typeface="Arial" panose="020B0604020202020204" pitchFamily="34" charset="0"/>
              </a:rPr>
              <a:t>Which Countries Deliver Better Ground Service?</a:t>
            </a:r>
          </a:p>
          <a:p>
            <a:r>
              <a:rPr lang="en-IN" sz="1400"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China</a:t>
            </a:r>
            <a:r>
              <a:rPr lang="en-IN" sz="1400" dirty="0">
                <a:latin typeface="Arial" panose="020B0604020202020204" pitchFamily="34" charset="0"/>
                <a:cs typeface="Arial" panose="020B0604020202020204" pitchFamily="34" charset="0"/>
              </a:rPr>
              <a:t> received the highest </a:t>
            </a:r>
            <a:r>
              <a:rPr lang="en-IN" sz="1400" b="1" dirty="0">
                <a:latin typeface="Arial" panose="020B0604020202020204" pitchFamily="34" charset="0"/>
                <a:cs typeface="Arial" panose="020B0604020202020204" pitchFamily="34" charset="0"/>
              </a:rPr>
              <a:t>Ground Service Rating (3.75/5)</a:t>
            </a:r>
            <a:r>
              <a:rPr lang="en-IN" sz="1400" dirty="0">
                <a:latin typeface="Arial" panose="020B0604020202020204" pitchFamily="34" charset="0"/>
                <a:cs typeface="Arial" panose="020B0604020202020204" pitchFamily="34" charset="0"/>
              </a:rPr>
              <a:t>, followed by </a:t>
            </a:r>
            <a:r>
              <a:rPr lang="en-IN" sz="1400" b="1" dirty="0">
                <a:latin typeface="Arial" panose="020B0604020202020204" pitchFamily="34" charset="0"/>
                <a:cs typeface="Arial" panose="020B0604020202020204" pitchFamily="34" charset="0"/>
              </a:rPr>
              <a:t>South Africa (3.44/5)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Canada (3.32/5)</a:t>
            </a:r>
            <a:r>
              <a:rPr lang="en-IN" sz="1400" dirty="0">
                <a:latin typeface="Arial" panose="020B0604020202020204" pitchFamily="34" charset="0"/>
                <a:cs typeface="Arial" panose="020B0604020202020204" pitchFamily="34" charset="0"/>
              </a:rPr>
              <a:t>. These countries demonstrate comparatively stronger ground service performance and can serve as benchmarks for improving service quality in lower-performing markets.</a:t>
            </a:r>
          </a:p>
          <a:p>
            <a:endParaRPr lang="en-IN" dirty="0"/>
          </a:p>
          <a:p>
            <a:r>
              <a:rPr lang="en-US" dirty="0"/>
              <a:t> </a:t>
            </a:r>
            <a:endParaRPr lang="en-IN" dirty="0"/>
          </a:p>
        </p:txBody>
      </p:sp>
    </p:spTree>
    <p:extLst>
      <p:ext uri="{BB962C8B-B14F-4D97-AF65-F5344CB8AC3E}">
        <p14:creationId xmlns:p14="http://schemas.microsoft.com/office/powerpoint/2010/main" val="3526561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4914B4-BB7E-AA17-CF47-E86FDB4D7512}"/>
              </a:ext>
            </a:extLst>
          </p:cNvPr>
          <p:cNvSpPr txBox="1"/>
          <p:nvPr/>
        </p:nvSpPr>
        <p:spPr>
          <a:xfrm>
            <a:off x="587828" y="272142"/>
            <a:ext cx="10853058" cy="1661993"/>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Operational Insights Dashboard</a:t>
            </a:r>
          </a:p>
          <a:p>
            <a:pPr algn="ctr"/>
            <a:endParaRPr lang="en-US" sz="2400"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IN"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D2958605-6B15-3FFB-FE95-3322F9073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9086" y="696686"/>
            <a:ext cx="10591800" cy="5802085"/>
          </a:xfrm>
          <a:prstGeom prst="rect">
            <a:avLst/>
          </a:prstGeom>
        </p:spPr>
      </p:pic>
    </p:spTree>
    <p:extLst>
      <p:ext uri="{BB962C8B-B14F-4D97-AF65-F5344CB8AC3E}">
        <p14:creationId xmlns:p14="http://schemas.microsoft.com/office/powerpoint/2010/main" val="3758894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35D222-44C4-0206-5DB5-F7B151620ED8}"/>
              </a:ext>
            </a:extLst>
          </p:cNvPr>
          <p:cNvSpPr txBox="1"/>
          <p:nvPr/>
        </p:nvSpPr>
        <p:spPr>
          <a:xfrm>
            <a:off x="478970" y="305966"/>
            <a:ext cx="11125201"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Operational Business Questions and Insights</a:t>
            </a:r>
            <a:endParaRPr lang="en-IN" b="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01F30AF-E3CC-1C8D-7138-76A6A5E8D7A8}"/>
              </a:ext>
            </a:extLst>
          </p:cNvPr>
          <p:cNvSpPr txBox="1"/>
          <p:nvPr/>
        </p:nvSpPr>
        <p:spPr>
          <a:xfrm>
            <a:off x="370112" y="849469"/>
            <a:ext cx="11647716" cy="6124754"/>
          </a:xfrm>
          <a:prstGeom prst="rect">
            <a:avLst/>
          </a:prstGeom>
          <a:noFill/>
        </p:spPr>
        <p:txBody>
          <a:bodyPr wrap="square" rtlCol="0">
            <a:spAutoFit/>
          </a:bodyPr>
          <a:lstStyle/>
          <a:p>
            <a:pPr marL="342900" indent="-342900">
              <a:buAutoNum type="arabicPeriod"/>
            </a:pPr>
            <a:r>
              <a:rPr lang="en-US" sz="1400" b="1" dirty="0">
                <a:latin typeface="Arial" panose="020B0604020202020204" pitchFamily="34" charset="0"/>
                <a:cs typeface="Arial" panose="020B0604020202020204" pitchFamily="34" charset="0"/>
              </a:rPr>
              <a:t>Which aircraft receive the lowest customer ratings and require operational improvements ?</a:t>
            </a:r>
          </a:p>
          <a:p>
            <a:r>
              <a:rPr lang="en-US" sz="1400" b="1" dirty="0">
                <a:latin typeface="Arial" panose="020B0604020202020204" pitchFamily="34" charset="0"/>
                <a:cs typeface="Arial" panose="020B0604020202020204" pitchFamily="34" charset="0"/>
              </a:rPr>
              <a:t>A. </a:t>
            </a:r>
            <a:r>
              <a:rPr lang="en-IN" sz="1400" dirty="0">
                <a:latin typeface="Arial" panose="020B0604020202020204" pitchFamily="34" charset="0"/>
                <a:cs typeface="Arial" panose="020B0604020202020204" pitchFamily="34" charset="0"/>
              </a:rPr>
              <a:t>The </a:t>
            </a:r>
            <a:r>
              <a:rPr lang="en-IN" sz="1400" b="1" dirty="0">
                <a:latin typeface="Arial" panose="020B0604020202020204" pitchFamily="34" charset="0"/>
                <a:cs typeface="Arial" panose="020B0604020202020204" pitchFamily="34" charset="0"/>
              </a:rPr>
              <a:t>A380-800</a:t>
            </a:r>
            <a:r>
              <a:rPr lang="en-IN" sz="1400" dirty="0">
                <a:latin typeface="Arial" panose="020B0604020202020204" pitchFamily="34" charset="0"/>
                <a:cs typeface="Arial" panose="020B0604020202020204" pitchFamily="34" charset="0"/>
              </a:rPr>
              <a:t> has the lowest customer satisfaction score (approximately </a:t>
            </a:r>
            <a:r>
              <a:rPr lang="en-IN" sz="1400" b="1" dirty="0">
                <a:latin typeface="Arial" panose="020B0604020202020204" pitchFamily="34" charset="0"/>
                <a:cs typeface="Arial" panose="020B0604020202020204" pitchFamily="34" charset="0"/>
              </a:rPr>
              <a:t>2/10</a:t>
            </a:r>
            <a:r>
              <a:rPr lang="en-IN" sz="1400" dirty="0">
                <a:latin typeface="Arial" panose="020B0604020202020204" pitchFamily="34" charset="0"/>
                <a:cs typeface="Arial" panose="020B0604020202020204" pitchFamily="34" charset="0"/>
              </a:rPr>
              <a:t>), making it the highest priority for operational review.</a:t>
            </a:r>
          </a:p>
          <a:p>
            <a:r>
              <a:rPr lang="en-IN" sz="1400" b="1" dirty="0">
                <a:latin typeface="Arial" panose="020B0604020202020204" pitchFamily="34" charset="0"/>
                <a:cs typeface="Arial" panose="020B0604020202020204" pitchFamily="34" charset="0"/>
              </a:rPr>
              <a:t>    A321 Neo</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Boeing 787 / A320</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A320 Neo</a:t>
            </a:r>
            <a:r>
              <a:rPr lang="en-IN" sz="1400" dirty="0">
                <a:latin typeface="Arial" panose="020B0604020202020204" pitchFamily="34" charset="0"/>
                <a:cs typeface="Arial" panose="020B0604020202020204" pitchFamily="34" charset="0"/>
              </a:rPr>
              <a:t> also receive comparatively low ratings, suggesting recurring customer experience issues.</a:t>
            </a:r>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2. Which aircraft consistently deliver the highest customer satisfaction?</a:t>
            </a:r>
          </a:p>
          <a:p>
            <a:r>
              <a:rPr lang="en-US" sz="1400" b="1" dirty="0">
                <a:latin typeface="Arial" panose="020B0604020202020204" pitchFamily="34" charset="0"/>
                <a:cs typeface="Arial" panose="020B0604020202020204" pitchFamily="34" charset="0"/>
              </a:rPr>
              <a:t>A. </a:t>
            </a:r>
            <a:r>
              <a:rPr lang="en-IN" sz="1400" b="1" dirty="0">
                <a:latin typeface="Arial" panose="020B0604020202020204" pitchFamily="34" charset="0"/>
                <a:cs typeface="Arial" panose="020B0604020202020204" pitchFamily="34" charset="0"/>
              </a:rPr>
              <a:t>The A350</a:t>
            </a:r>
            <a:r>
              <a:rPr lang="en-IN" sz="1400" dirty="0">
                <a:latin typeface="Arial" panose="020B0604020202020204" pitchFamily="34" charset="0"/>
                <a:cs typeface="Arial" panose="020B0604020202020204" pitchFamily="34" charset="0"/>
              </a:rPr>
              <a:t> receives the highest average customer satisfaction rating (</a:t>
            </a:r>
            <a:r>
              <a:rPr lang="en-IN" sz="1400" b="1" dirty="0">
                <a:latin typeface="Arial" panose="020B0604020202020204" pitchFamily="34" charset="0"/>
                <a:cs typeface="Arial" panose="020B0604020202020204" pitchFamily="34" charset="0"/>
              </a:rPr>
              <a:t>5.94/10</a:t>
            </a:r>
            <a:r>
              <a:rPr lang="en-IN" sz="1400" dirty="0">
                <a:latin typeface="Arial" panose="020B0604020202020204" pitchFamily="34" charset="0"/>
                <a:cs typeface="Arial" panose="020B0604020202020204" pitchFamily="34" charset="0"/>
              </a:rPr>
              <a:t>) among aircraft with sufficient customer feedback, indicating a consistently positive passenger experience. </a:t>
            </a:r>
            <a:r>
              <a:rPr lang="en-IN" sz="1400" b="1" dirty="0">
                <a:latin typeface="Arial" panose="020B0604020202020204" pitchFamily="34" charset="0"/>
                <a:cs typeface="Arial" panose="020B0604020202020204" pitchFamily="34" charset="0"/>
              </a:rPr>
              <a:t>Boeing 777-300ER</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Boeing 747-400</a:t>
            </a:r>
            <a:r>
              <a:rPr lang="en-IN" sz="1400" dirty="0">
                <a:latin typeface="Arial" panose="020B0604020202020204" pitchFamily="34" charset="0"/>
                <a:cs typeface="Arial" panose="020B0604020202020204" pitchFamily="34" charset="0"/>
              </a:rPr>
              <a:t> also perform well, suggesting these aircraft deliver a strong overall travel experience. These aircraft can serve as </a:t>
            </a:r>
            <a:r>
              <a:rPr lang="en-IN" sz="1400" b="1" dirty="0">
                <a:latin typeface="Arial" panose="020B0604020202020204" pitchFamily="34" charset="0"/>
                <a:cs typeface="Arial" panose="020B0604020202020204" pitchFamily="34" charset="0"/>
              </a:rPr>
              <a:t>benchmarks</a:t>
            </a:r>
            <a:r>
              <a:rPr lang="en-IN" sz="1400" dirty="0">
                <a:latin typeface="Arial" panose="020B0604020202020204" pitchFamily="34" charset="0"/>
                <a:cs typeface="Arial" panose="020B0604020202020204" pitchFamily="34" charset="0"/>
              </a:rPr>
              <a:t> for improving service quality across the rest of the fleet.</a:t>
            </a:r>
            <a:endParaRPr lang="en-US" sz="1400" dirty="0">
              <a:latin typeface="Arial" panose="020B0604020202020204" pitchFamily="34" charset="0"/>
              <a:cs typeface="Arial" panose="020B0604020202020204" pitchFamily="34" charset="0"/>
            </a:endParaRP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3. Which flight routes provide the best customer experience ?</a:t>
            </a:r>
          </a:p>
          <a:p>
            <a:r>
              <a:rPr lang="en-IN" sz="1400" b="1" dirty="0">
                <a:latin typeface="Arial" panose="020B0604020202020204" pitchFamily="34" charset="0"/>
                <a:cs typeface="Arial" panose="020B0604020202020204" pitchFamily="34" charset="0"/>
              </a:rPr>
              <a:t>A</a:t>
            </a:r>
            <a:r>
              <a:rPr lang="en-IN" sz="1400" dirty="0">
                <a:latin typeface="Arial" panose="020B0604020202020204" pitchFamily="34" charset="0"/>
                <a:cs typeface="Arial" panose="020B0604020202020204" pitchFamily="34" charset="0"/>
              </a:rPr>
              <a:t>. The analysis indicates that </a:t>
            </a:r>
            <a:r>
              <a:rPr lang="en-IN" sz="1400" b="1" dirty="0">
                <a:latin typeface="Arial" panose="020B0604020202020204" pitchFamily="34" charset="0"/>
                <a:cs typeface="Arial" panose="020B0604020202020204" pitchFamily="34" charset="0"/>
              </a:rPr>
              <a:t>Hong Kong–London, Bangkok–London</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Toronto–London </a:t>
            </a:r>
            <a:r>
              <a:rPr lang="en-IN" sz="1400" dirty="0">
                <a:latin typeface="Arial" panose="020B0604020202020204" pitchFamily="34" charset="0"/>
                <a:cs typeface="Arial" panose="020B0604020202020204" pitchFamily="34" charset="0"/>
              </a:rPr>
              <a:t>deliver the best customer experience, achieving the highest average overall ratings of </a:t>
            </a:r>
            <a:r>
              <a:rPr lang="en-IN" sz="1400" b="1" dirty="0">
                <a:latin typeface="Arial" panose="020B0604020202020204" pitchFamily="34" charset="0"/>
                <a:cs typeface="Arial" panose="020B0604020202020204" pitchFamily="34" charset="0"/>
              </a:rPr>
              <a:t>6.83, 6.20, </a:t>
            </a:r>
            <a:r>
              <a:rPr lang="en-IN" sz="1400" dirty="0">
                <a:latin typeface="Arial" panose="020B0604020202020204" pitchFamily="34" charset="0"/>
                <a:cs typeface="Arial" panose="020B0604020202020204" pitchFamily="34" charset="0"/>
              </a:rPr>
              <a:t>and</a:t>
            </a:r>
            <a:r>
              <a:rPr lang="en-IN" sz="1400" b="1" dirty="0">
                <a:latin typeface="Arial" panose="020B0604020202020204" pitchFamily="34" charset="0"/>
                <a:cs typeface="Arial" panose="020B0604020202020204" pitchFamily="34" charset="0"/>
              </a:rPr>
              <a:t> 6.00</a:t>
            </a:r>
            <a:r>
              <a:rPr lang="en-IN" sz="1400" dirty="0">
                <a:latin typeface="Arial" panose="020B0604020202020204" pitchFamily="34" charset="0"/>
                <a:cs typeface="Arial" panose="020B0604020202020204" pitchFamily="34" charset="0"/>
              </a:rPr>
              <a:t>, respectively. These routes consistently receive positive customer feedback, reflecting strong service quality and passenger satisfaction.</a:t>
            </a:r>
          </a:p>
          <a:p>
            <a:pPr marL="342900" indent="-342900">
              <a:buAutoNum type="alphaUcPeriod"/>
            </a:pP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4. Which routes consistently receive poor customer ratings?</a:t>
            </a:r>
          </a:p>
          <a:p>
            <a:pPr marL="342900" indent="-342900">
              <a:buAutoNum type="alphaUcPeriod"/>
            </a:pPr>
            <a:r>
              <a:rPr lang="en-IN" sz="1400" dirty="0">
                <a:latin typeface="Arial" panose="020B0604020202020204" pitchFamily="34" charset="0"/>
                <a:cs typeface="Arial" panose="020B0604020202020204" pitchFamily="34" charset="0"/>
              </a:rPr>
              <a:t>The analysis shows that </a:t>
            </a:r>
            <a:r>
              <a:rPr lang="en-IN" sz="1400" b="1" dirty="0">
                <a:latin typeface="Arial" panose="020B0604020202020204" pitchFamily="34" charset="0"/>
                <a:cs typeface="Arial" panose="020B0604020202020204" pitchFamily="34" charset="0"/>
              </a:rPr>
              <a:t>London Heathrow–Sofia</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Johannesburg–London</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Cape Town–London</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LHR–HKG</a:t>
            </a:r>
            <a:r>
              <a:rPr lang="en-IN" sz="1400" dirty="0">
                <a:latin typeface="Arial" panose="020B0604020202020204" pitchFamily="34" charset="0"/>
                <a:cs typeface="Arial" panose="020B0604020202020204" pitchFamily="34" charset="0"/>
              </a:rPr>
              <a:t> receive the lowest customer satisfaction scores, with average ratings of </a:t>
            </a:r>
            <a:r>
              <a:rPr lang="en-IN" sz="1400" b="1" dirty="0">
                <a:latin typeface="Arial" panose="020B0604020202020204" pitchFamily="34" charset="0"/>
                <a:cs typeface="Arial" panose="020B0604020202020204" pitchFamily="34" charset="0"/>
              </a:rPr>
              <a:t>1.60</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2.00</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2.33</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2.57</a:t>
            </a:r>
            <a:r>
              <a:rPr lang="en-IN" sz="1400" dirty="0">
                <a:latin typeface="Arial" panose="020B0604020202020204" pitchFamily="34" charset="0"/>
                <a:cs typeface="Arial" panose="020B0604020202020204" pitchFamily="34" charset="0"/>
              </a:rPr>
              <a:t>, respectively. These routes consistently underperform compared to others.</a:t>
            </a:r>
          </a:p>
          <a:p>
            <a:r>
              <a:rPr lang="en-IN" sz="1400" b="1" dirty="0">
                <a:latin typeface="Arial" panose="020B0604020202020204" pitchFamily="34" charset="0"/>
                <a:cs typeface="Arial" panose="020B0604020202020204" pitchFamily="34" charset="0"/>
              </a:rPr>
              <a:t>5. Which traveller segments are most likely to recommend British Airways?</a:t>
            </a:r>
          </a:p>
          <a:p>
            <a:r>
              <a:rPr lang="en-IN" sz="1400" b="1" dirty="0">
                <a:latin typeface="Arial" panose="020B0604020202020204" pitchFamily="34" charset="0"/>
                <a:cs typeface="Arial" panose="020B0604020202020204" pitchFamily="34" charset="0"/>
              </a:rPr>
              <a:t>A. </a:t>
            </a:r>
            <a:r>
              <a:rPr lang="en-IN" sz="1400" dirty="0">
                <a:latin typeface="Arial" panose="020B0604020202020204" pitchFamily="34" charset="0"/>
                <a:cs typeface="Arial" panose="020B0604020202020204" pitchFamily="34" charset="0"/>
              </a:rPr>
              <a:t>Among all traveller segments, </a:t>
            </a:r>
            <a:r>
              <a:rPr lang="en-IN" sz="1400" b="1" dirty="0">
                <a:latin typeface="Arial" panose="020B0604020202020204" pitchFamily="34" charset="0"/>
                <a:cs typeface="Arial" panose="020B0604020202020204" pitchFamily="34" charset="0"/>
              </a:rPr>
              <a:t>Solo Leisure</a:t>
            </a:r>
            <a:r>
              <a:rPr lang="en-IN" sz="1400" dirty="0">
                <a:latin typeface="Arial" panose="020B0604020202020204" pitchFamily="34" charset="0"/>
                <a:cs typeface="Arial" panose="020B0604020202020204" pitchFamily="34" charset="0"/>
              </a:rPr>
              <a:t> passengers are the most likely to recommend British Airways, with a recommendation rate of </a:t>
            </a:r>
            <a:r>
              <a:rPr lang="en-IN" sz="1400" b="1" dirty="0">
                <a:latin typeface="Arial" panose="020B0604020202020204" pitchFamily="34" charset="0"/>
                <a:cs typeface="Arial" panose="020B0604020202020204" pitchFamily="34" charset="0"/>
              </a:rPr>
              <a:t>54.47%</a:t>
            </a:r>
            <a:r>
              <a:rPr lang="en-IN" sz="1400" dirty="0">
                <a:latin typeface="Arial" panose="020B0604020202020204" pitchFamily="34" charset="0"/>
                <a:cs typeface="Arial" panose="020B0604020202020204" pitchFamily="34" charset="0"/>
              </a:rPr>
              <a:t>. This is followed by </a:t>
            </a:r>
            <a:r>
              <a:rPr lang="en-IN" sz="1400" b="1" dirty="0">
                <a:latin typeface="Arial" panose="020B0604020202020204" pitchFamily="34" charset="0"/>
                <a:cs typeface="Arial" panose="020B0604020202020204" pitchFamily="34" charset="0"/>
              </a:rPr>
              <a:t>Family Leisure (51.50%)</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Couple Leisure (43.25%)</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Business travellers (25.40%)</a:t>
            </a:r>
            <a:r>
              <a:rPr lang="en-IN" sz="1400" dirty="0">
                <a:latin typeface="Arial" panose="020B0604020202020204" pitchFamily="34" charset="0"/>
                <a:cs typeface="Arial" panose="020B0604020202020204" pitchFamily="34" charset="0"/>
              </a:rPr>
              <a:t>.</a:t>
            </a:r>
            <a:endParaRPr lang="en-IN" sz="1400" b="1"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6. Which seat class provides the best perceived value for money ?</a:t>
            </a:r>
          </a:p>
          <a:p>
            <a:r>
              <a:rPr lang="en-IN" sz="1400" b="1" dirty="0">
                <a:latin typeface="Arial" panose="020B0604020202020204" pitchFamily="34" charset="0"/>
                <a:cs typeface="Arial" panose="020B0604020202020204" pitchFamily="34" charset="0"/>
              </a:rPr>
              <a:t>A</a:t>
            </a:r>
            <a:r>
              <a:rPr lang="en-IN" sz="1400" dirty="0">
                <a:latin typeface="Arial" panose="020B0604020202020204" pitchFamily="34" charset="0"/>
                <a:cs typeface="Arial" panose="020B0604020202020204" pitchFamily="34" charset="0"/>
              </a:rPr>
              <a:t>. The analysis reveals that </a:t>
            </a:r>
            <a:r>
              <a:rPr lang="en-IN" sz="1400" b="1" dirty="0">
                <a:latin typeface="Arial" panose="020B0604020202020204" pitchFamily="34" charset="0"/>
                <a:cs typeface="Arial" panose="020B0604020202020204" pitchFamily="34" charset="0"/>
              </a:rPr>
              <a:t>Economy Class</a:t>
            </a:r>
            <a:r>
              <a:rPr lang="en-IN" sz="1400" dirty="0">
                <a:latin typeface="Arial" panose="020B0604020202020204" pitchFamily="34" charset="0"/>
                <a:cs typeface="Arial" panose="020B0604020202020204" pitchFamily="34" charset="0"/>
              </a:rPr>
              <a:t> offers the highest perceived value for money, with an average score of </a:t>
            </a:r>
            <a:r>
              <a:rPr lang="en-IN" sz="1400" b="1" dirty="0">
                <a:latin typeface="Arial" panose="020B0604020202020204" pitchFamily="34" charset="0"/>
                <a:cs typeface="Arial" panose="020B0604020202020204" pitchFamily="34" charset="0"/>
              </a:rPr>
              <a:t>4.38</a:t>
            </a:r>
            <a:r>
              <a:rPr lang="en-IN" sz="1400" dirty="0">
                <a:latin typeface="Arial" panose="020B0604020202020204" pitchFamily="34" charset="0"/>
                <a:cs typeface="Arial" panose="020B0604020202020204" pitchFamily="34" charset="0"/>
              </a:rPr>
              <a:t>, followed closely by </a:t>
            </a:r>
            <a:r>
              <a:rPr lang="en-IN" sz="1400" b="1" dirty="0">
                <a:latin typeface="Arial" panose="020B0604020202020204" pitchFamily="34" charset="0"/>
                <a:cs typeface="Arial" panose="020B0604020202020204" pitchFamily="34" charset="0"/>
              </a:rPr>
              <a:t>First Class (4.36)</a:t>
            </a:r>
            <a:r>
              <a:rPr lang="en-IN" sz="1400" dirty="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Premium Economy (4.20)</a:t>
            </a:r>
            <a:r>
              <a:rPr lang="en-IN" sz="1400" dirty="0">
                <a:latin typeface="Arial" panose="020B0604020202020204" pitchFamily="34" charset="0"/>
                <a:cs typeface="Arial" panose="020B0604020202020204" pitchFamily="34" charset="0"/>
              </a:rPr>
              <a:t>, and </a:t>
            </a:r>
            <a:r>
              <a:rPr lang="en-IN" sz="1400" b="1" dirty="0">
                <a:latin typeface="Arial" panose="020B0604020202020204" pitchFamily="34" charset="0"/>
                <a:cs typeface="Arial" panose="020B0604020202020204" pitchFamily="34" charset="0"/>
              </a:rPr>
              <a:t>Business Class (3.94)</a:t>
            </a:r>
            <a:r>
              <a:rPr lang="en-IN"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a:p>
            <a:endParaRPr lang="en-IN"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0971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31A743-152A-FDD1-8868-4660BFC669C0}"/>
              </a:ext>
            </a:extLst>
          </p:cNvPr>
          <p:cNvSpPr txBox="1"/>
          <p:nvPr/>
        </p:nvSpPr>
        <p:spPr>
          <a:xfrm>
            <a:off x="435425" y="1154982"/>
            <a:ext cx="11103429" cy="5262979"/>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1. Improve Customer Satisfaction and Brand Reputation</a:t>
            </a:r>
          </a:p>
          <a:p>
            <a:pPr>
              <a:buNone/>
            </a:pPr>
            <a:r>
              <a:rPr lang="en-IN" sz="1400" dirty="0">
                <a:latin typeface="Arial" panose="020B0604020202020204" pitchFamily="34" charset="0"/>
                <a:cs typeface="Arial" panose="020B0604020202020204" pitchFamily="34" charset="0"/>
              </a:rPr>
              <a:t>The analysis identifies the factors that have the strongest influence on passengers' overall ratings. By focusing on improving underperforming services such as entertainment, food, ground service, or value for money (where applicable), British Airways can increase customer satisfaction and strengthen its premium brand image.</a:t>
            </a: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Higher customer satisfaction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Better online reviews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Increased recommendation rate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Improved brand reputation</a:t>
            </a:r>
          </a:p>
          <a:p>
            <a:pPr>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2. Prioritize Investments Based on Customer Feedback</a:t>
            </a:r>
          </a:p>
          <a:p>
            <a:r>
              <a:rPr lang="en-IN" sz="1400" dirty="0">
                <a:latin typeface="Arial" panose="020B0604020202020204" pitchFamily="34" charset="0"/>
                <a:cs typeface="Arial" panose="020B0604020202020204" pitchFamily="34" charset="0"/>
              </a:rPr>
              <a:t>Instead of investing equally across all services, the dashboards help management identify which service categories contribute most to positive or negative customer experiences.</a:t>
            </a:r>
          </a:p>
          <a:p>
            <a:r>
              <a:rPr lang="en-IN" sz="1400" dirty="0">
                <a:latin typeface="Arial" panose="020B0604020202020204" pitchFamily="34" charset="0"/>
                <a:cs typeface="Arial" panose="020B0604020202020204" pitchFamily="34" charset="0"/>
              </a:rPr>
              <a:t>Cabin Staff Service consistently receives high ratings. </a:t>
            </a:r>
          </a:p>
          <a:p>
            <a:r>
              <a:rPr lang="en-IN" sz="1400" dirty="0">
                <a:latin typeface="Arial" panose="020B0604020202020204" pitchFamily="34" charset="0"/>
                <a:cs typeface="Arial" panose="020B0604020202020204" pitchFamily="34" charset="0"/>
              </a:rPr>
              <a:t>Certain operational areas receive comparatively lower ratings. </a:t>
            </a:r>
          </a:p>
          <a:p>
            <a:r>
              <a:rPr lang="en-IN" sz="1400" dirty="0">
                <a:latin typeface="Arial" panose="020B0604020202020204" pitchFamily="34" charset="0"/>
                <a:cs typeface="Arial" panose="020B0604020202020204" pitchFamily="34" charset="0"/>
              </a:rPr>
              <a:t>This allows decision-makers to prioritize investments where they will have the greatest customer impact rather than spending resources uniformly.</a:t>
            </a:r>
          </a:p>
          <a:p>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Better ROI on operational investments </a:t>
            </a:r>
          </a:p>
          <a:p>
            <a:r>
              <a:rPr lang="en-IN" sz="1400" dirty="0">
                <a:latin typeface="Arial" panose="020B0604020202020204" pitchFamily="34" charset="0"/>
                <a:cs typeface="Arial" panose="020B0604020202020204" pitchFamily="34" charset="0"/>
              </a:rPr>
              <a:t>Data-driven budgeting </a:t>
            </a:r>
          </a:p>
          <a:p>
            <a:r>
              <a:rPr lang="en-IN" sz="1400" dirty="0">
                <a:latin typeface="Arial" panose="020B0604020202020204" pitchFamily="34" charset="0"/>
                <a:cs typeface="Arial" panose="020B0604020202020204" pitchFamily="34" charset="0"/>
              </a:rPr>
              <a:t>Reduced unnecessary spending</a:t>
            </a: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A2F73F6-5A89-A60E-393B-F167B08AC0A4}"/>
              </a:ext>
            </a:extLst>
          </p:cNvPr>
          <p:cNvSpPr txBox="1"/>
          <p:nvPr/>
        </p:nvSpPr>
        <p:spPr>
          <a:xfrm>
            <a:off x="5079681" y="457199"/>
            <a:ext cx="1814919" cy="338554"/>
          </a:xfrm>
          <a:prstGeom prst="rect">
            <a:avLst/>
          </a:prstGeom>
          <a:noFill/>
        </p:spPr>
        <p:txBody>
          <a:bodyPr wrap="none" rtlCol="0">
            <a:spAutoFit/>
          </a:bodyPr>
          <a:lstStyle/>
          <a:p>
            <a:pPr algn="ctr"/>
            <a:r>
              <a:rPr lang="en-IN" sz="1600" b="1" dirty="0">
                <a:latin typeface="Arial" panose="020B0604020202020204" pitchFamily="34" charset="0"/>
                <a:cs typeface="Arial" panose="020B0604020202020204" pitchFamily="34" charset="0"/>
              </a:rPr>
              <a:t>Business Impact</a:t>
            </a:r>
          </a:p>
        </p:txBody>
      </p:sp>
    </p:spTree>
    <p:extLst>
      <p:ext uri="{BB962C8B-B14F-4D97-AF65-F5344CB8AC3E}">
        <p14:creationId xmlns:p14="http://schemas.microsoft.com/office/powerpoint/2010/main" val="1209940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534197-0753-663F-554B-0088C79799A0}"/>
              </a:ext>
            </a:extLst>
          </p:cNvPr>
          <p:cNvSpPr txBox="1"/>
          <p:nvPr/>
        </p:nvSpPr>
        <p:spPr>
          <a:xfrm>
            <a:off x="394542" y="612943"/>
            <a:ext cx="5135402" cy="5047536"/>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3. Improve Route-Level Performance</a:t>
            </a:r>
          </a:p>
          <a:p>
            <a:pPr>
              <a:buNone/>
            </a:pPr>
            <a:r>
              <a:rPr lang="en-IN" sz="1400" dirty="0">
                <a:latin typeface="Arial" panose="020B0604020202020204" pitchFamily="34" charset="0"/>
                <a:cs typeface="Arial" panose="020B0604020202020204" pitchFamily="34" charset="0"/>
              </a:rPr>
              <a:t>The Route Analysis highlights routes that consistently receive poor customer ratings.</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London Heathrow – Sofia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Johannesburg – London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Cape Town – London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London Heathrow – Hong Kong </a:t>
            </a:r>
          </a:p>
          <a:p>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Management can investigate these routes to determine whether issues are related to:</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flight delays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aircraft quality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staffing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catering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airport handling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route-specific operational challenges </a:t>
            </a:r>
          </a:p>
          <a:p>
            <a:pPr>
              <a:buNone/>
            </a:pPr>
            <a:r>
              <a:rPr lang="en-IN" sz="1400" dirty="0">
                <a:latin typeface="Arial" panose="020B0604020202020204" pitchFamily="34" charset="0"/>
                <a:cs typeface="Arial" panose="020B0604020202020204" pitchFamily="34" charset="0"/>
              </a:rPr>
              <a:t>Similarly, highly rated routes can be studied to identify best practices that can be replicated elsewhere.</a:t>
            </a:r>
          </a:p>
          <a:p>
            <a:pPr>
              <a:buNone/>
            </a:pPr>
            <a:endParaRPr lang="en-IN" sz="1400"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Higher route profitability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Better passenger experience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Standardized service quality</a:t>
            </a:r>
          </a:p>
        </p:txBody>
      </p:sp>
      <p:sp>
        <p:nvSpPr>
          <p:cNvPr id="5" name="TextBox 4">
            <a:extLst>
              <a:ext uri="{FF2B5EF4-FFF2-40B4-BE49-F238E27FC236}">
                <a16:creationId xmlns:a16="http://schemas.microsoft.com/office/drawing/2014/main" id="{4AF9FB72-B3C0-405D-8DE6-F7986566FCFF}"/>
              </a:ext>
            </a:extLst>
          </p:cNvPr>
          <p:cNvSpPr txBox="1"/>
          <p:nvPr/>
        </p:nvSpPr>
        <p:spPr>
          <a:xfrm>
            <a:off x="5867400" y="612943"/>
            <a:ext cx="5660571" cy="4401205"/>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4. Optimize Aircraft Utilization</a:t>
            </a:r>
          </a:p>
          <a:p>
            <a:pPr>
              <a:buNone/>
            </a:pPr>
            <a:r>
              <a:rPr lang="en-IN" sz="1400" dirty="0">
                <a:latin typeface="Arial" panose="020B0604020202020204" pitchFamily="34" charset="0"/>
                <a:cs typeface="Arial" panose="020B0604020202020204" pitchFamily="34" charset="0"/>
              </a:rPr>
              <a:t>The Aircraft Analysis identifies which aircraft types consistently provide better customer experiences.</a:t>
            </a:r>
          </a:p>
          <a:p>
            <a:pPr>
              <a:buNone/>
            </a:pPr>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Higher-rated aircraft may indicate:</a:t>
            </a:r>
          </a:p>
          <a:p>
            <a:pPr>
              <a:buNone/>
            </a:pP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better cabin condition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improved seating comfort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newer interiors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Lower maintenance issues </a:t>
            </a:r>
          </a:p>
          <a:p>
            <a:pPr>
              <a:buNone/>
            </a:pPr>
            <a:r>
              <a:rPr lang="en-IN" sz="1400" dirty="0">
                <a:latin typeface="Arial" panose="020B0604020202020204" pitchFamily="34" charset="0"/>
                <a:cs typeface="Arial" panose="020B0604020202020204" pitchFamily="34" charset="0"/>
              </a:rPr>
              <a:t> </a:t>
            </a:r>
          </a:p>
          <a:p>
            <a:pPr>
              <a:buNone/>
            </a:pPr>
            <a:r>
              <a:rPr lang="en-IN" sz="1400" dirty="0">
                <a:latin typeface="Arial" panose="020B0604020202020204" pitchFamily="34" charset="0"/>
                <a:cs typeface="Arial" panose="020B0604020202020204" pitchFamily="34" charset="0"/>
              </a:rPr>
              <a:t>Lower-rated aircraft can be prioritized for:</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refurbishment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maintenance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replacement planning </a:t>
            </a:r>
          </a:p>
          <a:p>
            <a:pPr>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Better fleet planning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Higher customer comfort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Improved asset utilization</a:t>
            </a:r>
          </a:p>
        </p:txBody>
      </p:sp>
    </p:spTree>
    <p:extLst>
      <p:ext uri="{BB962C8B-B14F-4D97-AF65-F5344CB8AC3E}">
        <p14:creationId xmlns:p14="http://schemas.microsoft.com/office/powerpoint/2010/main" val="3340198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CB2AE4-C94B-88BE-A3FA-928960CF23FE}"/>
              </a:ext>
            </a:extLst>
          </p:cNvPr>
          <p:cNvSpPr txBox="1"/>
          <p:nvPr/>
        </p:nvSpPr>
        <p:spPr>
          <a:xfrm>
            <a:off x="391885" y="718456"/>
            <a:ext cx="5442857" cy="4616648"/>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5. Enhance Customer Experience Across Passenger Segments</a:t>
            </a:r>
          </a:p>
          <a:p>
            <a:pPr>
              <a:buNone/>
            </a:pPr>
            <a:r>
              <a:rPr lang="en-IN" sz="1400" dirty="0">
                <a:latin typeface="Arial" panose="020B0604020202020204" pitchFamily="34" charset="0"/>
                <a:cs typeface="Arial" panose="020B0604020202020204" pitchFamily="34" charset="0"/>
              </a:rPr>
              <a:t>The Passenger Analysis compares customer satisfaction across:</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Traveller Type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Seat Type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Country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Route </a:t>
            </a:r>
          </a:p>
          <a:p>
            <a:pPr>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This helps British Airways understand whether:</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Business travellers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Leisure travellers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Economy passengers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Business Class passengers have different expectations.</a:t>
            </a:r>
          </a:p>
          <a:p>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Marketing and service improvements can then be tailored for each passenger segment.</a:t>
            </a:r>
          </a:p>
          <a:p>
            <a:pPr>
              <a:buNone/>
            </a:pPr>
            <a:endParaRPr lang="en-IN" sz="1400"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Personalized customer experience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Better customer retention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Increased loyalty</a:t>
            </a:r>
          </a:p>
        </p:txBody>
      </p:sp>
      <p:sp>
        <p:nvSpPr>
          <p:cNvPr id="5" name="TextBox 4">
            <a:extLst>
              <a:ext uri="{FF2B5EF4-FFF2-40B4-BE49-F238E27FC236}">
                <a16:creationId xmlns:a16="http://schemas.microsoft.com/office/drawing/2014/main" id="{14D770CB-D1E0-930A-CEEB-71AF7E5BBD05}"/>
              </a:ext>
            </a:extLst>
          </p:cNvPr>
          <p:cNvSpPr txBox="1"/>
          <p:nvPr/>
        </p:nvSpPr>
        <p:spPr>
          <a:xfrm>
            <a:off x="6106885" y="718456"/>
            <a:ext cx="5431972" cy="3970318"/>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6. Improve Operational Decision-Making</a:t>
            </a:r>
          </a:p>
          <a:p>
            <a:pPr>
              <a:buNone/>
            </a:pPr>
            <a:r>
              <a:rPr lang="en-IN" sz="1400" dirty="0">
                <a:latin typeface="Arial" panose="020B0604020202020204" pitchFamily="34" charset="0"/>
                <a:cs typeface="Arial" panose="020B0604020202020204" pitchFamily="34" charset="0"/>
              </a:rPr>
              <a:t>The Operational Insights Dashboard enables managers to monitor customer satisfaction across multiple operational dimensions in a single view.</a:t>
            </a:r>
          </a:p>
          <a:p>
            <a:pPr>
              <a:buNone/>
            </a:pPr>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Managers can quickly identify:</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declining service quality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underperforming routes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poorly rated aircraft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country-specific trends </a:t>
            </a:r>
          </a:p>
          <a:p>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This reduces manual reporting and enables faster, evidence-based operational decisions.</a:t>
            </a:r>
          </a:p>
          <a:p>
            <a:pPr>
              <a:buNone/>
            </a:pPr>
            <a:endParaRPr lang="en-IN" sz="1400"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Faster issue identification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Reduced reporting time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Improved operational efficiency</a:t>
            </a:r>
          </a:p>
        </p:txBody>
      </p:sp>
    </p:spTree>
    <p:extLst>
      <p:ext uri="{BB962C8B-B14F-4D97-AF65-F5344CB8AC3E}">
        <p14:creationId xmlns:p14="http://schemas.microsoft.com/office/powerpoint/2010/main" val="4125591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B8D680-5B1F-FC33-2EA5-ABCDCE3433D4}"/>
              </a:ext>
            </a:extLst>
          </p:cNvPr>
          <p:cNvSpPr txBox="1"/>
          <p:nvPr/>
        </p:nvSpPr>
        <p:spPr>
          <a:xfrm>
            <a:off x="718457" y="566954"/>
            <a:ext cx="10101943" cy="2677656"/>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7. Increase Customer Retention</a:t>
            </a:r>
          </a:p>
          <a:p>
            <a:pPr>
              <a:buNone/>
            </a:pPr>
            <a:r>
              <a:rPr lang="en-IN" sz="1400" dirty="0">
                <a:latin typeface="Arial" panose="020B0604020202020204" pitchFamily="34" charset="0"/>
                <a:cs typeface="Arial" panose="020B0604020202020204" pitchFamily="34" charset="0"/>
              </a:rPr>
              <a:t>Satisfied passengers are more likely to:</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fly again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Recommend British Airways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join loyalty programs </a:t>
            </a:r>
          </a:p>
          <a:p>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By improving the drivers of customer satisfaction identified in this analysis, British Airways can reduce customer churn.</a:t>
            </a:r>
          </a:p>
          <a:p>
            <a:pPr>
              <a:buNone/>
            </a:pPr>
            <a:endParaRPr lang="en-IN" sz="1400" dirty="0">
              <a:latin typeface="Arial" panose="020B0604020202020204" pitchFamily="34" charset="0"/>
              <a:cs typeface="Arial" panose="020B0604020202020204" pitchFamily="34" charset="0"/>
            </a:endParaRP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Higher repeat bookings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Stronger customer loyalty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Increased lifetime customer value </a:t>
            </a:r>
          </a:p>
        </p:txBody>
      </p:sp>
      <p:sp>
        <p:nvSpPr>
          <p:cNvPr id="5" name="TextBox 4">
            <a:extLst>
              <a:ext uri="{FF2B5EF4-FFF2-40B4-BE49-F238E27FC236}">
                <a16:creationId xmlns:a16="http://schemas.microsoft.com/office/drawing/2014/main" id="{87EB8A47-A3B4-FE0A-308F-24044A6F5319}"/>
              </a:ext>
            </a:extLst>
          </p:cNvPr>
          <p:cNvSpPr txBox="1"/>
          <p:nvPr/>
        </p:nvSpPr>
        <p:spPr>
          <a:xfrm>
            <a:off x="718457" y="3429000"/>
            <a:ext cx="10025743" cy="2893100"/>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8. Support Strategic Planning</a:t>
            </a:r>
          </a:p>
          <a:p>
            <a:pPr>
              <a:buNone/>
            </a:pPr>
            <a:r>
              <a:rPr lang="en-IN" sz="1400" dirty="0">
                <a:latin typeface="Arial" panose="020B0604020202020204" pitchFamily="34" charset="0"/>
                <a:cs typeface="Arial" panose="020B0604020202020204" pitchFamily="34" charset="0"/>
              </a:rPr>
              <a:t>Senior management can use the Executive Dashboard to monitor:</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Overall Rating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Recommendation Rate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Review Volume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Customer Satisfaction Trends </a:t>
            </a:r>
          </a:p>
          <a:p>
            <a:endParaRPr lang="en-IN" sz="1400" dirty="0">
              <a:latin typeface="Arial" panose="020B0604020202020204" pitchFamily="34" charset="0"/>
              <a:cs typeface="Arial" panose="020B0604020202020204" pitchFamily="34" charset="0"/>
            </a:endParaRPr>
          </a:p>
          <a:p>
            <a:pPr>
              <a:buNone/>
            </a:pPr>
            <a:r>
              <a:rPr lang="en-IN" sz="1400" dirty="0">
                <a:latin typeface="Arial" panose="020B0604020202020204" pitchFamily="34" charset="0"/>
                <a:cs typeface="Arial" panose="020B0604020202020204" pitchFamily="34" charset="0"/>
              </a:rPr>
              <a:t>These KPIs help leadership evaluate whether service improvement initiatives are delivering measurable results over time</a:t>
            </a:r>
          </a:p>
          <a:p>
            <a:pPr>
              <a:buNone/>
            </a:pPr>
            <a:r>
              <a:rPr lang="en-IN" sz="1400" dirty="0">
                <a:latin typeface="Arial" panose="020B0604020202020204" pitchFamily="34" charset="0"/>
                <a:cs typeface="Arial" panose="020B0604020202020204" pitchFamily="34" charset="0"/>
              </a:rPr>
              <a:t>.</a:t>
            </a:r>
          </a:p>
          <a:p>
            <a:pPr>
              <a:buNone/>
            </a:pPr>
            <a:r>
              <a:rPr lang="en-IN" sz="1400" b="1" dirty="0">
                <a:latin typeface="Arial" panose="020B0604020202020204" pitchFamily="34" charset="0"/>
                <a:cs typeface="Arial" panose="020B0604020202020204" pitchFamily="34" charset="0"/>
              </a:rPr>
              <a:t>Business Value</a:t>
            </a:r>
            <a:endParaRPr lang="en-IN" sz="1400" dirty="0">
              <a:latin typeface="Arial" panose="020B0604020202020204" pitchFamily="34" charset="0"/>
              <a:cs typeface="Arial" panose="020B0604020202020204" pitchFamily="34" charset="0"/>
            </a:endParaRP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Executive-level visibility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Performance monitoring </a:t>
            </a:r>
          </a:p>
          <a:p>
            <a:pPr>
              <a:buFont typeface="Arial" panose="020B0604020202020204" pitchFamily="34" charset="0"/>
              <a:buChar char="•"/>
            </a:pPr>
            <a:r>
              <a:rPr lang="en-IN" sz="1400" dirty="0">
                <a:latin typeface="Arial" panose="020B0604020202020204" pitchFamily="34" charset="0"/>
                <a:cs typeface="Arial" panose="020B0604020202020204" pitchFamily="34" charset="0"/>
              </a:rPr>
              <a:t> Long-term strategic planning</a:t>
            </a:r>
          </a:p>
        </p:txBody>
      </p:sp>
    </p:spTree>
    <p:extLst>
      <p:ext uri="{BB962C8B-B14F-4D97-AF65-F5344CB8AC3E}">
        <p14:creationId xmlns:p14="http://schemas.microsoft.com/office/powerpoint/2010/main" val="27498541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5A3754-8D4A-6215-CBA2-0A1F20B6C0E7}"/>
              </a:ext>
            </a:extLst>
          </p:cNvPr>
          <p:cNvSpPr txBox="1"/>
          <p:nvPr/>
        </p:nvSpPr>
        <p:spPr>
          <a:xfrm>
            <a:off x="4332514" y="260476"/>
            <a:ext cx="3339376" cy="369332"/>
          </a:xfrm>
          <a:prstGeom prst="rect">
            <a:avLst/>
          </a:prstGeom>
          <a:noFill/>
        </p:spPr>
        <p:txBody>
          <a:bodyPr wrap="none" rtlCol="0">
            <a:spAutoFit/>
          </a:bodyPr>
          <a:lstStyle/>
          <a:p>
            <a:pPr algn="ctr"/>
            <a:r>
              <a:rPr lang="en-IN" b="1" dirty="0">
                <a:latin typeface="Arial" panose="020B0604020202020204" pitchFamily="34" charset="0"/>
                <a:cs typeface="Arial" panose="020B0604020202020204" pitchFamily="34" charset="0"/>
              </a:rPr>
              <a:t>Business Recommendations</a:t>
            </a:r>
          </a:p>
        </p:txBody>
      </p:sp>
      <p:sp>
        <p:nvSpPr>
          <p:cNvPr id="4" name="TextBox 3">
            <a:extLst>
              <a:ext uri="{FF2B5EF4-FFF2-40B4-BE49-F238E27FC236}">
                <a16:creationId xmlns:a16="http://schemas.microsoft.com/office/drawing/2014/main" id="{8BF17175-0483-6549-BC6F-700CD5ED0ABB}"/>
              </a:ext>
            </a:extLst>
          </p:cNvPr>
          <p:cNvSpPr txBox="1"/>
          <p:nvPr/>
        </p:nvSpPr>
        <p:spPr>
          <a:xfrm>
            <a:off x="435428" y="629808"/>
            <a:ext cx="11321143" cy="6555641"/>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1. Focus on Low-Rated Routes</a:t>
            </a:r>
          </a:p>
          <a:p>
            <a:pPr>
              <a:buNone/>
            </a:pPr>
            <a:r>
              <a:rPr lang="en-IN" sz="1400" dirty="0">
                <a:latin typeface="Arial" panose="020B0604020202020204" pitchFamily="34" charset="0"/>
                <a:cs typeface="Arial" panose="020B0604020202020204" pitchFamily="34" charset="0"/>
              </a:rPr>
              <a:t>Investigate routes with consistently poor customer ratings by conducting route-specific operational reviews. </a:t>
            </a:r>
            <a:r>
              <a:rPr lang="en-IN" sz="1400" dirty="0" err="1">
                <a:latin typeface="Arial" panose="020B0604020202020204" pitchFamily="34" charset="0"/>
                <a:cs typeface="Arial" panose="020B0604020202020204" pitchFamily="34" charset="0"/>
              </a:rPr>
              <a:t>Analyze</a:t>
            </a:r>
            <a:r>
              <a:rPr lang="en-IN" sz="1400" dirty="0">
                <a:latin typeface="Arial" panose="020B0604020202020204" pitchFamily="34" charset="0"/>
                <a:cs typeface="Arial" panose="020B0604020202020204" pitchFamily="34" charset="0"/>
              </a:rPr>
              <a:t> delays, staffing levels, aircraft allocation, catering quality, and airport handling services to identify root causes and implement targeted improvements.</a:t>
            </a:r>
          </a:p>
          <a:p>
            <a:pPr>
              <a:buNone/>
            </a:pP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2. Upgrade Lower-Rated Aircraft</a:t>
            </a:r>
          </a:p>
          <a:p>
            <a:r>
              <a:rPr lang="en-IN" sz="1400" dirty="0">
                <a:latin typeface="Arial" panose="020B0604020202020204" pitchFamily="34" charset="0"/>
                <a:cs typeface="Arial" panose="020B0604020202020204" pitchFamily="34" charset="0"/>
              </a:rPr>
              <a:t>Aircraft that consistently receive lower customer ratings should be prioritized for maintenance, cabin refurbishment, seating upgrades, and in-flight entertainment improvements to enhance passenger comfort.</a:t>
            </a:r>
          </a:p>
          <a:p>
            <a:pPr>
              <a:buNone/>
            </a:pP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Improve Underperforming Service Categories</a:t>
            </a:r>
          </a:p>
          <a:p>
            <a:r>
              <a:rPr lang="en-IN" sz="1400" dirty="0">
                <a:latin typeface="Arial" panose="020B0604020202020204" pitchFamily="34" charset="0"/>
                <a:cs typeface="Arial" panose="020B0604020202020204" pitchFamily="34" charset="0"/>
              </a:rPr>
              <a:t>Allocate resources toward improving service categories with comparatively lower ratings, such as entertainment, Wi-Fi, food quality, or ground service. Continuous monitoring should be implemented to measure the effectiveness of these improvements.</a:t>
            </a:r>
          </a:p>
          <a:p>
            <a:br>
              <a:rPr lang="en-IN" sz="1400" dirty="0">
                <a:latin typeface="Arial" panose="020B0604020202020204" pitchFamily="34" charset="0"/>
                <a:cs typeface="Arial" panose="020B0604020202020204" pitchFamily="34" charset="0"/>
              </a:rPr>
            </a:br>
            <a:r>
              <a:rPr lang="en-IN" sz="1400" b="1" dirty="0">
                <a:latin typeface="Arial" panose="020B0604020202020204" pitchFamily="34" charset="0"/>
                <a:cs typeface="Arial" panose="020B0604020202020204" pitchFamily="34" charset="0"/>
              </a:rPr>
              <a:t>4. Replicate Best Practices</a:t>
            </a:r>
          </a:p>
          <a:p>
            <a:r>
              <a:rPr lang="en-IN" sz="1400" dirty="0">
                <a:latin typeface="Arial" panose="020B0604020202020204" pitchFamily="34" charset="0"/>
                <a:cs typeface="Arial" panose="020B0604020202020204" pitchFamily="34" charset="0"/>
              </a:rPr>
              <a:t>Study the operational practices of top-performing routes, aircraft, and service teams. Standardize successful processes and training programs across lower-performing operations to improve consistency.</a:t>
            </a:r>
          </a:p>
          <a:p>
            <a:br>
              <a:rPr lang="en-IN" sz="1400" dirty="0">
                <a:latin typeface="Arial" panose="020B0604020202020204" pitchFamily="34" charset="0"/>
                <a:cs typeface="Arial" panose="020B0604020202020204" pitchFamily="34" charset="0"/>
              </a:rPr>
            </a:br>
            <a:r>
              <a:rPr lang="en-IN" sz="1400" b="1" dirty="0">
                <a:latin typeface="Arial" panose="020B0604020202020204" pitchFamily="34" charset="0"/>
                <a:cs typeface="Arial" panose="020B0604020202020204" pitchFamily="34" charset="0"/>
              </a:rPr>
              <a:t>5. Use Customer Feedback for Continuous Improvement</a:t>
            </a:r>
          </a:p>
          <a:p>
            <a:r>
              <a:rPr lang="en-IN" sz="1400" dirty="0">
                <a:latin typeface="Arial" panose="020B0604020202020204" pitchFamily="34" charset="0"/>
                <a:cs typeface="Arial" panose="020B0604020202020204" pitchFamily="34" charset="0"/>
              </a:rPr>
              <a:t>Implement a continuous feedback monitoring process using customer reviews to detect emerging issues early. Regular dashboard reviews can help management respond proactively rather than reactively.</a:t>
            </a:r>
          </a:p>
          <a:p>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6. Segment Customer Experience Strategies</a:t>
            </a:r>
          </a:p>
          <a:p>
            <a:r>
              <a:rPr lang="en-IN" sz="1400" dirty="0">
                <a:latin typeface="Arial" panose="020B0604020202020204" pitchFamily="34" charset="0"/>
                <a:cs typeface="Arial" panose="020B0604020202020204" pitchFamily="34" charset="0"/>
              </a:rPr>
              <a:t>Develop tailored service strategies for different traveller types and cabin classes. Understanding the unique expectations of business, leisure, economy, and premium passengers enables more personalized service delivery.</a:t>
            </a:r>
          </a:p>
          <a:p>
            <a:br>
              <a:rPr lang="en-IN" sz="1400" dirty="0">
                <a:latin typeface="Arial" panose="020B0604020202020204" pitchFamily="34" charset="0"/>
                <a:cs typeface="Arial" panose="020B0604020202020204" pitchFamily="34" charset="0"/>
              </a:rPr>
            </a:br>
            <a:r>
              <a:rPr lang="en-IN" sz="1400" b="1" dirty="0">
                <a:latin typeface="Arial" panose="020B0604020202020204" pitchFamily="34" charset="0"/>
                <a:cs typeface="Arial" panose="020B0604020202020204" pitchFamily="34" charset="0"/>
              </a:rPr>
              <a:t>7. Monitor KPIs Regularly</a:t>
            </a:r>
          </a:p>
          <a:p>
            <a:r>
              <a:rPr lang="en-IN" sz="1400" dirty="0">
                <a:latin typeface="Arial" panose="020B0604020202020204" pitchFamily="34" charset="0"/>
                <a:cs typeface="Arial" panose="020B0604020202020204" pitchFamily="34" charset="0"/>
              </a:rPr>
              <a:t>Track key performance indicators such as Overall Rating, Recommendation Rate, Service Ratings, and Route Performance on a monthly basis. Establish performance targets and trigger corrective actions when KPIs fall below acceptable thresholds.</a:t>
            </a:r>
          </a:p>
          <a:p>
            <a:endParaRPr lang="en-IN" sz="1400" dirty="0">
              <a:latin typeface="Arial" panose="020B0604020202020204" pitchFamily="34" charset="0"/>
              <a:cs typeface="Arial" panose="020B0604020202020204" pitchFamily="34" charset="0"/>
            </a:endParaRPr>
          </a:p>
          <a:p>
            <a:pPr>
              <a:buNone/>
            </a:pP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9451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1F7D16-D915-73AB-BF83-F8B409CA6BB3}"/>
              </a:ext>
            </a:extLst>
          </p:cNvPr>
          <p:cNvSpPr txBox="1"/>
          <p:nvPr/>
        </p:nvSpPr>
        <p:spPr>
          <a:xfrm>
            <a:off x="566056" y="415060"/>
            <a:ext cx="10940143" cy="2246769"/>
          </a:xfrm>
          <a:prstGeom prst="rect">
            <a:avLst/>
          </a:prstGeom>
          <a:noFill/>
        </p:spPr>
        <p:txBody>
          <a:bodyPr wrap="square">
            <a:spAutoFit/>
          </a:bodyPr>
          <a:lstStyle/>
          <a:p>
            <a:pPr>
              <a:buNone/>
            </a:pPr>
            <a:r>
              <a:rPr lang="en-IN" sz="1400" b="1" dirty="0">
                <a:latin typeface="Arial" panose="020B0604020202020204" pitchFamily="34" charset="0"/>
                <a:cs typeface="Arial" panose="020B0604020202020204" pitchFamily="34" charset="0"/>
              </a:rPr>
              <a:t>8. Adopt Data-Driven Decision Making</a:t>
            </a:r>
          </a:p>
          <a:p>
            <a:pPr>
              <a:buNone/>
            </a:pPr>
            <a:r>
              <a:rPr lang="en-IN" sz="1400" dirty="0">
                <a:latin typeface="Arial" panose="020B0604020202020204" pitchFamily="34" charset="0"/>
                <a:cs typeface="Arial" panose="020B0604020202020204" pitchFamily="34" charset="0"/>
              </a:rPr>
              <a:t>Integrate these dashboards into regular management reviews so that operational and strategic decisions are based on customer insights rather than assumptions. This supports continuous improvement and more effective resource allocation.</a:t>
            </a:r>
          </a:p>
          <a:p>
            <a:pPr>
              <a:buNone/>
            </a:pPr>
            <a:br>
              <a:rPr lang="en-IN" sz="1400" dirty="0">
                <a:latin typeface="Arial" panose="020B0604020202020204" pitchFamily="34" charset="0"/>
                <a:cs typeface="Arial" panose="020B0604020202020204" pitchFamily="34" charset="0"/>
              </a:rPr>
            </a:br>
            <a:r>
              <a:rPr lang="en-IN" sz="1400" b="1" dirty="0">
                <a:latin typeface="Arial" panose="020B0604020202020204" pitchFamily="34" charset="0"/>
                <a:cs typeface="Arial" panose="020B0604020202020204" pitchFamily="34" charset="0"/>
              </a:rPr>
              <a:t>Overall Project Conclusion</a:t>
            </a:r>
          </a:p>
          <a:p>
            <a:pPr>
              <a:buNone/>
            </a:pPr>
            <a:r>
              <a:rPr lang="en-IN" sz="1400" dirty="0">
                <a:latin typeface="Arial" panose="020B0604020202020204" pitchFamily="34" charset="0"/>
                <a:cs typeface="Arial" panose="020B0604020202020204" pitchFamily="34" charset="0"/>
              </a:rPr>
              <a:t>The British Airways Customer Satisfaction Analysis demonstrates how customer review data can be transformed into actionable business insights. By </a:t>
            </a:r>
            <a:r>
              <a:rPr lang="en-IN" sz="1400" dirty="0" err="1">
                <a:latin typeface="Arial" panose="020B0604020202020204" pitchFamily="34" charset="0"/>
                <a:cs typeface="Arial" panose="020B0604020202020204" pitchFamily="34" charset="0"/>
              </a:rPr>
              <a:t>analyzing</a:t>
            </a:r>
            <a:r>
              <a:rPr lang="en-IN" sz="1400" dirty="0">
                <a:latin typeface="Arial" panose="020B0604020202020204" pitchFamily="34" charset="0"/>
                <a:cs typeface="Arial" panose="020B0604020202020204" pitchFamily="34" charset="0"/>
              </a:rPr>
              <a:t> service quality, passenger segments, aircraft performance, and route-level satisfaction, the dashboards enable stakeholders to identify strengths, uncover improvement opportunities, and prioritize operational initiatives. Implementing the recommendations from this analysis can help British Airways enhance customer satisfaction, improve operational efficiency, strengthen customer loyalty, and support data-driven strategic decision-making.</a:t>
            </a:r>
          </a:p>
        </p:txBody>
      </p:sp>
    </p:spTree>
    <p:extLst>
      <p:ext uri="{BB962C8B-B14F-4D97-AF65-F5344CB8AC3E}">
        <p14:creationId xmlns:p14="http://schemas.microsoft.com/office/powerpoint/2010/main" val="42325336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608</TotalTime>
  <Words>2603</Words>
  <Application>Microsoft Office PowerPoint</Application>
  <PresentationFormat>Widescreen</PresentationFormat>
  <Paragraphs>307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Century Gothic</vt:lpstr>
      <vt:lpstr>Garamond</vt:lpstr>
      <vt:lpstr>Wingdings</vt:lpstr>
      <vt:lpstr>Savon</vt:lpstr>
      <vt:lpstr>British Airways CustomeR Satisfaction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Harika Challa</dc:creator>
  <cp:lastModifiedBy>Harika Challa</cp:lastModifiedBy>
  <cp:revision>1</cp:revision>
  <dcterms:created xsi:type="dcterms:W3CDTF">2026-07-19T16:20:30Z</dcterms:created>
  <dcterms:modified xsi:type="dcterms:W3CDTF">2026-07-20T15:14:49Z</dcterms:modified>
</cp:coreProperties>
</file>