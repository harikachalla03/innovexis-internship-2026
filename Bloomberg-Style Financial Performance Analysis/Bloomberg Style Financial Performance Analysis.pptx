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4" r:id="rId9"/>
    <p:sldId id="266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7992CD-275D-447B-900B-302D80D74C84}" v="37" dt="2026-09-11T14:47:26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2" autoAdjust="0"/>
    <p:restoredTop sz="94660"/>
  </p:normalViewPr>
  <p:slideViewPr>
    <p:cSldViewPr snapToGrid="0">
      <p:cViewPr varScale="1">
        <p:scale>
          <a:sx n="59" d="100"/>
          <a:sy n="59" d="100"/>
        </p:scale>
        <p:origin x="7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ka Challa" userId="135cdfd11f38c2ac" providerId="LiveId" clId="{D76684D5-5A26-45C6-AD39-980DC061D39F}"/>
    <pc:docChg chg="undo custSel addSld delSld modSld sldOrd">
      <pc:chgData name="Harika Challa" userId="135cdfd11f38c2ac" providerId="LiveId" clId="{D76684D5-5A26-45C6-AD39-980DC061D39F}" dt="2026-09-11T14:57:02.390" v="577" actId="113"/>
      <pc:docMkLst>
        <pc:docMk/>
      </pc:docMkLst>
      <pc:sldChg chg="addSp delSp modSp mod">
        <pc:chgData name="Harika Challa" userId="135cdfd11f38c2ac" providerId="LiveId" clId="{D76684D5-5A26-45C6-AD39-980DC061D39F}" dt="2026-09-11T14:35:33.244" v="536" actId="14100"/>
        <pc:sldMkLst>
          <pc:docMk/>
          <pc:sldMk cId="2984401623" sldId="258"/>
        </pc:sldMkLst>
        <pc:spChg chg="add mod">
          <ac:chgData name="Harika Challa" userId="135cdfd11f38c2ac" providerId="LiveId" clId="{D76684D5-5A26-45C6-AD39-980DC061D39F}" dt="2026-09-11T14:35:11.455" v="529" actId="113"/>
          <ac:spMkLst>
            <pc:docMk/>
            <pc:sldMk cId="2984401623" sldId="258"/>
            <ac:spMk id="6" creationId="{08136F47-5D5C-BD62-983A-7A088BE39478}"/>
          </ac:spMkLst>
        </pc:spChg>
        <pc:picChg chg="del mod">
          <ac:chgData name="Harika Challa" userId="135cdfd11f38c2ac" providerId="LiveId" clId="{D76684D5-5A26-45C6-AD39-980DC061D39F}" dt="2026-09-11T14:35:14.207" v="530" actId="21"/>
          <ac:picMkLst>
            <pc:docMk/>
            <pc:sldMk cId="2984401623" sldId="258"/>
            <ac:picMk id="3" creationId="{7426247D-B8A7-C64E-C6F2-F4A235BD2EB4}"/>
          </ac:picMkLst>
        </pc:picChg>
        <pc:picChg chg="add mod">
          <ac:chgData name="Harika Challa" userId="135cdfd11f38c2ac" providerId="LiveId" clId="{D76684D5-5A26-45C6-AD39-980DC061D39F}" dt="2026-09-11T14:35:33.244" v="536" actId="14100"/>
          <ac:picMkLst>
            <pc:docMk/>
            <pc:sldMk cId="2984401623" sldId="258"/>
            <ac:picMk id="8" creationId="{08F59282-BACF-9FB8-B864-6CE5F82AC5F6}"/>
          </ac:picMkLst>
        </pc:picChg>
      </pc:sldChg>
      <pc:sldChg chg="addSp delSp modSp mod">
        <pc:chgData name="Harika Challa" userId="135cdfd11f38c2ac" providerId="LiveId" clId="{D76684D5-5A26-45C6-AD39-980DC061D39F}" dt="2026-09-11T14:34:20.076" v="520" actId="1076"/>
        <pc:sldMkLst>
          <pc:docMk/>
          <pc:sldMk cId="550438871" sldId="260"/>
        </pc:sldMkLst>
        <pc:spChg chg="add mod">
          <ac:chgData name="Harika Challa" userId="135cdfd11f38c2ac" providerId="LiveId" clId="{D76684D5-5A26-45C6-AD39-980DC061D39F}" dt="2026-09-11T14:34:20.076" v="520" actId="1076"/>
          <ac:spMkLst>
            <pc:docMk/>
            <pc:sldMk cId="550438871" sldId="260"/>
            <ac:spMk id="7" creationId="{44EC2D35-06B7-05DE-2530-2D22F51D3BE6}"/>
          </ac:spMkLst>
        </pc:spChg>
        <pc:picChg chg="del">
          <ac:chgData name="Harika Challa" userId="135cdfd11f38c2ac" providerId="LiveId" clId="{D76684D5-5A26-45C6-AD39-980DC061D39F}" dt="2026-09-11T12:51:30.717" v="327" actId="21"/>
          <ac:picMkLst>
            <pc:docMk/>
            <pc:sldMk cId="550438871" sldId="260"/>
            <ac:picMk id="3" creationId="{8C2D1419-578D-4973-31E7-511F5953C355}"/>
          </ac:picMkLst>
        </pc:picChg>
        <pc:picChg chg="add mod">
          <ac:chgData name="Harika Challa" userId="135cdfd11f38c2ac" providerId="LiveId" clId="{D76684D5-5A26-45C6-AD39-980DC061D39F}" dt="2026-09-11T14:34:13.901" v="517" actId="14100"/>
          <ac:picMkLst>
            <pc:docMk/>
            <pc:sldMk cId="550438871" sldId="260"/>
            <ac:picMk id="5" creationId="{883659F3-2E6D-EDFD-7F3B-09596E7E6B12}"/>
          </ac:picMkLst>
        </pc:picChg>
      </pc:sldChg>
      <pc:sldChg chg="modSp mod ord">
        <pc:chgData name="Harika Challa" userId="135cdfd11f38c2ac" providerId="LiveId" clId="{D76684D5-5A26-45C6-AD39-980DC061D39F}" dt="2026-09-11T14:32:10.478" v="494"/>
        <pc:sldMkLst>
          <pc:docMk/>
          <pc:sldMk cId="2108697656" sldId="261"/>
        </pc:sldMkLst>
        <pc:spChg chg="mod">
          <ac:chgData name="Harika Challa" userId="135cdfd11f38c2ac" providerId="LiveId" clId="{D76684D5-5A26-45C6-AD39-980DC061D39F}" dt="2026-09-11T12:57:20.215" v="338" actId="113"/>
          <ac:spMkLst>
            <pc:docMk/>
            <pc:sldMk cId="2108697656" sldId="261"/>
            <ac:spMk id="3" creationId="{C32461DA-4C07-B019-21AF-BD899F9515C4}"/>
          </ac:spMkLst>
        </pc:spChg>
      </pc:sldChg>
      <pc:sldChg chg="addSp delSp modSp mod">
        <pc:chgData name="Harika Challa" userId="135cdfd11f38c2ac" providerId="LiveId" clId="{D76684D5-5A26-45C6-AD39-980DC061D39F}" dt="2026-09-11T12:04:51.894" v="262" actId="20577"/>
        <pc:sldMkLst>
          <pc:docMk/>
          <pc:sldMk cId="2370901440" sldId="262"/>
        </pc:sldMkLst>
        <pc:spChg chg="mod">
          <ac:chgData name="Harika Challa" userId="135cdfd11f38c2ac" providerId="LiveId" clId="{D76684D5-5A26-45C6-AD39-980DC061D39F}" dt="2026-09-11T12:04:51.894" v="262" actId="20577"/>
          <ac:spMkLst>
            <pc:docMk/>
            <pc:sldMk cId="2370901440" sldId="262"/>
            <ac:spMk id="3" creationId="{B27FB091-6AE6-6AC6-B6B9-0CDD005429F1}"/>
          </ac:spMkLst>
        </pc:spChg>
        <pc:graphicFrameChg chg="del">
          <ac:chgData name="Harika Challa" userId="135cdfd11f38c2ac" providerId="LiveId" clId="{D76684D5-5A26-45C6-AD39-980DC061D39F}" dt="2026-09-11T12:00:40.972" v="19" actId="21"/>
          <ac:graphicFrameMkLst>
            <pc:docMk/>
            <pc:sldMk cId="2370901440" sldId="262"/>
            <ac:graphicFrameMk id="4" creationId="{C3C3039A-4D5C-7FDE-1845-F8E9E5CE062C}"/>
          </ac:graphicFrameMkLst>
        </pc:graphicFrameChg>
        <pc:graphicFrameChg chg="del">
          <ac:chgData name="Harika Challa" userId="135cdfd11f38c2ac" providerId="LiveId" clId="{D76684D5-5A26-45C6-AD39-980DC061D39F}" dt="2026-09-11T12:00:28.685" v="15" actId="21"/>
          <ac:graphicFrameMkLst>
            <pc:docMk/>
            <pc:sldMk cId="2370901440" sldId="262"/>
            <ac:graphicFrameMk id="7" creationId="{782BF0D1-56A2-05D4-5A11-6834D00C409E}"/>
          </ac:graphicFrameMkLst>
        </pc:graphicFrameChg>
        <pc:graphicFrameChg chg="add mod">
          <ac:chgData name="Harika Challa" userId="135cdfd11f38c2ac" providerId="LiveId" clId="{D76684D5-5A26-45C6-AD39-980DC061D39F}" dt="2026-09-11T12:00:56.653" v="31"/>
          <ac:graphicFrameMkLst>
            <pc:docMk/>
            <pc:sldMk cId="2370901440" sldId="262"/>
            <ac:graphicFrameMk id="12" creationId="{932352B9-1926-0E28-0898-C3660ED798F0}"/>
          </ac:graphicFrameMkLst>
        </pc:graphicFrameChg>
        <pc:graphicFrameChg chg="add mod">
          <ac:chgData name="Harika Challa" userId="135cdfd11f38c2ac" providerId="LiveId" clId="{D76684D5-5A26-45C6-AD39-980DC061D39F}" dt="2026-09-11T12:00:56.653" v="31"/>
          <ac:graphicFrameMkLst>
            <pc:docMk/>
            <pc:sldMk cId="2370901440" sldId="262"/>
            <ac:graphicFrameMk id="13" creationId="{D220F61B-2C5D-6E30-E148-0EB45990F45E}"/>
          </ac:graphicFrameMkLst>
        </pc:graphicFrameChg>
        <pc:graphicFrameChg chg="add del mod">
          <ac:chgData name="Harika Challa" userId="135cdfd11f38c2ac" providerId="LiveId" clId="{D76684D5-5A26-45C6-AD39-980DC061D39F}" dt="2026-09-11T12:01:24.869" v="35" actId="21"/>
          <ac:graphicFrameMkLst>
            <pc:docMk/>
            <pc:sldMk cId="2370901440" sldId="262"/>
            <ac:graphicFrameMk id="14" creationId="{29227CD1-86E8-6871-8DFD-09FD3F71CC8A}"/>
          </ac:graphicFrameMkLst>
        </pc:graphicFrameChg>
        <pc:graphicFrameChg chg="add del mod">
          <ac:chgData name="Harika Challa" userId="135cdfd11f38c2ac" providerId="LiveId" clId="{D76684D5-5A26-45C6-AD39-980DC061D39F}" dt="2026-09-11T12:01:20.383" v="34" actId="21"/>
          <ac:graphicFrameMkLst>
            <pc:docMk/>
            <pc:sldMk cId="2370901440" sldId="262"/>
            <ac:graphicFrameMk id="15" creationId="{DB8D8C71-6D19-1874-F5B9-45FBAC248C71}"/>
          </ac:graphicFrameMkLst>
        </pc:graphicFrameChg>
        <pc:graphicFrameChg chg="add del">
          <ac:chgData name="Harika Challa" userId="135cdfd11f38c2ac" providerId="LiveId" clId="{D76684D5-5A26-45C6-AD39-980DC061D39F}" dt="2026-09-11T12:01:34.073" v="37" actId="21"/>
          <ac:graphicFrameMkLst>
            <pc:docMk/>
            <pc:sldMk cId="2370901440" sldId="262"/>
            <ac:graphicFrameMk id="17" creationId="{C54FCF86-C515-18D3-06B2-51881AA9F37A}"/>
          </ac:graphicFrameMkLst>
        </pc:graphicFrameChg>
        <pc:graphicFrameChg chg="add del">
          <ac:chgData name="Harika Challa" userId="135cdfd11f38c2ac" providerId="LiveId" clId="{D76684D5-5A26-45C6-AD39-980DC061D39F}" dt="2026-09-11T12:01:40.121" v="40" actId="21"/>
          <ac:graphicFrameMkLst>
            <pc:docMk/>
            <pc:sldMk cId="2370901440" sldId="262"/>
            <ac:graphicFrameMk id="19" creationId="{73683990-DF75-5FFC-26CD-D226D2C3288F}"/>
          </ac:graphicFrameMkLst>
        </pc:graphicFrameChg>
      </pc:sldChg>
      <pc:sldChg chg="del">
        <pc:chgData name="Harika Challa" userId="135cdfd11f38c2ac" providerId="LiveId" clId="{D76684D5-5A26-45C6-AD39-980DC061D39F}" dt="2026-09-11T12:56:11.830" v="328" actId="2696"/>
        <pc:sldMkLst>
          <pc:docMk/>
          <pc:sldMk cId="1454661039" sldId="263"/>
        </pc:sldMkLst>
      </pc:sldChg>
      <pc:sldChg chg="addSp modSp mod">
        <pc:chgData name="Harika Challa" userId="135cdfd11f38c2ac" providerId="LiveId" clId="{D76684D5-5A26-45C6-AD39-980DC061D39F}" dt="2026-09-11T14:34:05.489" v="516" actId="1076"/>
        <pc:sldMkLst>
          <pc:docMk/>
          <pc:sldMk cId="189710809" sldId="264"/>
        </pc:sldMkLst>
        <pc:spChg chg="add mod">
          <ac:chgData name="Harika Challa" userId="135cdfd11f38c2ac" providerId="LiveId" clId="{D76684D5-5A26-45C6-AD39-980DC061D39F}" dt="2026-09-11T14:34:05.489" v="516" actId="1076"/>
          <ac:spMkLst>
            <pc:docMk/>
            <pc:sldMk cId="189710809" sldId="264"/>
            <ac:spMk id="5" creationId="{9ECB4B2F-0C91-2F31-4AB2-53C9A05CA3B7}"/>
          </ac:spMkLst>
        </pc:spChg>
        <pc:picChg chg="mod">
          <ac:chgData name="Harika Challa" userId="135cdfd11f38c2ac" providerId="LiveId" clId="{D76684D5-5A26-45C6-AD39-980DC061D39F}" dt="2026-09-11T14:33:59.758" v="514" actId="14100"/>
          <ac:picMkLst>
            <pc:docMk/>
            <pc:sldMk cId="189710809" sldId="264"/>
            <ac:picMk id="3" creationId="{4383FFF8-E339-148B-20B6-D186C0484169}"/>
          </ac:picMkLst>
        </pc:picChg>
      </pc:sldChg>
      <pc:sldChg chg="addSp modSp mod">
        <pc:chgData name="Harika Challa" userId="135cdfd11f38c2ac" providerId="LiveId" clId="{D76684D5-5A26-45C6-AD39-980DC061D39F}" dt="2026-09-11T14:33:47.048" v="513" actId="1076"/>
        <pc:sldMkLst>
          <pc:docMk/>
          <pc:sldMk cId="1039104617" sldId="265"/>
        </pc:sldMkLst>
        <pc:spChg chg="add">
          <ac:chgData name="Harika Challa" userId="135cdfd11f38c2ac" providerId="LiveId" clId="{D76684D5-5A26-45C6-AD39-980DC061D39F}" dt="2026-09-11T14:33:35.913" v="510" actId="22"/>
          <ac:spMkLst>
            <pc:docMk/>
            <pc:sldMk cId="1039104617" sldId="265"/>
            <ac:spMk id="5" creationId="{7549FAE0-FADE-34E8-C1F2-C7CBA01E4C9A}"/>
          </ac:spMkLst>
        </pc:spChg>
        <pc:spChg chg="add mod">
          <ac:chgData name="Harika Challa" userId="135cdfd11f38c2ac" providerId="LiveId" clId="{D76684D5-5A26-45C6-AD39-980DC061D39F}" dt="2026-09-11T14:33:47.048" v="513" actId="1076"/>
          <ac:spMkLst>
            <pc:docMk/>
            <pc:sldMk cId="1039104617" sldId="265"/>
            <ac:spMk id="7" creationId="{44CB9A88-FE51-C2E1-FBC1-A576BDA703EE}"/>
          </ac:spMkLst>
        </pc:spChg>
        <pc:picChg chg="add mod">
          <ac:chgData name="Harika Challa" userId="135cdfd11f38c2ac" providerId="LiveId" clId="{D76684D5-5A26-45C6-AD39-980DC061D39F}" dt="2026-09-11T14:33:39.128" v="511" actId="1076"/>
          <ac:picMkLst>
            <pc:docMk/>
            <pc:sldMk cId="1039104617" sldId="265"/>
            <ac:picMk id="3" creationId="{44E06DF9-7625-E283-F7F3-ED7929E86C98}"/>
          </ac:picMkLst>
        </pc:picChg>
      </pc:sldChg>
      <pc:sldChg chg="addSp delSp modSp mod ord">
        <pc:chgData name="Harika Challa" userId="135cdfd11f38c2ac" providerId="LiveId" clId="{D76684D5-5A26-45C6-AD39-980DC061D39F}" dt="2026-09-11T14:32:30.573" v="496"/>
        <pc:sldMkLst>
          <pc:docMk/>
          <pc:sldMk cId="2813858368" sldId="266"/>
        </pc:sldMkLst>
        <pc:spChg chg="add del mod">
          <ac:chgData name="Harika Challa" userId="135cdfd11f38c2ac" providerId="LiveId" clId="{D76684D5-5A26-45C6-AD39-980DC061D39F}" dt="2026-09-11T14:29:41.791" v="486" actId="20577"/>
          <ac:spMkLst>
            <pc:docMk/>
            <pc:sldMk cId="2813858368" sldId="266"/>
            <ac:spMk id="3" creationId="{1C93FB22-73F0-4489-1D1A-3980EF88BA49}"/>
          </ac:spMkLst>
        </pc:spChg>
      </pc:sldChg>
      <pc:sldChg chg="addSp modSp new mod">
        <pc:chgData name="Harika Challa" userId="135cdfd11f38c2ac" providerId="LiveId" clId="{D76684D5-5A26-45C6-AD39-980DC061D39F}" dt="2026-09-11T14:38:17.731" v="551" actId="113"/>
        <pc:sldMkLst>
          <pc:docMk/>
          <pc:sldMk cId="3842623047" sldId="267"/>
        </pc:sldMkLst>
        <pc:spChg chg="add mod">
          <ac:chgData name="Harika Challa" userId="135cdfd11f38c2ac" providerId="LiveId" clId="{D76684D5-5A26-45C6-AD39-980DC061D39F}" dt="2026-09-11T14:33:23.604" v="508" actId="255"/>
          <ac:spMkLst>
            <pc:docMk/>
            <pc:sldMk cId="3842623047" sldId="267"/>
            <ac:spMk id="3" creationId="{BBC4A880-1A5D-E3F4-C56D-19EE5FC4B9AC}"/>
          </ac:spMkLst>
        </pc:spChg>
        <pc:spChg chg="add mod">
          <ac:chgData name="Harika Challa" userId="135cdfd11f38c2ac" providerId="LiveId" clId="{D76684D5-5A26-45C6-AD39-980DC061D39F}" dt="2026-09-11T14:38:17.731" v="551" actId="113"/>
          <ac:spMkLst>
            <pc:docMk/>
            <pc:sldMk cId="3842623047" sldId="267"/>
            <ac:spMk id="5" creationId="{6F1B350D-7B1C-5150-3664-92039652A28A}"/>
          </ac:spMkLst>
        </pc:spChg>
      </pc:sldChg>
      <pc:sldChg chg="addSp modSp new mod">
        <pc:chgData name="Harika Challa" userId="135cdfd11f38c2ac" providerId="LiveId" clId="{D76684D5-5A26-45C6-AD39-980DC061D39F}" dt="2026-09-11T14:57:02.390" v="577" actId="113"/>
        <pc:sldMkLst>
          <pc:docMk/>
          <pc:sldMk cId="2675243779" sldId="268"/>
        </pc:sldMkLst>
        <pc:spChg chg="add mod">
          <ac:chgData name="Harika Challa" userId="135cdfd11f38c2ac" providerId="LiveId" clId="{D76684D5-5A26-45C6-AD39-980DC061D39F}" dt="2026-09-11T14:57:02.390" v="577" actId="113"/>
          <ac:spMkLst>
            <pc:docMk/>
            <pc:sldMk cId="2675243779" sldId="268"/>
            <ac:spMk id="3" creationId="{FC3DB0DA-2185-0E28-7CF0-0E4BB6E5EC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A4C235-0E12-402A-880B-C0445C82D2F4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57494-1ED5-4D46-A05B-5E2B56176C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205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57494-1ED5-4D46-A05B-5E2B56176CF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60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584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514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99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487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952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848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50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264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71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86908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33571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60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608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061721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939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44611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645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1719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9576932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038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82926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92890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96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76099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6729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71124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4191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722AA87D-C813-4B74-A4FA-24AEF5874135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A466F2CD-BC82-48D4-8726-865D1ADDF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918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687B9-7881-A925-725F-4E8D11034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191" y="231064"/>
            <a:ext cx="10779829" cy="1981008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Bloomberg-Style Financial Performance &amp; CFO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8CAB1-EF0B-856E-CB2C-0EF3C6A47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9146" y="4645928"/>
            <a:ext cx="3830874" cy="1496616"/>
          </a:xfrm>
        </p:spPr>
        <p:txBody>
          <a:bodyPr/>
          <a:lstStyle/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name : Challa Harika</a:t>
            </a:r>
          </a:p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Analyst Intern</a:t>
            </a:r>
          </a:p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 Python | Excel | Power BI | DAX</a:t>
            </a:r>
          </a:p>
          <a:p>
            <a:pPr lvl="0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: 1 Apr 2026, DA/BA Batch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8CA5D-45F3-72BD-88B3-29873633107D}"/>
              </a:ext>
            </a:extLst>
          </p:cNvPr>
          <p:cNvSpPr txBox="1"/>
          <p:nvPr/>
        </p:nvSpPr>
        <p:spPr>
          <a:xfrm>
            <a:off x="500191" y="2212072"/>
            <a:ext cx="10048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Performance, Revenue Drivers &amp; Profitability Investigation | FY2016–FY2023</a:t>
            </a:r>
          </a:p>
        </p:txBody>
      </p:sp>
    </p:spTree>
    <p:extLst>
      <p:ext uri="{BB962C8B-B14F-4D97-AF65-F5344CB8AC3E}">
        <p14:creationId xmlns:p14="http://schemas.microsoft.com/office/powerpoint/2010/main" val="3215481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12D9-1046-6398-2B16-C6826E6C0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780" y="286196"/>
            <a:ext cx="11442763" cy="2173976"/>
          </a:xfrm>
        </p:spPr>
        <p:txBody>
          <a:bodyPr>
            <a:noAutofit/>
          </a:bodyPr>
          <a:lstStyle/>
          <a:p>
            <a:pPr lvl="0"/>
            <a:r>
              <a:rPr lang="en-IN" sz="1800" b="1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 : </a:t>
            </a:r>
            <a:b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was this analysis needed?</a:t>
            </a:r>
            <a:b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financial extracts are not immediately analysis-ready. </a:t>
            </a:r>
            <a:b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formats, missing values and financial notation can create reporting errors. </a:t>
            </a:r>
            <a:b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needs to understand </a:t>
            </a:r>
            <a:r>
              <a:rPr lang="en-IN" sz="1800" b="1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performance, profitability and cost drivers</a:t>
            </a:r>
            <a: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objective is to move from </a:t>
            </a:r>
            <a:r>
              <a:rPr lang="en-IN" sz="1800" b="1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financial data → reliable KPIs → business insights</a:t>
            </a:r>
            <a: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800" spc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2AC2E7-2306-03C7-E262-D6FFC45AB2B9}"/>
              </a:ext>
            </a:extLst>
          </p:cNvPr>
          <p:cNvSpPr txBox="1"/>
          <p:nvPr/>
        </p:nvSpPr>
        <p:spPr>
          <a:xfrm>
            <a:off x="411780" y="2460172"/>
            <a:ext cx="605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Raw Data to Decision-Ready Analysis: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A5143-D026-8575-5E42-1AE18C9CF92C}"/>
              </a:ext>
            </a:extLst>
          </p:cNvPr>
          <p:cNvSpPr txBox="1"/>
          <p:nvPr/>
        </p:nvSpPr>
        <p:spPr>
          <a:xfrm>
            <a:off x="411780" y="2916589"/>
            <a:ext cx="6096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/ CSV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↓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+ Pandas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↓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↓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↓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Financial Tables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↓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Data Model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↓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 Measures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↓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↓</a:t>
            </a:r>
          </a:p>
          <a:p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Analysis</a:t>
            </a:r>
          </a:p>
        </p:txBody>
      </p:sp>
    </p:spTree>
    <p:extLst>
      <p:ext uri="{BB962C8B-B14F-4D97-AF65-F5344CB8AC3E}">
        <p14:creationId xmlns:p14="http://schemas.microsoft.com/office/powerpoint/2010/main" val="2245652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8136F47-5D5C-BD62-983A-7A088BE39478}"/>
              </a:ext>
            </a:extLst>
          </p:cNvPr>
          <p:cNvSpPr txBox="1"/>
          <p:nvPr/>
        </p:nvSpPr>
        <p:spPr>
          <a:xfrm>
            <a:off x="2852057" y="1310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CFO 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F59282-BACF-9FB8-B864-6CE5F82AC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" y="728359"/>
            <a:ext cx="11615057" cy="560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0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D53CDC-80AA-5D93-5EED-868C7D14F399}"/>
              </a:ext>
            </a:extLst>
          </p:cNvPr>
          <p:cNvSpPr txBox="1"/>
          <p:nvPr/>
        </p:nvSpPr>
        <p:spPr>
          <a:xfrm>
            <a:off x="359228" y="119742"/>
            <a:ext cx="11473543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KPI’s 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  : 170.27K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 Margin : 49.74%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EBIT : 11.76K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Margin : 6.91%</a:t>
            </a: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 Income : 7.75k</a:t>
            </a:r>
          </a:p>
          <a:p>
            <a:pPr lvl="0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Trend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rose from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€18.5B FY2016 to €23.6B FY2019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fell to €19.8B in FY2020, recovered to €22.5B in FY2022, then fell to €21.4B in FY2023.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 Insight: 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 has been volatile and FY2023 remained below the FY2019 peak.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 Investigation : 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Drill into 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product, channel and geography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to identify the sources of the FY2020 and FY2023 declines.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 Profit vs Net Income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 profit remained relatively strong, while net income fell sharply, reaching negative territory in FY2023.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Revenue/gross-profit generation is not translating consistently into bottom-line profit.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0334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7FB091-6AE6-6AC6-B6B9-0CDD005429F1}"/>
              </a:ext>
            </a:extLst>
          </p:cNvPr>
          <p:cNvSpPr txBox="1"/>
          <p:nvPr/>
        </p:nvSpPr>
        <p:spPr>
          <a:xfrm>
            <a:off x="206829" y="163287"/>
            <a:ext cx="11778342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Profitability Trend</a:t>
            </a:r>
          </a:p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 margin stayed around 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47–52%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 but operating and net margins deteriorated substantially after FY2019.</a:t>
            </a:r>
          </a:p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 major profitability pressure is below gross profit. </a:t>
            </a:r>
          </a:p>
          <a:p>
            <a:pPr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Growth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Strongest growth: 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FY2017 +14.8%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 Weakest: 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FY2020 -16.1%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 FY2023 declined 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4.8%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 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dirty="0"/>
              <a:t>Growth momentum has weakened considerably from the earlier period. 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Growth vs EBIT Growth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FY2022 revenue increased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but EBIT declined approximately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79%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growth did not translate into operating-profit growth.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 Trend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Margin fell from 11.1% FY 2019 to 1.7% FY 2023; net margin reached -0.1%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 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Profitability deterioration is much greater than the revenue decline alone.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901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3659F3-2E6D-EDFD-7F3B-09596E7E6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6" y="751114"/>
            <a:ext cx="11963400" cy="59653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EC2D35-06B7-05DE-2530-2D22F51D3BE6}"/>
              </a:ext>
            </a:extLst>
          </p:cNvPr>
          <p:cNvSpPr txBox="1"/>
          <p:nvPr/>
        </p:nvSpPr>
        <p:spPr>
          <a:xfrm>
            <a:off x="3222172" y="242147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Analysis</a:t>
            </a:r>
          </a:p>
        </p:txBody>
      </p:sp>
    </p:spTree>
    <p:extLst>
      <p:ext uri="{BB962C8B-B14F-4D97-AF65-F5344CB8AC3E}">
        <p14:creationId xmlns:p14="http://schemas.microsoft.com/office/powerpoint/2010/main" val="550438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2461DA-4C07-B019-21AF-BD899F9515C4}"/>
              </a:ext>
            </a:extLst>
          </p:cNvPr>
          <p:cNvSpPr txBox="1"/>
          <p:nvPr/>
        </p:nvSpPr>
        <p:spPr>
          <a:xfrm>
            <a:off x="119743" y="135791"/>
            <a:ext cx="11789229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Analysis</a:t>
            </a:r>
          </a:p>
          <a:p>
            <a:pPr>
              <a:buNone/>
            </a:pP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Segments Generate the Most Revenue?</a:t>
            </a:r>
          </a:p>
          <a:p>
            <a:pPr>
              <a:buNone/>
            </a:pP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visual shows </a:t>
            </a: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adidas, Footwear, Wholesale and Retail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the largest revenue categories, followed by Apparel and Accessories.</a:t>
            </a:r>
          </a:p>
          <a:p>
            <a:pPr>
              <a:buNone/>
            </a:pP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Footwear is the primary revenue engine and has the strongest long-term growth.</a:t>
            </a:r>
          </a:p>
          <a:p>
            <a:pPr>
              <a:buNone/>
            </a:pP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Has Revenue from Each Segment Changed Over Time?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Footwear increased from roughly </a:t>
            </a:r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€10.1B to €12.5B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Apparel and Accessories also recovered after FY2020 but declined in FY2023.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Footwear is the strongest long-term product revenue contributor.</a:t>
            </a:r>
          </a:p>
          <a:p>
            <a:endParaRPr lang="en-I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Regions Drive Revenue?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report shows substantial regional differences, with North America, EMEA/Europe and Greater China among the major markets.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performance is geographically uneven.</a:t>
            </a:r>
          </a:p>
          <a:p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Has Revenue Mix Shifted by Region?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regional mix changes across the period, with North America and other major regions representing different proportions over time.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company's geographic revenue concentration is changing.</a:t>
            </a:r>
          </a:p>
          <a:p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Revenue Becoming More Dependent on Particular Segments?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visual indicates concentration around major categories, especially adidas and Footwear.</a:t>
            </a: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has meaningful dependence on its core products/brand.</a:t>
            </a:r>
          </a:p>
          <a:p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the Company Increasingly Dependent on a Small Number of Markets?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69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83FFF8-E339-148B-20B6-D186C0484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0" y="685799"/>
            <a:ext cx="12198350" cy="61686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CB4B2F-0C91-2F31-4AB2-53C9A05CA3B7}"/>
              </a:ext>
            </a:extLst>
          </p:cNvPr>
          <p:cNvSpPr txBox="1"/>
          <p:nvPr/>
        </p:nvSpPr>
        <p:spPr>
          <a:xfrm>
            <a:off x="3192236" y="115631"/>
            <a:ext cx="6101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OPEX &amp; Profitability</a:t>
            </a:r>
          </a:p>
        </p:txBody>
      </p:sp>
    </p:spTree>
    <p:extLst>
      <p:ext uri="{BB962C8B-B14F-4D97-AF65-F5344CB8AC3E}">
        <p14:creationId xmlns:p14="http://schemas.microsoft.com/office/powerpoint/2010/main" val="189710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93FB22-73F0-4489-1D1A-3980EF88BA49}"/>
              </a:ext>
            </a:extLst>
          </p:cNvPr>
          <p:cNvSpPr txBox="1"/>
          <p:nvPr/>
        </p:nvSpPr>
        <p:spPr>
          <a:xfrm>
            <a:off x="250371" y="163285"/>
            <a:ext cx="11310257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OPEX &amp; Profitability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Operating Expenses Consume the Most?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Distribution &amp; Selling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largest operating expense, followed by Marketing and G&amp;A.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&amp; Selling is the primary cost area to investigate.</a:t>
            </a: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Has Operating Expense Changed?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OPEX fluctuates across the period and remains elevated during the later years.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cost base has not reduced proportionally with revenue weakness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Proportion of OPEX Does Each Category Represent?</a:t>
            </a:r>
            <a:r>
              <a:rPr lang="en-IN" sz="1600" b="1" dirty="0"/>
              <a:t> 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 &amp; Selling is the dominant OPEX category.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 should focus cost-efficiency efforts on the largest expense pool first</a:t>
            </a:r>
            <a:r>
              <a:rPr lang="en-IN" sz="1600" dirty="0"/>
              <a:t>.</a:t>
            </a: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Investigation: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Distribution &amp; Selling as a percentage of OPEX and revenue over time.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Increasing Expense Intensity Associated With Operating-Margin Pressure?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OPEX/revenue increased from approximately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41.9% in FY2019 to 46.8% in FY2023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operating margin declined from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11.08% in FY2019 to 1.66% in FY2023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 Operating Expenses Growing Faster Than Revenue?</a:t>
            </a:r>
          </a:p>
          <a:p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FY2022 is the clearest cost-pressure year: revenue grew 6%, while OPEX grew 15.4%.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85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E06DF9-7625-E283-F7F3-ED7929E86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28" y="813218"/>
            <a:ext cx="11185743" cy="56932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49FAE0-FADE-34E8-C1F2-C7CBA01E4C9A}"/>
              </a:ext>
            </a:extLst>
          </p:cNvPr>
          <p:cNvSpPr txBox="1"/>
          <p:nvPr/>
        </p:nvSpPr>
        <p:spPr>
          <a:xfrm>
            <a:off x="3048000" y="319816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Drivers &amp; Investigation Page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B9A88-FE51-C2E1-FBC1-A576BDA703EE}"/>
              </a:ext>
            </a:extLst>
          </p:cNvPr>
          <p:cNvSpPr txBox="1"/>
          <p:nvPr/>
        </p:nvSpPr>
        <p:spPr>
          <a:xfrm>
            <a:off x="3516085" y="2372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Drivers &amp; Investigation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10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C4A880-1A5D-E3F4-C56D-19EE5FC4B9AC}"/>
              </a:ext>
            </a:extLst>
          </p:cNvPr>
          <p:cNvSpPr txBox="1"/>
          <p:nvPr/>
        </p:nvSpPr>
        <p:spPr>
          <a:xfrm>
            <a:off x="272143" y="283029"/>
            <a:ext cx="115932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Drivers &amp; Investigation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B350D-7B1C-5150-3664-92039652A28A}"/>
              </a:ext>
            </a:extLst>
          </p:cNvPr>
          <p:cNvSpPr txBox="1"/>
          <p:nvPr/>
        </p:nvSpPr>
        <p:spPr>
          <a:xfrm>
            <a:off x="348343" y="925286"/>
            <a:ext cx="114082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&amp; EBIT Growth</a:t>
            </a:r>
          </a:p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FY2020 Revenue: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-16.1%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FY2020 EBIT: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-69.3%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FY2021 Revenue: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+7.0%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FY2021 EBIT: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+129.1%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FY2022 Revenue: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+6.0%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FY2022 EBIT: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-79.0%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FY2023 Revenue: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-4.8%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FY2023 EBIT: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-8.3%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and operating profit are not moving together consistently.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Margin Trend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Gross margin remains relatively stable compared with the much larger decline in operating and net margins.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problem appears to be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profitability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not simply revenue generation.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2623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DB0DA-2185-0E28-7CF0-0E4BB6E5EC91}"/>
              </a:ext>
            </a:extLst>
          </p:cNvPr>
          <p:cNvSpPr txBox="1"/>
          <p:nvPr/>
        </p:nvSpPr>
        <p:spPr>
          <a:xfrm>
            <a:off x="293914" y="283030"/>
            <a:ext cx="11430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Trend</a:t>
            </a:r>
          </a:p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FY2019 was the revenue peak at approximately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€23.6B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FY2023 revenue was approximately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€21.4B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has not returned to its FY2019 revenue peak.</a:t>
            </a:r>
          </a:p>
          <a:p>
            <a:pPr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Pressure vs Operating Margin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margin deteriorated substantially after FY2019 while OPEX intensity remained elevated.</a:t>
            </a: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structure is a major area for management investigation.</a:t>
            </a:r>
          </a:p>
          <a:p>
            <a:pPr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243779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452</TotalTime>
  <Words>1049</Words>
  <Application>Microsoft Office PowerPoint</Application>
  <PresentationFormat>Widescreen</PresentationFormat>
  <Paragraphs>147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Neue Haas Grotesk Text Pro</vt:lpstr>
      <vt:lpstr>Film Burn</vt:lpstr>
      <vt:lpstr>Bloomberg-Style Financial Performance &amp; CFO Analytics</vt:lpstr>
      <vt:lpstr>Business Problem :   Why was this analysis needed?  Raw financial extracts are not immediately analysis-ready.  Multiple formats, missing values and financial notation can create reporting errors.  Management needs to understand revenue performance, profitability and cost drivers.  The objective is to move from raw financial data → reliable KPIs → business insights.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Harika Challa</dc:creator>
  <cp:lastModifiedBy>Harika Challa</cp:lastModifiedBy>
  <cp:revision>1</cp:revision>
  <dcterms:created xsi:type="dcterms:W3CDTF">2026-09-11T07:24:36Z</dcterms:created>
  <dcterms:modified xsi:type="dcterms:W3CDTF">2026-09-11T14:57:03Z</dcterms:modified>
</cp:coreProperties>
</file>