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20"/>
  </p:notesMasterIdLst>
  <p:sldIdLst>
    <p:sldId id="256" r:id="rId2"/>
    <p:sldId id="257" r:id="rId3"/>
    <p:sldId id="258" r:id="rId4"/>
    <p:sldId id="259" r:id="rId5"/>
    <p:sldId id="260" r:id="rId6"/>
    <p:sldId id="268" r:id="rId7"/>
    <p:sldId id="269" r:id="rId8"/>
    <p:sldId id="270" r:id="rId9"/>
    <p:sldId id="261" r:id="rId10"/>
    <p:sldId id="262" r:id="rId11"/>
    <p:sldId id="263" r:id="rId12"/>
    <p:sldId id="264" r:id="rId13"/>
    <p:sldId id="265" r:id="rId14"/>
    <p:sldId id="266" r:id="rId15"/>
    <p:sldId id="267"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6D66A5-61EB-4BF2-9002-1206C1BA449B}" v="128" dt="2026-07-31T16:59:28.9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1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ka Challa" userId="135cdfd11f38c2ac" providerId="LiveId" clId="{D76684D5-5A26-45C6-AD39-980DC061D39F}"/>
    <pc:docChg chg="custSel addSld modSld">
      <pc:chgData name="Harika Challa" userId="135cdfd11f38c2ac" providerId="LiveId" clId="{D76684D5-5A26-45C6-AD39-980DC061D39F}" dt="2026-07-31T17:01:40.562" v="2034" actId="313"/>
      <pc:docMkLst>
        <pc:docMk/>
      </pc:docMkLst>
      <pc:sldChg chg="modSp mod">
        <pc:chgData name="Harika Challa" userId="135cdfd11f38c2ac" providerId="LiveId" clId="{D76684D5-5A26-45C6-AD39-980DC061D39F}" dt="2026-07-31T04:46:57.869" v="1317" actId="207"/>
        <pc:sldMkLst>
          <pc:docMk/>
          <pc:sldMk cId="2608805387" sldId="256"/>
        </pc:sldMkLst>
        <pc:spChg chg="mod">
          <ac:chgData name="Harika Challa" userId="135cdfd11f38c2ac" providerId="LiveId" clId="{D76684D5-5A26-45C6-AD39-980DC061D39F}" dt="2026-07-31T04:45:58.963" v="1315" actId="207"/>
          <ac:spMkLst>
            <pc:docMk/>
            <pc:sldMk cId="2608805387" sldId="256"/>
            <ac:spMk id="2" creationId="{4CD5D93C-5D5F-F3F5-507D-D08CE667B39B}"/>
          </ac:spMkLst>
        </pc:spChg>
        <pc:spChg chg="mod">
          <ac:chgData name="Harika Challa" userId="135cdfd11f38c2ac" providerId="LiveId" clId="{D76684D5-5A26-45C6-AD39-980DC061D39F}" dt="2026-07-31T04:46:57.869" v="1317" actId="207"/>
          <ac:spMkLst>
            <pc:docMk/>
            <pc:sldMk cId="2608805387" sldId="256"/>
            <ac:spMk id="3" creationId="{18247405-F694-4A6E-2556-335D306D15C9}"/>
          </ac:spMkLst>
        </pc:spChg>
      </pc:sldChg>
      <pc:sldChg chg="addSp delSp modSp new mod">
        <pc:chgData name="Harika Challa" userId="135cdfd11f38c2ac" providerId="LiveId" clId="{D76684D5-5A26-45C6-AD39-980DC061D39F}" dt="2026-07-29T16:14:37.997" v="41" actId="120"/>
        <pc:sldMkLst>
          <pc:docMk/>
          <pc:sldMk cId="2247641460" sldId="257"/>
        </pc:sldMkLst>
        <pc:spChg chg="mod">
          <ac:chgData name="Harika Challa" userId="135cdfd11f38c2ac" providerId="LiveId" clId="{D76684D5-5A26-45C6-AD39-980DC061D39F}" dt="2026-07-29T16:14:37.997" v="41" actId="120"/>
          <ac:spMkLst>
            <pc:docMk/>
            <pc:sldMk cId="2247641460" sldId="257"/>
            <ac:spMk id="2" creationId="{428853E2-A46F-ABC5-C495-B9747C66550B}"/>
          </ac:spMkLst>
        </pc:spChg>
        <pc:spChg chg="add mod">
          <ac:chgData name="Harika Challa" userId="135cdfd11f38c2ac" providerId="LiveId" clId="{D76684D5-5A26-45C6-AD39-980DC061D39F}" dt="2026-07-29T16:14:14.635" v="38" actId="20577"/>
          <ac:spMkLst>
            <pc:docMk/>
            <pc:sldMk cId="2247641460" sldId="257"/>
            <ac:spMk id="4" creationId="{78C392F7-3072-CE32-FF7D-FA59E1B6F91D}"/>
          </ac:spMkLst>
        </pc:spChg>
      </pc:sldChg>
      <pc:sldChg chg="addSp modSp new mod">
        <pc:chgData name="Harika Challa" userId="135cdfd11f38c2ac" providerId="LiveId" clId="{D76684D5-5A26-45C6-AD39-980DC061D39F}" dt="2026-07-29T16:19:16.902" v="92" actId="113"/>
        <pc:sldMkLst>
          <pc:docMk/>
          <pc:sldMk cId="1006225180" sldId="258"/>
        </pc:sldMkLst>
        <pc:spChg chg="add mod">
          <ac:chgData name="Harika Challa" userId="135cdfd11f38c2ac" providerId="LiveId" clId="{D76684D5-5A26-45C6-AD39-980DC061D39F}" dt="2026-07-29T16:19:16.902" v="92" actId="113"/>
          <ac:spMkLst>
            <pc:docMk/>
            <pc:sldMk cId="1006225180" sldId="258"/>
            <ac:spMk id="3" creationId="{7D9F200C-FF85-3812-D355-4CE7A5BAA8EE}"/>
          </ac:spMkLst>
        </pc:spChg>
      </pc:sldChg>
      <pc:sldChg chg="addSp modSp new mod">
        <pc:chgData name="Harika Challa" userId="135cdfd11f38c2ac" providerId="LiveId" clId="{D76684D5-5A26-45C6-AD39-980DC061D39F}" dt="2026-07-29T16:20:45.904" v="118" actId="20577"/>
        <pc:sldMkLst>
          <pc:docMk/>
          <pc:sldMk cId="1486911174" sldId="259"/>
        </pc:sldMkLst>
        <pc:spChg chg="add mod">
          <ac:chgData name="Harika Challa" userId="135cdfd11f38c2ac" providerId="LiveId" clId="{D76684D5-5A26-45C6-AD39-980DC061D39F}" dt="2026-07-29T16:20:45.904" v="118" actId="20577"/>
          <ac:spMkLst>
            <pc:docMk/>
            <pc:sldMk cId="1486911174" sldId="259"/>
            <ac:spMk id="3" creationId="{4ACCD6C6-780A-0BF8-4988-4AE3AE75ADDD}"/>
          </ac:spMkLst>
        </pc:spChg>
      </pc:sldChg>
      <pc:sldChg chg="addSp modSp new mod">
        <pc:chgData name="Harika Challa" userId="135cdfd11f38c2ac" providerId="LiveId" clId="{D76684D5-5A26-45C6-AD39-980DC061D39F}" dt="2026-07-29T16:21:39.513" v="131" actId="20577"/>
        <pc:sldMkLst>
          <pc:docMk/>
          <pc:sldMk cId="1154061519" sldId="260"/>
        </pc:sldMkLst>
        <pc:spChg chg="add mod">
          <ac:chgData name="Harika Challa" userId="135cdfd11f38c2ac" providerId="LiveId" clId="{D76684D5-5A26-45C6-AD39-980DC061D39F}" dt="2026-07-29T16:21:39.513" v="131" actId="20577"/>
          <ac:spMkLst>
            <pc:docMk/>
            <pc:sldMk cId="1154061519" sldId="260"/>
            <ac:spMk id="3" creationId="{53479E2F-00E1-5F64-B90F-47A150A92733}"/>
          </ac:spMkLst>
        </pc:spChg>
      </pc:sldChg>
      <pc:sldChg chg="addSp modSp new mod">
        <pc:chgData name="Harika Challa" userId="135cdfd11f38c2ac" providerId="LiveId" clId="{D76684D5-5A26-45C6-AD39-980DC061D39F}" dt="2026-07-29T16:55:53.235" v="138" actId="14100"/>
        <pc:sldMkLst>
          <pc:docMk/>
          <pc:sldMk cId="492443613" sldId="261"/>
        </pc:sldMkLst>
        <pc:picChg chg="add mod">
          <ac:chgData name="Harika Challa" userId="135cdfd11f38c2ac" providerId="LiveId" clId="{D76684D5-5A26-45C6-AD39-980DC061D39F}" dt="2026-07-29T16:55:53.235" v="138" actId="14100"/>
          <ac:picMkLst>
            <pc:docMk/>
            <pc:sldMk cId="492443613" sldId="261"/>
            <ac:picMk id="3" creationId="{4C55A9A8-92B8-8976-F153-EBD4B8863BE4}"/>
          </ac:picMkLst>
        </pc:picChg>
      </pc:sldChg>
      <pc:sldChg chg="addSp delSp modSp new mod">
        <pc:chgData name="Harika Challa" userId="135cdfd11f38c2ac" providerId="LiveId" clId="{D76684D5-5A26-45C6-AD39-980DC061D39F}" dt="2026-07-29T18:03:30.638" v="1233" actId="20577"/>
        <pc:sldMkLst>
          <pc:docMk/>
          <pc:sldMk cId="1971911521" sldId="262"/>
        </pc:sldMkLst>
        <pc:spChg chg="add mod">
          <ac:chgData name="Harika Challa" userId="135cdfd11f38c2ac" providerId="LiveId" clId="{D76684D5-5A26-45C6-AD39-980DC061D39F}" dt="2026-07-29T16:56:58.897" v="157" actId="113"/>
          <ac:spMkLst>
            <pc:docMk/>
            <pc:sldMk cId="1971911521" sldId="262"/>
            <ac:spMk id="2" creationId="{A6E58F99-C481-9936-0692-89E689057086}"/>
          </ac:spMkLst>
        </pc:spChg>
        <pc:spChg chg="add mod">
          <ac:chgData name="Harika Challa" userId="135cdfd11f38c2ac" providerId="LiveId" clId="{D76684D5-5A26-45C6-AD39-980DC061D39F}" dt="2026-07-29T18:00:22.865" v="1193" actId="2711"/>
          <ac:spMkLst>
            <pc:docMk/>
            <pc:sldMk cId="1971911521" sldId="262"/>
            <ac:spMk id="4" creationId="{BF81B372-3B60-4FF0-C490-E689A266623C}"/>
          </ac:spMkLst>
        </pc:spChg>
        <pc:spChg chg="add mod">
          <ac:chgData name="Harika Challa" userId="135cdfd11f38c2ac" providerId="LiveId" clId="{D76684D5-5A26-45C6-AD39-980DC061D39F}" dt="2026-07-29T18:03:22.635" v="1230"/>
          <ac:spMkLst>
            <pc:docMk/>
            <pc:sldMk cId="1971911521" sldId="262"/>
            <ac:spMk id="5" creationId="{EAAA1C18-635E-7786-EE96-CC05AAA00B19}"/>
          </ac:spMkLst>
        </pc:spChg>
        <pc:spChg chg="add mod">
          <ac:chgData name="Harika Challa" userId="135cdfd11f38c2ac" providerId="LiveId" clId="{D76684D5-5A26-45C6-AD39-980DC061D39F}" dt="2026-07-29T18:03:30.638" v="1233" actId="20577"/>
          <ac:spMkLst>
            <pc:docMk/>
            <pc:sldMk cId="1971911521" sldId="262"/>
            <ac:spMk id="7" creationId="{1759843D-E9CC-D0A5-E45C-30C4D13D58FC}"/>
          </ac:spMkLst>
        </pc:spChg>
      </pc:sldChg>
      <pc:sldChg chg="addSp modSp new mod">
        <pc:chgData name="Harika Challa" userId="135cdfd11f38c2ac" providerId="LiveId" clId="{D76684D5-5A26-45C6-AD39-980DC061D39F}" dt="2026-07-29T17:13:27.760" v="357" actId="14100"/>
        <pc:sldMkLst>
          <pc:docMk/>
          <pc:sldMk cId="1739242820" sldId="263"/>
        </pc:sldMkLst>
        <pc:picChg chg="add mod">
          <ac:chgData name="Harika Challa" userId="135cdfd11f38c2ac" providerId="LiveId" clId="{D76684D5-5A26-45C6-AD39-980DC061D39F}" dt="2026-07-29T17:13:27.760" v="357" actId="14100"/>
          <ac:picMkLst>
            <pc:docMk/>
            <pc:sldMk cId="1739242820" sldId="263"/>
            <ac:picMk id="3" creationId="{2549631E-5A45-7F88-3272-3E1F7B470241}"/>
          </ac:picMkLst>
        </pc:picChg>
      </pc:sldChg>
      <pc:sldChg chg="addSp modSp new mod">
        <pc:chgData name="Harika Challa" userId="135cdfd11f38c2ac" providerId="LiveId" clId="{D76684D5-5A26-45C6-AD39-980DC061D39F}" dt="2026-07-29T18:06:08.759" v="1255" actId="2711"/>
        <pc:sldMkLst>
          <pc:docMk/>
          <pc:sldMk cId="2815578097" sldId="264"/>
        </pc:sldMkLst>
        <pc:spChg chg="add mod">
          <ac:chgData name="Harika Challa" userId="135cdfd11f38c2ac" providerId="LiveId" clId="{D76684D5-5A26-45C6-AD39-980DC061D39F}" dt="2026-07-29T18:06:08.759" v="1255" actId="2711"/>
          <ac:spMkLst>
            <pc:docMk/>
            <pc:sldMk cId="2815578097" sldId="264"/>
            <ac:spMk id="2" creationId="{E0592E69-355B-C328-2DD4-17104E0517E5}"/>
          </ac:spMkLst>
        </pc:spChg>
        <pc:spChg chg="add mod">
          <ac:chgData name="Harika Challa" userId="135cdfd11f38c2ac" providerId="LiveId" clId="{D76684D5-5A26-45C6-AD39-980DC061D39F}" dt="2026-07-29T17:15:13.638" v="371" actId="1076"/>
          <ac:spMkLst>
            <pc:docMk/>
            <pc:sldMk cId="2815578097" sldId="264"/>
            <ac:spMk id="3" creationId="{85472744-A94A-C560-059D-400CF1C0AB35}"/>
          </ac:spMkLst>
        </pc:spChg>
        <pc:spChg chg="add mod">
          <ac:chgData name="Harika Challa" userId="135cdfd11f38c2ac" providerId="LiveId" clId="{D76684D5-5A26-45C6-AD39-980DC061D39F}" dt="2026-07-29T18:05:24.074" v="1249" actId="14100"/>
          <ac:spMkLst>
            <pc:docMk/>
            <pc:sldMk cId="2815578097" sldId="264"/>
            <ac:spMk id="4" creationId="{2CC109A0-AABF-7382-858C-8836CC573F0C}"/>
          </ac:spMkLst>
        </pc:spChg>
      </pc:sldChg>
      <pc:sldChg chg="addSp modSp new mod">
        <pc:chgData name="Harika Challa" userId="135cdfd11f38c2ac" providerId="LiveId" clId="{D76684D5-5A26-45C6-AD39-980DC061D39F}" dt="2026-07-29T17:27:33.937" v="678" actId="1076"/>
        <pc:sldMkLst>
          <pc:docMk/>
          <pc:sldMk cId="4104031315" sldId="265"/>
        </pc:sldMkLst>
        <pc:picChg chg="add mod">
          <ac:chgData name="Harika Challa" userId="135cdfd11f38c2ac" providerId="LiveId" clId="{D76684D5-5A26-45C6-AD39-980DC061D39F}" dt="2026-07-29T17:27:33.937" v="678" actId="1076"/>
          <ac:picMkLst>
            <pc:docMk/>
            <pc:sldMk cId="4104031315" sldId="265"/>
            <ac:picMk id="3" creationId="{5884FB8D-912A-5BA5-1313-21383B103486}"/>
          </ac:picMkLst>
        </pc:picChg>
      </pc:sldChg>
      <pc:sldChg chg="addSp modSp new mod">
        <pc:chgData name="Harika Challa" userId="135cdfd11f38c2ac" providerId="LiveId" clId="{D76684D5-5A26-45C6-AD39-980DC061D39F}" dt="2026-07-29T18:09:18.140" v="1276" actId="2711"/>
        <pc:sldMkLst>
          <pc:docMk/>
          <pc:sldMk cId="235000074" sldId="266"/>
        </pc:sldMkLst>
        <pc:spChg chg="add mod">
          <ac:chgData name="Harika Challa" userId="135cdfd11f38c2ac" providerId="LiveId" clId="{D76684D5-5A26-45C6-AD39-980DC061D39F}" dt="2026-07-29T17:28:19.756" v="687" actId="207"/>
          <ac:spMkLst>
            <pc:docMk/>
            <pc:sldMk cId="235000074" sldId="266"/>
            <ac:spMk id="2" creationId="{31A3F235-B622-DCC1-EF47-FB3253673458}"/>
          </ac:spMkLst>
        </pc:spChg>
        <pc:spChg chg="add mod">
          <ac:chgData name="Harika Challa" userId="135cdfd11f38c2ac" providerId="LiveId" clId="{D76684D5-5A26-45C6-AD39-980DC061D39F}" dt="2026-07-29T18:09:18.140" v="1276" actId="2711"/>
          <ac:spMkLst>
            <pc:docMk/>
            <pc:sldMk cId="235000074" sldId="266"/>
            <ac:spMk id="3" creationId="{62E5CE8B-999A-C875-13E5-979DB9390796}"/>
          </ac:spMkLst>
        </pc:spChg>
        <pc:spChg chg="add mod">
          <ac:chgData name="Harika Challa" userId="135cdfd11f38c2ac" providerId="LiveId" clId="{D76684D5-5A26-45C6-AD39-980DC061D39F}" dt="2026-07-29T18:09:13.209" v="1275" actId="1076"/>
          <ac:spMkLst>
            <pc:docMk/>
            <pc:sldMk cId="235000074" sldId="266"/>
            <ac:spMk id="4" creationId="{439AE608-B93D-3F9C-BB7F-AD555681F240}"/>
          </ac:spMkLst>
        </pc:spChg>
      </pc:sldChg>
      <pc:sldChg chg="addSp delSp modSp new mod">
        <pc:chgData name="Harika Challa" userId="135cdfd11f38c2ac" providerId="LiveId" clId="{D76684D5-5A26-45C6-AD39-980DC061D39F}" dt="2026-07-31T17:00:41.368" v="2021" actId="14100"/>
        <pc:sldMkLst>
          <pc:docMk/>
          <pc:sldMk cId="3317891293" sldId="267"/>
        </pc:sldMkLst>
        <pc:spChg chg="add mod">
          <ac:chgData name="Harika Challa" userId="135cdfd11f38c2ac" providerId="LiveId" clId="{D76684D5-5A26-45C6-AD39-980DC061D39F}" dt="2026-07-31T17:00:41.368" v="2021" actId="14100"/>
          <ac:spMkLst>
            <pc:docMk/>
            <pc:sldMk cId="3317891293" sldId="267"/>
            <ac:spMk id="5" creationId="{B8E4636C-1063-0A80-15DE-167F194919D0}"/>
          </ac:spMkLst>
        </pc:spChg>
      </pc:sldChg>
      <pc:sldChg chg="addSp modSp new mod">
        <pc:chgData name="Harika Challa" userId="135cdfd11f38c2ac" providerId="LiveId" clId="{D76684D5-5A26-45C6-AD39-980DC061D39F}" dt="2026-07-31T04:56:26.028" v="1459" actId="20577"/>
        <pc:sldMkLst>
          <pc:docMk/>
          <pc:sldMk cId="2165172010" sldId="268"/>
        </pc:sldMkLst>
        <pc:spChg chg="add mod">
          <ac:chgData name="Harika Challa" userId="135cdfd11f38c2ac" providerId="LiveId" clId="{D76684D5-5A26-45C6-AD39-980DC061D39F}" dt="2026-07-29T17:44:38.641" v="999" actId="1076"/>
          <ac:spMkLst>
            <pc:docMk/>
            <pc:sldMk cId="2165172010" sldId="268"/>
            <ac:spMk id="2" creationId="{7A51F89A-1E86-5F85-923C-C99AE3478C9C}"/>
          </ac:spMkLst>
        </pc:spChg>
        <pc:spChg chg="add mod">
          <ac:chgData name="Harika Challa" userId="135cdfd11f38c2ac" providerId="LiveId" clId="{D76684D5-5A26-45C6-AD39-980DC061D39F}" dt="2026-07-31T04:56:26.028" v="1459" actId="20577"/>
          <ac:spMkLst>
            <pc:docMk/>
            <pc:sldMk cId="2165172010" sldId="268"/>
            <ac:spMk id="3" creationId="{520B561F-13B6-39EE-FB82-3E0B22874843}"/>
          </ac:spMkLst>
        </pc:spChg>
      </pc:sldChg>
      <pc:sldChg chg="addSp delSp modSp new mod">
        <pc:chgData name="Harika Challa" userId="135cdfd11f38c2ac" providerId="LiveId" clId="{D76684D5-5A26-45C6-AD39-980DC061D39F}" dt="2026-07-31T16:45:41.134" v="1548" actId="255"/>
        <pc:sldMkLst>
          <pc:docMk/>
          <pc:sldMk cId="878744143" sldId="269"/>
        </pc:sldMkLst>
        <pc:spChg chg="add mod">
          <ac:chgData name="Harika Challa" userId="135cdfd11f38c2ac" providerId="LiveId" clId="{D76684D5-5A26-45C6-AD39-980DC061D39F}" dt="2026-07-31T16:45:41.134" v="1548" actId="255"/>
          <ac:spMkLst>
            <pc:docMk/>
            <pc:sldMk cId="878744143" sldId="269"/>
            <ac:spMk id="2" creationId="{F56073E1-6EE1-26E7-962D-C052E94D90A6}"/>
          </ac:spMkLst>
        </pc:spChg>
        <pc:spChg chg="add mod">
          <ac:chgData name="Harika Challa" userId="135cdfd11f38c2ac" providerId="LiveId" clId="{D76684D5-5A26-45C6-AD39-980DC061D39F}" dt="2026-07-31T16:41:45.762" v="1529" actId="1076"/>
          <ac:spMkLst>
            <pc:docMk/>
            <pc:sldMk cId="878744143" sldId="269"/>
            <ac:spMk id="3" creationId="{64A22F82-BA55-04A1-58AB-FF9156D1C7B0}"/>
          </ac:spMkLst>
        </pc:spChg>
        <pc:spChg chg="add del mod">
          <ac:chgData name="Harika Challa" userId="135cdfd11f38c2ac" providerId="LiveId" clId="{D76684D5-5A26-45C6-AD39-980DC061D39F}" dt="2026-07-31T05:01:58.633" v="1486" actId="21"/>
          <ac:spMkLst>
            <pc:docMk/>
            <pc:sldMk cId="878744143" sldId="269"/>
            <ac:spMk id="6" creationId="{8232FF37-31AC-CB28-4F2B-038E3B566ECC}"/>
          </ac:spMkLst>
        </pc:spChg>
      </pc:sldChg>
      <pc:sldChg chg="addSp modSp new mod">
        <pc:chgData name="Harika Challa" userId="135cdfd11f38c2ac" providerId="LiveId" clId="{D76684D5-5A26-45C6-AD39-980DC061D39F}" dt="2026-07-31T16:46:03.615" v="1560" actId="20577"/>
        <pc:sldMkLst>
          <pc:docMk/>
          <pc:sldMk cId="375032674" sldId="270"/>
        </pc:sldMkLst>
        <pc:spChg chg="add mod">
          <ac:chgData name="Harika Challa" userId="135cdfd11f38c2ac" providerId="LiveId" clId="{D76684D5-5A26-45C6-AD39-980DC061D39F}" dt="2026-07-31T16:45:56.151" v="1556" actId="20577"/>
          <ac:spMkLst>
            <pc:docMk/>
            <pc:sldMk cId="375032674" sldId="270"/>
            <ac:spMk id="2" creationId="{FB08845B-16B7-5810-91CD-57343A61E7B1}"/>
          </ac:spMkLst>
        </pc:spChg>
        <pc:spChg chg="add mod">
          <ac:chgData name="Harika Challa" userId="135cdfd11f38c2ac" providerId="LiveId" clId="{D76684D5-5A26-45C6-AD39-980DC061D39F}" dt="2026-07-31T16:46:03.615" v="1560" actId="20577"/>
          <ac:spMkLst>
            <pc:docMk/>
            <pc:sldMk cId="375032674" sldId="270"/>
            <ac:spMk id="3" creationId="{8A3AC24D-6E3D-448C-AAA7-3B78FD464A3B}"/>
          </ac:spMkLst>
        </pc:spChg>
      </pc:sldChg>
      <pc:sldChg chg="addSp delSp modSp new mod">
        <pc:chgData name="Harika Challa" userId="135cdfd11f38c2ac" providerId="LiveId" clId="{D76684D5-5A26-45C6-AD39-980DC061D39F}" dt="2026-07-31T17:00:52.682" v="2023" actId="14100"/>
        <pc:sldMkLst>
          <pc:docMk/>
          <pc:sldMk cId="3024816941" sldId="271"/>
        </pc:sldMkLst>
        <pc:spChg chg="add mod">
          <ac:chgData name="Harika Challa" userId="135cdfd11f38c2ac" providerId="LiveId" clId="{D76684D5-5A26-45C6-AD39-980DC061D39F}" dt="2026-07-31T17:00:52.682" v="2023" actId="14100"/>
          <ac:spMkLst>
            <pc:docMk/>
            <pc:sldMk cId="3024816941" sldId="271"/>
            <ac:spMk id="2" creationId="{7311C8BB-F8E9-1AA3-9FA5-F671D88DB9AE}"/>
          </ac:spMkLst>
        </pc:spChg>
        <pc:spChg chg="add del mod">
          <ac:chgData name="Harika Challa" userId="135cdfd11f38c2ac" providerId="LiveId" clId="{D76684D5-5A26-45C6-AD39-980DC061D39F}" dt="2026-07-31T16:53:04.303" v="1751"/>
          <ac:spMkLst>
            <pc:docMk/>
            <pc:sldMk cId="3024816941" sldId="271"/>
            <ac:spMk id="3" creationId="{647F46EC-D749-A76C-2336-9ED8B0BD1356}"/>
          </ac:spMkLst>
        </pc:spChg>
      </pc:sldChg>
      <pc:sldChg chg="addSp modSp new mod">
        <pc:chgData name="Harika Challa" userId="135cdfd11f38c2ac" providerId="LiveId" clId="{D76684D5-5A26-45C6-AD39-980DC061D39F}" dt="2026-07-31T17:01:13.732" v="2028" actId="14100"/>
        <pc:sldMkLst>
          <pc:docMk/>
          <pc:sldMk cId="1025487745" sldId="272"/>
        </pc:sldMkLst>
        <pc:spChg chg="add mod">
          <ac:chgData name="Harika Challa" userId="135cdfd11f38c2ac" providerId="LiveId" clId="{D76684D5-5A26-45C6-AD39-980DC061D39F}" dt="2026-07-31T17:01:13.732" v="2028" actId="14100"/>
          <ac:spMkLst>
            <pc:docMk/>
            <pc:sldMk cId="1025487745" sldId="272"/>
            <ac:spMk id="3" creationId="{0DA4B110-D439-CCB6-82E2-BA972BE6487F}"/>
          </ac:spMkLst>
        </pc:spChg>
      </pc:sldChg>
      <pc:sldChg chg="addSp modSp new mod">
        <pc:chgData name="Harika Challa" userId="135cdfd11f38c2ac" providerId="LiveId" clId="{D76684D5-5A26-45C6-AD39-980DC061D39F}" dt="2026-07-31T17:01:40.562" v="2034" actId="313"/>
        <pc:sldMkLst>
          <pc:docMk/>
          <pc:sldMk cId="3772868888" sldId="273"/>
        </pc:sldMkLst>
        <pc:spChg chg="add mod">
          <ac:chgData name="Harika Challa" userId="135cdfd11f38c2ac" providerId="LiveId" clId="{D76684D5-5A26-45C6-AD39-980DC061D39F}" dt="2026-07-31T17:01:40.562" v="2034" actId="313"/>
          <ac:spMkLst>
            <pc:docMk/>
            <pc:sldMk cId="3772868888" sldId="273"/>
            <ac:spMk id="3" creationId="{E19595E8-272B-8EA9-39BC-DEEF7BE0073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A085CF-BF1B-4794-AD97-606D458304A7}" type="datetimeFigureOut">
              <a:rPr lang="en-IN" smtClean="0"/>
              <a:t>31-07-2026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0E3CCC-9A1E-4CD8-970D-2EE700E82A9F}" type="slidenum">
              <a:rPr lang="en-IN" smtClean="0"/>
              <a:t>‹#›</a:t>
            </a:fld>
            <a:endParaRPr lang="en-IN"/>
          </a:p>
        </p:txBody>
      </p:sp>
    </p:spTree>
    <p:extLst>
      <p:ext uri="{BB962C8B-B14F-4D97-AF65-F5344CB8AC3E}">
        <p14:creationId xmlns:p14="http://schemas.microsoft.com/office/powerpoint/2010/main" val="2066650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F0E3CCC-9A1E-4CD8-970D-2EE700E82A9F}" type="slidenum">
              <a:rPr lang="en-IN" smtClean="0"/>
              <a:t>8</a:t>
            </a:fld>
            <a:endParaRPr lang="en-IN"/>
          </a:p>
        </p:txBody>
      </p:sp>
    </p:spTree>
    <p:extLst>
      <p:ext uri="{BB962C8B-B14F-4D97-AF65-F5344CB8AC3E}">
        <p14:creationId xmlns:p14="http://schemas.microsoft.com/office/powerpoint/2010/main" val="2237599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E8175F-4906-4039-8B25-14BA972847DB}"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501D35-3A11-40CA-8DB7-9C75F96EC715}" type="slidenum">
              <a:rPr lang="en-IN" smtClean="0"/>
              <a:t>‹#›</a:t>
            </a:fld>
            <a:endParaRPr lang="en-IN"/>
          </a:p>
        </p:txBody>
      </p:sp>
    </p:spTree>
    <p:extLst>
      <p:ext uri="{BB962C8B-B14F-4D97-AF65-F5344CB8AC3E}">
        <p14:creationId xmlns:p14="http://schemas.microsoft.com/office/powerpoint/2010/main" val="3326492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E8175F-4906-4039-8B25-14BA972847DB}"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501D35-3A11-40CA-8DB7-9C75F96EC715}" type="slidenum">
              <a:rPr lang="en-IN" smtClean="0"/>
              <a:t>‹#›</a:t>
            </a:fld>
            <a:endParaRPr lang="en-IN"/>
          </a:p>
        </p:txBody>
      </p:sp>
    </p:spTree>
    <p:extLst>
      <p:ext uri="{BB962C8B-B14F-4D97-AF65-F5344CB8AC3E}">
        <p14:creationId xmlns:p14="http://schemas.microsoft.com/office/powerpoint/2010/main" val="405060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E8175F-4906-4039-8B25-14BA972847DB}"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501D35-3A11-40CA-8DB7-9C75F96EC715}" type="slidenum">
              <a:rPr lang="en-IN" smtClean="0"/>
              <a:t>‹#›</a:t>
            </a:fld>
            <a:endParaRPr lang="en-IN"/>
          </a:p>
        </p:txBody>
      </p:sp>
    </p:spTree>
    <p:extLst>
      <p:ext uri="{BB962C8B-B14F-4D97-AF65-F5344CB8AC3E}">
        <p14:creationId xmlns:p14="http://schemas.microsoft.com/office/powerpoint/2010/main" val="743473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E8175F-4906-4039-8B25-14BA972847DB}" type="datetimeFigureOut">
              <a:rPr lang="en-IN" smtClean="0"/>
              <a:t>31-07-2026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501D35-3A11-40CA-8DB7-9C75F96EC715}" type="slidenum">
              <a:rPr lang="en-IN" smtClean="0"/>
              <a:t>‹#›</a:t>
            </a:fld>
            <a:endParaRPr lang="en-IN"/>
          </a:p>
        </p:txBody>
      </p:sp>
    </p:spTree>
    <p:extLst>
      <p:ext uri="{BB962C8B-B14F-4D97-AF65-F5344CB8AC3E}">
        <p14:creationId xmlns:p14="http://schemas.microsoft.com/office/powerpoint/2010/main" val="2784677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E8175F-4906-4039-8B25-14BA972847DB}" type="datetimeFigureOut">
              <a:rPr lang="en-IN" smtClean="0"/>
              <a:t>31-07-2026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1501D35-3A11-40CA-8DB7-9C75F96EC715}" type="slidenum">
              <a:rPr lang="en-IN" smtClean="0"/>
              <a:t>‹#›</a:t>
            </a:fld>
            <a:endParaRPr lang="en-IN"/>
          </a:p>
        </p:txBody>
      </p:sp>
    </p:spTree>
    <p:extLst>
      <p:ext uri="{BB962C8B-B14F-4D97-AF65-F5344CB8AC3E}">
        <p14:creationId xmlns:p14="http://schemas.microsoft.com/office/powerpoint/2010/main" val="3695945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E8175F-4906-4039-8B25-14BA972847DB}" type="datetimeFigureOut">
              <a:rPr lang="en-IN" smtClean="0"/>
              <a:t>31-07-2026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1501D35-3A11-40CA-8DB7-9C75F96EC715}" type="slidenum">
              <a:rPr lang="en-IN" smtClean="0"/>
              <a:t>‹#›</a:t>
            </a:fld>
            <a:endParaRPr lang="en-IN"/>
          </a:p>
        </p:txBody>
      </p:sp>
    </p:spTree>
    <p:extLst>
      <p:ext uri="{BB962C8B-B14F-4D97-AF65-F5344CB8AC3E}">
        <p14:creationId xmlns:p14="http://schemas.microsoft.com/office/powerpoint/2010/main" val="93404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E8175F-4906-4039-8B25-14BA972847DB}" type="datetimeFigureOut">
              <a:rPr lang="en-IN" smtClean="0"/>
              <a:t>31-07-2026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1501D35-3A11-40CA-8DB7-9C75F96EC715}" type="slidenum">
              <a:rPr lang="en-IN" smtClean="0"/>
              <a:t>‹#›</a:t>
            </a:fld>
            <a:endParaRPr lang="en-IN"/>
          </a:p>
        </p:txBody>
      </p:sp>
    </p:spTree>
    <p:extLst>
      <p:ext uri="{BB962C8B-B14F-4D97-AF65-F5344CB8AC3E}">
        <p14:creationId xmlns:p14="http://schemas.microsoft.com/office/powerpoint/2010/main" val="2957139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E8175F-4906-4039-8B25-14BA972847DB}" type="datetimeFigureOut">
              <a:rPr lang="en-IN" smtClean="0"/>
              <a:t>31-07-2026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501D35-3A11-40CA-8DB7-9C75F96EC715}" type="slidenum">
              <a:rPr lang="en-IN" smtClean="0"/>
              <a:t>‹#›</a:t>
            </a:fld>
            <a:endParaRPr lang="en-IN"/>
          </a:p>
        </p:txBody>
      </p:sp>
    </p:spTree>
    <p:extLst>
      <p:ext uri="{BB962C8B-B14F-4D97-AF65-F5344CB8AC3E}">
        <p14:creationId xmlns:p14="http://schemas.microsoft.com/office/powerpoint/2010/main" val="3184422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501D35-3A11-40CA-8DB7-9C75F96EC715}" type="slidenum">
              <a:rPr lang="en-IN" smtClean="0"/>
              <a:t>‹#›</a:t>
            </a:fld>
            <a:endParaRPr lang="en-IN"/>
          </a:p>
        </p:txBody>
      </p:sp>
      <p:sp>
        <p:nvSpPr>
          <p:cNvPr id="5" name="Date Placeholder 4"/>
          <p:cNvSpPr>
            <a:spLocks noGrp="1"/>
          </p:cNvSpPr>
          <p:nvPr>
            <p:ph type="dt" sz="half" idx="10"/>
          </p:nvPr>
        </p:nvSpPr>
        <p:spPr/>
        <p:txBody>
          <a:bodyPr/>
          <a:lstStyle/>
          <a:p>
            <a:fld id="{F0E8175F-4906-4039-8B25-14BA972847DB}" type="datetimeFigureOut">
              <a:rPr lang="en-IN" smtClean="0"/>
              <a:t>31-07-2026</a:t>
            </a:fld>
            <a:endParaRPr lang="en-IN"/>
          </a:p>
        </p:txBody>
      </p:sp>
    </p:spTree>
    <p:extLst>
      <p:ext uri="{BB962C8B-B14F-4D97-AF65-F5344CB8AC3E}">
        <p14:creationId xmlns:p14="http://schemas.microsoft.com/office/powerpoint/2010/main" val="3756175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E8175F-4906-4039-8B25-14BA972847DB}"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501D35-3A11-40CA-8DB7-9C75F96EC715}" type="slidenum">
              <a:rPr lang="en-IN" smtClean="0"/>
              <a:t>‹#›</a:t>
            </a:fld>
            <a:endParaRPr lang="en-IN"/>
          </a:p>
        </p:txBody>
      </p:sp>
    </p:spTree>
    <p:extLst>
      <p:ext uri="{BB962C8B-B14F-4D97-AF65-F5344CB8AC3E}">
        <p14:creationId xmlns:p14="http://schemas.microsoft.com/office/powerpoint/2010/main" val="868885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E8175F-4906-4039-8B25-14BA972847DB}"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501D35-3A11-40CA-8DB7-9C75F96EC71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40958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E8175F-4906-4039-8B25-14BA972847DB}"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501D35-3A11-40CA-8DB7-9C75F96EC715}" type="slidenum">
              <a:rPr lang="en-IN" smtClean="0"/>
              <a:t>‹#›</a:t>
            </a:fld>
            <a:endParaRPr lang="en-IN"/>
          </a:p>
        </p:txBody>
      </p:sp>
    </p:spTree>
    <p:extLst>
      <p:ext uri="{BB962C8B-B14F-4D97-AF65-F5344CB8AC3E}">
        <p14:creationId xmlns:p14="http://schemas.microsoft.com/office/powerpoint/2010/main" val="25689336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E8175F-4906-4039-8B25-14BA972847DB}"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501D35-3A11-40CA-8DB7-9C75F96EC71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520016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E8175F-4906-4039-8B25-14BA972847DB}"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501D35-3A11-40CA-8DB7-9C75F96EC715}" type="slidenum">
              <a:rPr lang="en-IN" smtClean="0"/>
              <a:t>‹#›</a:t>
            </a:fld>
            <a:endParaRPr lang="en-IN"/>
          </a:p>
        </p:txBody>
      </p:sp>
    </p:spTree>
    <p:extLst>
      <p:ext uri="{BB962C8B-B14F-4D97-AF65-F5344CB8AC3E}">
        <p14:creationId xmlns:p14="http://schemas.microsoft.com/office/powerpoint/2010/main" val="3674125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E8175F-4906-4039-8B25-14BA972847DB}"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501D35-3A11-40CA-8DB7-9C75F96EC715}" type="slidenum">
              <a:rPr lang="en-IN" smtClean="0"/>
              <a:t>‹#›</a:t>
            </a:fld>
            <a:endParaRPr lang="en-IN"/>
          </a:p>
        </p:txBody>
      </p:sp>
    </p:spTree>
    <p:extLst>
      <p:ext uri="{BB962C8B-B14F-4D97-AF65-F5344CB8AC3E}">
        <p14:creationId xmlns:p14="http://schemas.microsoft.com/office/powerpoint/2010/main" val="34734131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E8175F-4906-4039-8B25-14BA972847DB}"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501D35-3A11-40CA-8DB7-9C75F96EC715}" type="slidenum">
              <a:rPr lang="en-IN" smtClean="0"/>
              <a:t>‹#›</a:t>
            </a:fld>
            <a:endParaRPr lang="en-IN"/>
          </a:p>
        </p:txBody>
      </p:sp>
    </p:spTree>
    <p:extLst>
      <p:ext uri="{BB962C8B-B14F-4D97-AF65-F5344CB8AC3E}">
        <p14:creationId xmlns:p14="http://schemas.microsoft.com/office/powerpoint/2010/main" val="1246700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0E8175F-4906-4039-8B25-14BA972847DB}" type="datetimeFigureOut">
              <a:rPr lang="en-IN" smtClean="0"/>
              <a:t>31-07-2026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1501D35-3A11-40CA-8DB7-9C75F96EC715}" type="slidenum">
              <a:rPr lang="en-IN" smtClean="0"/>
              <a:t>‹#›</a:t>
            </a:fld>
            <a:endParaRPr lang="en-IN"/>
          </a:p>
        </p:txBody>
      </p:sp>
    </p:spTree>
    <p:extLst>
      <p:ext uri="{BB962C8B-B14F-4D97-AF65-F5344CB8AC3E}">
        <p14:creationId xmlns:p14="http://schemas.microsoft.com/office/powerpoint/2010/main" val="1633163942"/>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5D93C-5D5F-F3F5-507D-D08CE667B39B}"/>
              </a:ext>
            </a:extLst>
          </p:cNvPr>
          <p:cNvSpPr>
            <a:spLocks noGrp="1"/>
          </p:cNvSpPr>
          <p:nvPr>
            <p:ph type="ctrTitle"/>
          </p:nvPr>
        </p:nvSpPr>
        <p:spPr>
          <a:xfrm>
            <a:off x="1159719" y="1775719"/>
            <a:ext cx="8736391" cy="1534886"/>
          </a:xfrm>
        </p:spPr>
        <p:txBody>
          <a:bodyPr/>
          <a:lstStyle/>
          <a:p>
            <a:pPr algn="ctr"/>
            <a:r>
              <a:rPr lang="en-US" sz="4800" dirty="0">
                <a:solidFill>
                  <a:schemeClr val="accent2"/>
                </a:solidFill>
                <a:latin typeface="Arial" panose="020B0604020202020204" pitchFamily="34" charset="0"/>
                <a:cs typeface="Arial" panose="020B0604020202020204" pitchFamily="34" charset="0"/>
              </a:rPr>
              <a:t>Shopify Sales and Customer Analysis</a:t>
            </a:r>
            <a:endParaRPr lang="en-IN" sz="4800" dirty="0">
              <a:solidFill>
                <a:schemeClr val="accent2"/>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18247405-F694-4A6E-2556-335D306D15C9}"/>
              </a:ext>
            </a:extLst>
          </p:cNvPr>
          <p:cNvSpPr>
            <a:spLocks noGrp="1"/>
          </p:cNvSpPr>
          <p:nvPr>
            <p:ph type="subTitle" idx="1"/>
          </p:nvPr>
        </p:nvSpPr>
        <p:spPr>
          <a:xfrm>
            <a:off x="1644447" y="3897086"/>
            <a:ext cx="7766936" cy="1653281"/>
          </a:xfrm>
        </p:spPr>
        <p:txBody>
          <a:bodyPr>
            <a:normAutofit/>
          </a:bodyPr>
          <a:lstStyle/>
          <a:p>
            <a:r>
              <a:rPr lang="en-US" b="1" dirty="0">
                <a:solidFill>
                  <a:schemeClr val="tx1">
                    <a:lumMod val="65000"/>
                    <a:lumOff val="35000"/>
                  </a:schemeClr>
                </a:solidFill>
                <a:latin typeface="Arial" panose="020B0604020202020204" pitchFamily="34" charset="0"/>
                <a:cs typeface="Arial" panose="020B0604020202020204" pitchFamily="34" charset="0"/>
              </a:rPr>
              <a:t>Name : Challa Harika</a:t>
            </a:r>
          </a:p>
          <a:p>
            <a:r>
              <a:rPr lang="en-US" b="1" dirty="0">
                <a:solidFill>
                  <a:schemeClr val="tx1">
                    <a:lumMod val="65000"/>
                    <a:lumOff val="35000"/>
                  </a:schemeClr>
                </a:solidFill>
                <a:latin typeface="Arial" panose="020B0604020202020204" pitchFamily="34" charset="0"/>
                <a:cs typeface="Arial" panose="020B0604020202020204" pitchFamily="34" charset="0"/>
              </a:rPr>
              <a:t>Skills : Excel, Power BI Desktop, DAX</a:t>
            </a:r>
          </a:p>
          <a:p>
            <a:r>
              <a:rPr lang="en-US" b="1" dirty="0">
                <a:solidFill>
                  <a:schemeClr val="tx1">
                    <a:lumMod val="65000"/>
                    <a:lumOff val="35000"/>
                  </a:schemeClr>
                </a:solidFill>
                <a:latin typeface="Arial" panose="020B0604020202020204" pitchFamily="34" charset="0"/>
                <a:cs typeface="Arial" panose="020B0604020202020204" pitchFamily="34" charset="0"/>
              </a:rPr>
              <a:t>Batch : DA/BA </a:t>
            </a:r>
          </a:p>
          <a:p>
            <a:endParaRPr lang="en-IN" dirty="0"/>
          </a:p>
        </p:txBody>
      </p:sp>
    </p:spTree>
    <p:extLst>
      <p:ext uri="{BB962C8B-B14F-4D97-AF65-F5344CB8AC3E}">
        <p14:creationId xmlns:p14="http://schemas.microsoft.com/office/powerpoint/2010/main" val="2608805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853E2-A46F-ABC5-C495-B9747C66550B}"/>
              </a:ext>
            </a:extLst>
          </p:cNvPr>
          <p:cNvSpPr>
            <a:spLocks noGrp="1"/>
          </p:cNvSpPr>
          <p:nvPr>
            <p:ph type="title"/>
          </p:nvPr>
        </p:nvSpPr>
        <p:spPr>
          <a:xfrm>
            <a:off x="481391" y="337456"/>
            <a:ext cx="8596668" cy="2264229"/>
          </a:xfrm>
        </p:spPr>
        <p:txBody>
          <a:bodyPr>
            <a:normAutofit fontScale="90000"/>
          </a:bodyPr>
          <a:lstStyle/>
          <a:p>
            <a:r>
              <a:rPr lang="en-IN" dirty="0">
                <a:latin typeface="Arial" panose="020B0604020202020204" pitchFamily="34" charset="0"/>
                <a:cs typeface="Arial" panose="020B0604020202020204" pitchFamily="34" charset="0"/>
              </a:rPr>
              <a:t>Business Understanding</a:t>
            </a:r>
            <a:br>
              <a:rPr lang="en-IN" dirty="0"/>
            </a:br>
            <a:br>
              <a:rPr lang="en-IN" dirty="0"/>
            </a:br>
            <a:r>
              <a:rPr lang="en-IN" sz="2000" b="1" dirty="0">
                <a:solidFill>
                  <a:schemeClr val="tx1"/>
                </a:solidFill>
                <a:latin typeface="Arial" panose="020B0604020202020204" pitchFamily="34" charset="0"/>
                <a:cs typeface="Arial" panose="020B0604020202020204" pitchFamily="34" charset="0"/>
              </a:rPr>
              <a:t>Project Overview:</a:t>
            </a:r>
            <a:br>
              <a:rPr lang="en-IN" sz="2000" b="1" dirty="0">
                <a:solidFill>
                  <a:schemeClr val="tx1"/>
                </a:solidFill>
                <a:latin typeface="Arial" panose="020B0604020202020204" pitchFamily="34" charset="0"/>
                <a:cs typeface="Arial" panose="020B0604020202020204" pitchFamily="34" charset="0"/>
              </a:rPr>
            </a:br>
            <a:r>
              <a:rPr lang="en-IN" sz="2000" dirty="0">
                <a:solidFill>
                  <a:schemeClr val="tx1"/>
                </a:solidFill>
                <a:latin typeface="Arial" panose="020B0604020202020204" pitchFamily="34" charset="0"/>
                <a:cs typeface="Arial" panose="020B0604020202020204" pitchFamily="34" charset="0"/>
              </a:rPr>
              <a:t>The objective of this project is to </a:t>
            </a:r>
            <a:r>
              <a:rPr lang="en-IN" sz="2000" dirty="0" err="1">
                <a:solidFill>
                  <a:schemeClr val="tx1"/>
                </a:solidFill>
                <a:latin typeface="Arial" panose="020B0604020202020204" pitchFamily="34" charset="0"/>
                <a:cs typeface="Arial" panose="020B0604020202020204" pitchFamily="34" charset="0"/>
              </a:rPr>
              <a:t>analyze</a:t>
            </a:r>
            <a:r>
              <a:rPr lang="en-IN" sz="2000" dirty="0">
                <a:solidFill>
                  <a:schemeClr val="tx1"/>
                </a:solidFill>
                <a:latin typeface="Arial" panose="020B0604020202020204" pitchFamily="34" charset="0"/>
                <a:cs typeface="Arial" panose="020B0604020202020204" pitchFamily="34" charset="0"/>
              </a:rPr>
              <a:t> Shopify sales data to understand customer purchasing behaviour, sales performance, product performance, payment preferences, and customer retention.</a:t>
            </a:r>
            <a:br>
              <a:rPr lang="en-IN" sz="2000" dirty="0">
                <a:solidFill>
                  <a:schemeClr val="tx1"/>
                </a:solidFill>
                <a:latin typeface="Arial" panose="020B0604020202020204" pitchFamily="34" charset="0"/>
                <a:cs typeface="Arial" panose="020B0604020202020204" pitchFamily="34" charset="0"/>
              </a:rPr>
            </a:br>
            <a:r>
              <a:rPr lang="en-IN" sz="2000" dirty="0">
                <a:solidFill>
                  <a:schemeClr val="tx1"/>
                </a:solidFill>
                <a:latin typeface="Arial" panose="020B0604020202020204" pitchFamily="34" charset="0"/>
                <a:cs typeface="Arial" panose="020B0604020202020204" pitchFamily="34" charset="0"/>
              </a:rPr>
              <a:t>The dashboard helps business stakeholders monitor sales KPIs and identify opportunities to improve customer acquisition, retention, and revenue growth.</a:t>
            </a:r>
            <a:br>
              <a:rPr lang="en-IN" sz="2000" dirty="0"/>
            </a:br>
            <a:endParaRPr lang="en-IN" sz="2000" dirty="0"/>
          </a:p>
        </p:txBody>
      </p:sp>
      <p:sp>
        <p:nvSpPr>
          <p:cNvPr id="4" name="TextBox 3">
            <a:extLst>
              <a:ext uri="{FF2B5EF4-FFF2-40B4-BE49-F238E27FC236}">
                <a16:creationId xmlns:a16="http://schemas.microsoft.com/office/drawing/2014/main" id="{78C392F7-3072-CE32-FF7D-FA59E1B6F91D}"/>
              </a:ext>
            </a:extLst>
          </p:cNvPr>
          <p:cNvSpPr txBox="1"/>
          <p:nvPr/>
        </p:nvSpPr>
        <p:spPr>
          <a:xfrm>
            <a:off x="481391" y="3211285"/>
            <a:ext cx="8499323" cy="3139321"/>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Business Problem:</a:t>
            </a:r>
          </a:p>
          <a:p>
            <a:r>
              <a:rPr lang="en-IN" dirty="0">
                <a:latin typeface="Arial" panose="020B0604020202020204" pitchFamily="34" charset="0"/>
                <a:cs typeface="Arial" panose="020B0604020202020204" pitchFamily="34" charset="0"/>
              </a:rPr>
              <a:t>The business wants answers to questions such as:</a:t>
            </a:r>
          </a:p>
          <a:p>
            <a:r>
              <a:rPr lang="en-IN" dirty="0">
                <a:latin typeface="Arial" panose="020B0604020202020204" pitchFamily="34" charset="0"/>
                <a:cs typeface="Arial" panose="020B0604020202020204" pitchFamily="34" charset="0"/>
              </a:rPr>
              <a:t>How is revenue changing over time? </a:t>
            </a:r>
          </a:p>
          <a:p>
            <a:r>
              <a:rPr lang="en-IN" dirty="0">
                <a:latin typeface="Arial" panose="020B0604020202020204" pitchFamily="34" charset="0"/>
                <a:cs typeface="Arial" panose="020B0604020202020204" pitchFamily="34" charset="0"/>
              </a:rPr>
              <a:t>Which products generate the highest revenue? </a:t>
            </a:r>
          </a:p>
          <a:p>
            <a:r>
              <a:rPr lang="en-IN" dirty="0">
                <a:latin typeface="Arial" panose="020B0604020202020204" pitchFamily="34" charset="0"/>
                <a:cs typeface="Arial" panose="020B0604020202020204" pitchFamily="34" charset="0"/>
              </a:rPr>
              <a:t>Which customer segments are most valuable? </a:t>
            </a:r>
          </a:p>
          <a:p>
            <a:r>
              <a:rPr lang="en-IN" dirty="0">
                <a:latin typeface="Arial" panose="020B0604020202020204" pitchFamily="34" charset="0"/>
                <a:cs typeface="Arial" panose="020B0604020202020204" pitchFamily="34" charset="0"/>
              </a:rPr>
              <a:t>Which cities contribute the highest sales? </a:t>
            </a:r>
          </a:p>
          <a:p>
            <a:r>
              <a:rPr lang="en-IN" dirty="0">
                <a:latin typeface="Arial" panose="020B0604020202020204" pitchFamily="34" charset="0"/>
                <a:cs typeface="Arial" panose="020B0604020202020204" pitchFamily="34" charset="0"/>
              </a:rPr>
              <a:t>Which payment gateways are preferred? </a:t>
            </a:r>
          </a:p>
          <a:p>
            <a:r>
              <a:rPr lang="en-IN" dirty="0">
                <a:latin typeface="Arial" panose="020B0604020202020204" pitchFamily="34" charset="0"/>
                <a:cs typeface="Arial" panose="020B0604020202020204" pitchFamily="34" charset="0"/>
              </a:rPr>
              <a:t>How frequently do customers purchase? </a:t>
            </a:r>
          </a:p>
          <a:p>
            <a:r>
              <a:rPr lang="en-IN" dirty="0">
                <a:latin typeface="Arial" panose="020B0604020202020204" pitchFamily="34" charset="0"/>
                <a:cs typeface="Arial" panose="020B0604020202020204" pitchFamily="34" charset="0"/>
              </a:rPr>
              <a:t>How long does it take customers to make a second purchase? </a:t>
            </a:r>
          </a:p>
          <a:p>
            <a:r>
              <a:rPr lang="en-IN" dirty="0">
                <a:latin typeface="Arial" panose="020B0604020202020204" pitchFamily="34" charset="0"/>
                <a:cs typeface="Arial" panose="020B0604020202020204" pitchFamily="34" charset="0"/>
              </a:rPr>
              <a:t>Which customers have the highest Customer Lifetime Value (CLV)? </a:t>
            </a:r>
          </a:p>
          <a:p>
            <a:r>
              <a:rPr lang="en-IN" dirty="0">
                <a:latin typeface="Arial" panose="020B0604020202020204" pitchFamily="34" charset="0"/>
                <a:cs typeface="Arial" panose="020B0604020202020204" pitchFamily="34" charset="0"/>
              </a:rPr>
              <a:t>How well are customers retained over time?</a:t>
            </a:r>
          </a:p>
        </p:txBody>
      </p:sp>
    </p:spTree>
    <p:extLst>
      <p:ext uri="{BB962C8B-B14F-4D97-AF65-F5344CB8AC3E}">
        <p14:creationId xmlns:p14="http://schemas.microsoft.com/office/powerpoint/2010/main" val="2247641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9F200C-FF85-3812-D355-4CE7A5BAA8EE}"/>
              </a:ext>
            </a:extLst>
          </p:cNvPr>
          <p:cNvSpPr txBox="1"/>
          <p:nvPr/>
        </p:nvSpPr>
        <p:spPr>
          <a:xfrm>
            <a:off x="718457" y="264502"/>
            <a:ext cx="9612086" cy="6186309"/>
          </a:xfrm>
          <a:prstGeom prst="rect">
            <a:avLst/>
          </a:prstGeom>
          <a:noFill/>
        </p:spPr>
        <p:txBody>
          <a:bodyPr wrap="square">
            <a:spAutoFit/>
          </a:bodyPr>
          <a:lstStyle/>
          <a:p>
            <a:pPr algn="ctr">
              <a:buNone/>
            </a:pPr>
            <a:r>
              <a:rPr lang="en-IN" sz="3600" b="1" dirty="0">
                <a:solidFill>
                  <a:schemeClr val="accent2"/>
                </a:solidFill>
                <a:latin typeface="Arial" panose="020B0604020202020204" pitchFamily="34" charset="0"/>
                <a:cs typeface="Arial" panose="020B0604020202020204" pitchFamily="34" charset="0"/>
              </a:rPr>
              <a:t>Data Collection</a:t>
            </a:r>
          </a:p>
          <a:p>
            <a:pPr>
              <a:buNone/>
            </a:pPr>
            <a:r>
              <a:rPr lang="en-IN" b="1" dirty="0">
                <a:latin typeface="Arial" panose="020B0604020202020204" pitchFamily="34" charset="0"/>
                <a:cs typeface="Arial" panose="020B0604020202020204" pitchFamily="34" charset="0"/>
              </a:rPr>
              <a:t>Data Source: </a:t>
            </a:r>
            <a:r>
              <a:rPr lang="en-IN" dirty="0">
                <a:latin typeface="Arial" panose="020B0604020202020204" pitchFamily="34" charset="0"/>
                <a:cs typeface="Arial" panose="020B0604020202020204" pitchFamily="34" charset="0"/>
              </a:rPr>
              <a:t>Shopify Sales Dataset</a:t>
            </a:r>
          </a:p>
          <a:p>
            <a:pPr>
              <a:buNone/>
            </a:pPr>
            <a:endParaRPr lang="en-IN" dirty="0">
              <a:latin typeface="Arial" panose="020B0604020202020204" pitchFamily="34" charset="0"/>
              <a:cs typeface="Arial" panose="020B0604020202020204" pitchFamily="34" charset="0"/>
            </a:endParaRPr>
          </a:p>
          <a:p>
            <a:pPr>
              <a:buNone/>
            </a:pPr>
            <a:r>
              <a:rPr lang="en-IN" b="1" dirty="0">
                <a:latin typeface="Arial" panose="020B0604020202020204" pitchFamily="34" charset="0"/>
                <a:cs typeface="Arial" panose="020B0604020202020204" pitchFamily="34" charset="0"/>
              </a:rPr>
              <a:t>Dataset contains:</a:t>
            </a:r>
          </a:p>
          <a:p>
            <a:pPr>
              <a:buFont typeface="Arial" panose="020B0604020202020204" pitchFamily="34" charset="0"/>
              <a:buChar char="•"/>
            </a:pPr>
            <a:r>
              <a:rPr lang="en-IN" dirty="0">
                <a:latin typeface="Arial" panose="020B0604020202020204" pitchFamily="34" charset="0"/>
                <a:cs typeface="Arial" panose="020B0604020202020204" pitchFamily="34" charset="0"/>
              </a:rPr>
              <a:t>Order Number </a:t>
            </a:r>
          </a:p>
          <a:p>
            <a:pPr>
              <a:buFont typeface="Arial" panose="020B0604020202020204" pitchFamily="34" charset="0"/>
              <a:buChar char="•"/>
            </a:pPr>
            <a:r>
              <a:rPr lang="en-IN" dirty="0">
                <a:latin typeface="Arial" panose="020B0604020202020204" pitchFamily="34" charset="0"/>
                <a:cs typeface="Arial" panose="020B0604020202020204" pitchFamily="34" charset="0"/>
              </a:rPr>
              <a:t>Customer ID </a:t>
            </a:r>
          </a:p>
          <a:p>
            <a:pPr>
              <a:buFont typeface="Arial" panose="020B0604020202020204" pitchFamily="34" charset="0"/>
              <a:buChar char="•"/>
            </a:pPr>
            <a:r>
              <a:rPr lang="en-IN" dirty="0">
                <a:latin typeface="Arial" panose="020B0604020202020204" pitchFamily="34" charset="0"/>
                <a:cs typeface="Arial" panose="020B0604020202020204" pitchFamily="34" charset="0"/>
              </a:rPr>
              <a:t>Order Date </a:t>
            </a:r>
          </a:p>
          <a:p>
            <a:pPr>
              <a:buFont typeface="Arial" panose="020B0604020202020204" pitchFamily="34" charset="0"/>
              <a:buChar char="•"/>
            </a:pPr>
            <a:r>
              <a:rPr lang="en-IN" dirty="0">
                <a:latin typeface="Arial" panose="020B0604020202020204" pitchFamily="34" charset="0"/>
                <a:cs typeface="Arial" panose="020B0604020202020204" pitchFamily="34" charset="0"/>
              </a:rPr>
              <a:t>Product Type </a:t>
            </a:r>
          </a:p>
          <a:p>
            <a:pPr>
              <a:buFont typeface="Arial" panose="020B0604020202020204" pitchFamily="34" charset="0"/>
              <a:buChar char="•"/>
            </a:pPr>
            <a:r>
              <a:rPr lang="en-IN" dirty="0">
                <a:latin typeface="Arial" panose="020B0604020202020204" pitchFamily="34" charset="0"/>
                <a:cs typeface="Arial" panose="020B0604020202020204" pitchFamily="34" charset="0"/>
              </a:rPr>
              <a:t>Product Name </a:t>
            </a:r>
          </a:p>
          <a:p>
            <a:pPr>
              <a:buFont typeface="Arial" panose="020B0604020202020204" pitchFamily="34" charset="0"/>
              <a:buChar char="•"/>
            </a:pPr>
            <a:r>
              <a:rPr lang="en-IN" dirty="0">
                <a:latin typeface="Arial" panose="020B0604020202020204" pitchFamily="34" charset="0"/>
                <a:cs typeface="Arial" panose="020B0604020202020204" pitchFamily="34" charset="0"/>
              </a:rPr>
              <a:t>City </a:t>
            </a:r>
          </a:p>
          <a:p>
            <a:pPr>
              <a:buFont typeface="Arial" panose="020B0604020202020204" pitchFamily="34" charset="0"/>
              <a:buChar char="•"/>
            </a:pPr>
            <a:r>
              <a:rPr lang="en-IN" dirty="0">
                <a:latin typeface="Arial" panose="020B0604020202020204" pitchFamily="34" charset="0"/>
                <a:cs typeface="Arial" panose="020B0604020202020204" pitchFamily="34" charset="0"/>
              </a:rPr>
              <a:t>ZIP Code </a:t>
            </a:r>
          </a:p>
          <a:p>
            <a:pPr>
              <a:buFont typeface="Arial" panose="020B0604020202020204" pitchFamily="34" charset="0"/>
              <a:buChar char="•"/>
            </a:pPr>
            <a:r>
              <a:rPr lang="en-IN" dirty="0">
                <a:latin typeface="Arial" panose="020B0604020202020204" pitchFamily="34" charset="0"/>
                <a:cs typeface="Arial" panose="020B0604020202020204" pitchFamily="34" charset="0"/>
              </a:rPr>
              <a:t>Payment Gateway </a:t>
            </a:r>
          </a:p>
          <a:p>
            <a:pPr>
              <a:buFont typeface="Arial" panose="020B0604020202020204" pitchFamily="34" charset="0"/>
              <a:buChar char="•"/>
            </a:pPr>
            <a:r>
              <a:rPr lang="en-IN" dirty="0">
                <a:latin typeface="Arial" panose="020B0604020202020204" pitchFamily="34" charset="0"/>
                <a:cs typeface="Arial" panose="020B0604020202020204" pitchFamily="34" charset="0"/>
              </a:rPr>
              <a:t>Quantity </a:t>
            </a:r>
          </a:p>
          <a:p>
            <a:pPr>
              <a:buFont typeface="Arial" panose="020B0604020202020204" pitchFamily="34" charset="0"/>
              <a:buChar char="•"/>
            </a:pPr>
            <a:r>
              <a:rPr lang="en-IN" dirty="0">
                <a:latin typeface="Arial" panose="020B0604020202020204" pitchFamily="34" charset="0"/>
                <a:cs typeface="Arial" panose="020B0604020202020204" pitchFamily="34" charset="0"/>
              </a:rPr>
              <a:t>Sales Amount </a:t>
            </a:r>
          </a:p>
          <a:p>
            <a:pPr>
              <a:buFont typeface="Arial" panose="020B0604020202020204" pitchFamily="34" charset="0"/>
              <a:buChar char="•"/>
            </a:pPr>
            <a:r>
              <a:rPr lang="en-IN" dirty="0">
                <a:latin typeface="Arial" panose="020B0604020202020204" pitchFamily="34" charset="0"/>
                <a:cs typeface="Arial" panose="020B0604020202020204" pitchFamily="34" charset="0"/>
              </a:rPr>
              <a:t>Customer Segment </a:t>
            </a:r>
          </a:p>
          <a:p>
            <a:pPr>
              <a:buFont typeface="Arial" panose="020B0604020202020204" pitchFamily="34" charset="0"/>
              <a:buChar char="•"/>
            </a:pPr>
            <a:r>
              <a:rPr lang="en-IN" dirty="0">
                <a:latin typeface="Arial" panose="020B0604020202020204" pitchFamily="34" charset="0"/>
                <a:cs typeface="Arial" panose="020B0604020202020204" pitchFamily="34" charset="0"/>
              </a:rPr>
              <a:t>Order Status </a:t>
            </a:r>
          </a:p>
          <a:p>
            <a:endParaRPr lang="en-IN" dirty="0">
              <a:latin typeface="Arial" panose="020B0604020202020204" pitchFamily="34" charset="0"/>
              <a:cs typeface="Arial" panose="020B0604020202020204" pitchFamily="34" charset="0"/>
            </a:endParaRPr>
          </a:p>
          <a:p>
            <a:pPr>
              <a:buNone/>
            </a:pPr>
            <a:r>
              <a:rPr lang="en-IN" b="1" dirty="0">
                <a:latin typeface="Arial" panose="020B0604020202020204" pitchFamily="34" charset="0"/>
                <a:cs typeface="Arial" panose="020B0604020202020204" pitchFamily="34" charset="0"/>
              </a:rPr>
              <a:t>Data Size: </a:t>
            </a:r>
            <a:r>
              <a:rPr lang="en-IN" dirty="0">
                <a:latin typeface="Arial" panose="020B0604020202020204" pitchFamily="34" charset="0"/>
                <a:cs typeface="Arial" panose="020B0604020202020204" pitchFamily="34" charset="0"/>
              </a:rPr>
              <a:t>7420 Rows, 9 Columns</a:t>
            </a:r>
          </a:p>
          <a:p>
            <a:pPr>
              <a:buFont typeface="Arial" panose="020B0604020202020204" pitchFamily="34" charset="0"/>
              <a:buChar char="•"/>
            </a:pPr>
            <a:r>
              <a:rPr lang="en-IN" dirty="0">
                <a:latin typeface="Arial" panose="020B0604020202020204" pitchFamily="34" charset="0"/>
                <a:cs typeface="Arial" panose="020B0604020202020204" pitchFamily="34" charset="0"/>
              </a:rPr>
              <a:t>Total Revenue: </a:t>
            </a:r>
            <a:r>
              <a:rPr lang="en-IN" b="1" dirty="0">
                <a:latin typeface="Arial" panose="020B0604020202020204" pitchFamily="34" charset="0"/>
                <a:cs typeface="Arial" panose="020B0604020202020204" pitchFamily="34" charset="0"/>
              </a:rPr>
              <a:t>4.28k</a:t>
            </a:r>
          </a:p>
          <a:p>
            <a:pPr>
              <a:buFont typeface="Arial" panose="020B0604020202020204" pitchFamily="34" charset="0"/>
              <a:buChar char="•"/>
            </a:pPr>
            <a:r>
              <a:rPr lang="en-IN" dirty="0">
                <a:latin typeface="Arial" panose="020B0604020202020204" pitchFamily="34" charset="0"/>
                <a:cs typeface="Arial" panose="020B0604020202020204" pitchFamily="34" charset="0"/>
              </a:rPr>
              <a:t>Total Orders: </a:t>
            </a:r>
            <a:r>
              <a:rPr lang="en-IN" b="1" dirty="0">
                <a:latin typeface="Arial" panose="020B0604020202020204" pitchFamily="34" charset="0"/>
                <a:cs typeface="Arial" panose="020B0604020202020204" pitchFamily="34" charset="0"/>
              </a:rPr>
              <a:t>6</a:t>
            </a:r>
            <a:r>
              <a:rPr lang="en-IN" dirty="0">
                <a:latin typeface="Arial" panose="020B0604020202020204" pitchFamily="34" charset="0"/>
                <a:cs typeface="Arial" panose="020B0604020202020204" pitchFamily="34" charset="0"/>
              </a:rPr>
              <a:t> </a:t>
            </a:r>
          </a:p>
          <a:p>
            <a:pPr>
              <a:buFont typeface="Arial" panose="020B0604020202020204" pitchFamily="34" charset="0"/>
              <a:buChar char="•"/>
            </a:pPr>
            <a:r>
              <a:rPr lang="en-IN" dirty="0">
                <a:latin typeface="Arial" panose="020B0604020202020204" pitchFamily="34" charset="0"/>
                <a:cs typeface="Arial" panose="020B0604020202020204" pitchFamily="34" charset="0"/>
              </a:rPr>
              <a:t>Total Customers: </a:t>
            </a:r>
            <a:r>
              <a:rPr lang="en-IN" b="1" dirty="0">
                <a:latin typeface="Arial" panose="020B0604020202020204" pitchFamily="34" charset="0"/>
                <a:cs typeface="Arial" panose="020B0604020202020204" pitchFamily="34" charset="0"/>
              </a:rPr>
              <a:t>6</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6225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CCD6C6-780A-0BF8-4988-4AE3AE75ADDD}"/>
              </a:ext>
            </a:extLst>
          </p:cNvPr>
          <p:cNvSpPr txBox="1"/>
          <p:nvPr/>
        </p:nvSpPr>
        <p:spPr>
          <a:xfrm>
            <a:off x="685799" y="468086"/>
            <a:ext cx="9241971" cy="5509200"/>
          </a:xfrm>
          <a:prstGeom prst="rect">
            <a:avLst/>
          </a:prstGeom>
          <a:noFill/>
        </p:spPr>
        <p:txBody>
          <a:bodyPr wrap="square">
            <a:spAutoFit/>
          </a:bodyPr>
          <a:lstStyle/>
          <a:p>
            <a:pPr algn="ctr">
              <a:buNone/>
            </a:pPr>
            <a:r>
              <a:rPr lang="en-IN" sz="3200" b="1" dirty="0">
                <a:latin typeface="Arial" panose="020B0604020202020204" pitchFamily="34" charset="0"/>
                <a:cs typeface="Arial" panose="020B0604020202020204" pitchFamily="34" charset="0"/>
              </a:rPr>
              <a:t>Data Cleaning &amp; Transformation</a:t>
            </a:r>
          </a:p>
          <a:p>
            <a:pPr algn="ctr">
              <a:buNone/>
            </a:pPr>
            <a:endParaRPr lang="en-IN" sz="3200" b="1" dirty="0">
              <a:latin typeface="Arial" panose="020B0604020202020204" pitchFamily="34" charset="0"/>
              <a:cs typeface="Arial" panose="020B0604020202020204" pitchFamily="34" charset="0"/>
            </a:endParaRPr>
          </a:p>
          <a:p>
            <a:pPr>
              <a:buNone/>
            </a:pPr>
            <a:r>
              <a:rPr lang="en-IN" dirty="0">
                <a:latin typeface="Arial" panose="020B0604020202020204" pitchFamily="34" charset="0"/>
                <a:cs typeface="Arial" panose="020B0604020202020204" pitchFamily="34" charset="0"/>
              </a:rPr>
              <a:t>The dataset was cleaned using </a:t>
            </a:r>
            <a:r>
              <a:rPr lang="en-IN" b="1" dirty="0">
                <a:latin typeface="Arial" panose="020B0604020202020204" pitchFamily="34" charset="0"/>
                <a:cs typeface="Arial" panose="020B0604020202020204" pitchFamily="34" charset="0"/>
              </a:rPr>
              <a:t>Power Query</a:t>
            </a:r>
            <a:r>
              <a:rPr lang="en-IN" dirty="0">
                <a:latin typeface="Arial" panose="020B0604020202020204" pitchFamily="34" charset="0"/>
                <a:cs typeface="Arial" panose="020B0604020202020204" pitchFamily="34" charset="0"/>
              </a:rPr>
              <a:t>.</a:t>
            </a:r>
          </a:p>
          <a:p>
            <a:pPr>
              <a:buNone/>
            </a:pPr>
            <a:endParaRPr lang="en-IN" dirty="0">
              <a:latin typeface="Arial" panose="020B0604020202020204" pitchFamily="34" charset="0"/>
              <a:cs typeface="Arial" panose="020B0604020202020204" pitchFamily="34" charset="0"/>
            </a:endParaRPr>
          </a:p>
          <a:p>
            <a:pPr>
              <a:buNone/>
            </a:pPr>
            <a:r>
              <a:rPr lang="en-IN" b="1" dirty="0">
                <a:latin typeface="Arial" panose="020B0604020202020204" pitchFamily="34" charset="0"/>
                <a:cs typeface="Arial" panose="020B0604020202020204" pitchFamily="34" charset="0"/>
              </a:rPr>
              <a:t>Data Cleaning Steps</a:t>
            </a:r>
          </a:p>
          <a:p>
            <a:pPr>
              <a:buFont typeface="Arial" panose="020B0604020202020204" pitchFamily="34" charset="0"/>
              <a:buChar char="•"/>
            </a:pPr>
            <a:r>
              <a:rPr lang="en-IN" dirty="0">
                <a:latin typeface="Arial" panose="020B0604020202020204" pitchFamily="34" charset="0"/>
                <a:cs typeface="Arial" panose="020B0604020202020204" pitchFamily="34" charset="0"/>
              </a:rPr>
              <a:t>Removed duplicate records </a:t>
            </a:r>
          </a:p>
          <a:p>
            <a:pPr>
              <a:buFont typeface="Arial" panose="020B0604020202020204" pitchFamily="34" charset="0"/>
              <a:buChar char="•"/>
            </a:pPr>
            <a:r>
              <a:rPr lang="en-IN" dirty="0">
                <a:latin typeface="Arial" panose="020B0604020202020204" pitchFamily="34" charset="0"/>
                <a:cs typeface="Arial" panose="020B0604020202020204" pitchFamily="34" charset="0"/>
              </a:rPr>
              <a:t>Corrected data types </a:t>
            </a:r>
          </a:p>
          <a:p>
            <a:pPr>
              <a:buFont typeface="Arial" panose="020B0604020202020204" pitchFamily="34" charset="0"/>
              <a:buChar char="•"/>
            </a:pPr>
            <a:r>
              <a:rPr lang="en-IN" dirty="0">
                <a:latin typeface="Arial" panose="020B0604020202020204" pitchFamily="34" charset="0"/>
                <a:cs typeface="Arial" panose="020B0604020202020204" pitchFamily="34" charset="0"/>
              </a:rPr>
              <a:t>Removed null values </a:t>
            </a:r>
          </a:p>
          <a:p>
            <a:pPr>
              <a:buFont typeface="Arial" panose="020B0604020202020204" pitchFamily="34" charset="0"/>
              <a:buChar char="•"/>
            </a:pPr>
            <a:r>
              <a:rPr lang="en-IN" dirty="0">
                <a:latin typeface="Arial" panose="020B0604020202020204" pitchFamily="34" charset="0"/>
                <a:cs typeface="Arial" panose="020B0604020202020204" pitchFamily="34" charset="0"/>
              </a:rPr>
              <a:t>Renamed columns </a:t>
            </a:r>
          </a:p>
          <a:p>
            <a:pPr>
              <a:buFont typeface="Arial" panose="020B0604020202020204" pitchFamily="34" charset="0"/>
              <a:buChar char="•"/>
            </a:pPr>
            <a:r>
              <a:rPr lang="en-IN" dirty="0">
                <a:latin typeface="Arial" panose="020B0604020202020204" pitchFamily="34" charset="0"/>
                <a:cs typeface="Arial" panose="020B0604020202020204" pitchFamily="34" charset="0"/>
              </a:rPr>
              <a:t>Merged columns</a:t>
            </a:r>
          </a:p>
          <a:p>
            <a:pPr>
              <a:buFont typeface="Arial" panose="020B0604020202020204" pitchFamily="34" charset="0"/>
              <a:buChar char="•"/>
            </a:pPr>
            <a:r>
              <a:rPr lang="en-IN" dirty="0">
                <a:latin typeface="Arial" panose="020B0604020202020204" pitchFamily="34" charset="0"/>
                <a:cs typeface="Arial" panose="020B0604020202020204" pitchFamily="34" charset="0"/>
              </a:rPr>
              <a:t>Created Date table </a:t>
            </a:r>
          </a:p>
          <a:p>
            <a:pPr>
              <a:buFont typeface="Arial" panose="020B0604020202020204" pitchFamily="34" charset="0"/>
              <a:buChar char="•"/>
            </a:pPr>
            <a:r>
              <a:rPr lang="en-IN" dirty="0">
                <a:latin typeface="Arial" panose="020B0604020202020204" pitchFamily="34" charset="0"/>
                <a:cs typeface="Arial" panose="020B0604020202020204" pitchFamily="34" charset="0"/>
              </a:rPr>
              <a:t>Created Customer Cohorts </a:t>
            </a:r>
          </a:p>
          <a:p>
            <a:pPr>
              <a:buFont typeface="Arial" panose="020B0604020202020204" pitchFamily="34" charset="0"/>
              <a:buChar char="•"/>
            </a:pPr>
            <a:r>
              <a:rPr lang="en-IN" dirty="0">
                <a:latin typeface="Arial" panose="020B0604020202020204" pitchFamily="34" charset="0"/>
                <a:cs typeface="Arial" panose="020B0604020202020204" pitchFamily="34" charset="0"/>
              </a:rPr>
              <a:t>Generated First Purchase Date </a:t>
            </a:r>
          </a:p>
          <a:p>
            <a:pPr>
              <a:buFont typeface="Arial" panose="020B0604020202020204" pitchFamily="34" charset="0"/>
              <a:buChar char="•"/>
            </a:pPr>
            <a:r>
              <a:rPr lang="en-IN" dirty="0">
                <a:latin typeface="Arial" panose="020B0604020202020204" pitchFamily="34" charset="0"/>
                <a:cs typeface="Arial" panose="020B0604020202020204" pitchFamily="34" charset="0"/>
              </a:rPr>
              <a:t>Generated Second Purchase Date </a:t>
            </a:r>
          </a:p>
          <a:p>
            <a:pPr>
              <a:buFont typeface="Arial" panose="020B0604020202020204" pitchFamily="34" charset="0"/>
              <a:buChar char="•"/>
            </a:pPr>
            <a:r>
              <a:rPr lang="en-IN" dirty="0">
                <a:latin typeface="Arial" panose="020B0604020202020204" pitchFamily="34" charset="0"/>
                <a:cs typeface="Arial" panose="020B0604020202020204" pitchFamily="34" charset="0"/>
              </a:rPr>
              <a:t>Created Customer Segments </a:t>
            </a:r>
          </a:p>
          <a:p>
            <a:pPr>
              <a:buFont typeface="Arial" panose="020B0604020202020204" pitchFamily="34" charset="0"/>
              <a:buChar char="•"/>
            </a:pPr>
            <a:r>
              <a:rPr lang="en-IN" dirty="0">
                <a:latin typeface="Arial" panose="020B0604020202020204" pitchFamily="34" charset="0"/>
                <a:cs typeface="Arial" panose="020B0604020202020204" pitchFamily="34" charset="0"/>
              </a:rPr>
              <a:t>Created RFM Segments </a:t>
            </a:r>
          </a:p>
          <a:p>
            <a:pPr>
              <a:buFont typeface="Arial" panose="020B0604020202020204" pitchFamily="34" charset="0"/>
              <a:buChar char="•"/>
            </a:pPr>
            <a:r>
              <a:rPr lang="en-IN" dirty="0">
                <a:latin typeface="Arial" panose="020B0604020202020204" pitchFamily="34" charset="0"/>
                <a:cs typeface="Arial" panose="020B0604020202020204" pitchFamily="34" charset="0"/>
              </a:rPr>
              <a:t>Created Spend Tier </a:t>
            </a:r>
          </a:p>
          <a:p>
            <a:pPr>
              <a:buFont typeface="Arial" panose="020B0604020202020204" pitchFamily="34" charset="0"/>
              <a:buChar char="•"/>
            </a:pPr>
            <a:r>
              <a:rPr lang="en-IN" dirty="0">
                <a:latin typeface="Arial" panose="020B0604020202020204" pitchFamily="34" charset="0"/>
                <a:cs typeface="Arial" panose="020B0604020202020204" pitchFamily="34" charset="0"/>
              </a:rPr>
              <a:t>Established relationships between tables</a:t>
            </a:r>
          </a:p>
        </p:txBody>
      </p:sp>
    </p:spTree>
    <p:extLst>
      <p:ext uri="{BB962C8B-B14F-4D97-AF65-F5344CB8AC3E}">
        <p14:creationId xmlns:p14="http://schemas.microsoft.com/office/powerpoint/2010/main" val="1486911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479E2F-00E1-5F64-B90F-47A150A92733}"/>
              </a:ext>
            </a:extLst>
          </p:cNvPr>
          <p:cNvSpPr txBox="1"/>
          <p:nvPr/>
        </p:nvSpPr>
        <p:spPr>
          <a:xfrm>
            <a:off x="957943" y="446314"/>
            <a:ext cx="8752114" cy="6063198"/>
          </a:xfrm>
          <a:prstGeom prst="rect">
            <a:avLst/>
          </a:prstGeom>
          <a:noFill/>
        </p:spPr>
        <p:txBody>
          <a:bodyPr wrap="square">
            <a:spAutoFit/>
          </a:bodyPr>
          <a:lstStyle/>
          <a:p>
            <a:pPr algn="ctr">
              <a:buNone/>
            </a:pPr>
            <a:r>
              <a:rPr lang="en-IN" sz="3200" b="1" dirty="0">
                <a:latin typeface="Arial" panose="020B0604020202020204" pitchFamily="34" charset="0"/>
                <a:cs typeface="Arial" panose="020B0604020202020204" pitchFamily="34" charset="0"/>
              </a:rPr>
              <a:t>Data </a:t>
            </a:r>
            <a:r>
              <a:rPr lang="en-IN" sz="3200" b="1" dirty="0" err="1">
                <a:latin typeface="Arial" panose="020B0604020202020204" pitchFamily="34" charset="0"/>
                <a:cs typeface="Arial" panose="020B0604020202020204" pitchFamily="34" charset="0"/>
              </a:rPr>
              <a:t>Modeling</a:t>
            </a:r>
            <a:endParaRPr lang="en-IN" sz="3200" b="1" dirty="0">
              <a:latin typeface="Arial" panose="020B0604020202020204" pitchFamily="34" charset="0"/>
              <a:cs typeface="Arial" panose="020B0604020202020204" pitchFamily="34" charset="0"/>
            </a:endParaRPr>
          </a:p>
          <a:p>
            <a:pPr>
              <a:buNone/>
            </a:pPr>
            <a:endParaRPr lang="en-IN" sz="3200" b="1" dirty="0">
              <a:latin typeface="Arial" panose="020B0604020202020204" pitchFamily="34" charset="0"/>
              <a:cs typeface="Arial" panose="020B0604020202020204" pitchFamily="34" charset="0"/>
            </a:endParaRPr>
          </a:p>
          <a:p>
            <a:pPr>
              <a:buNone/>
            </a:pPr>
            <a:r>
              <a:rPr lang="en-IN" b="1" dirty="0">
                <a:latin typeface="Arial" panose="020B0604020202020204" pitchFamily="34" charset="0"/>
                <a:cs typeface="Arial" panose="020B0604020202020204" pitchFamily="34" charset="0"/>
              </a:rPr>
              <a:t>Star Schema</a:t>
            </a:r>
          </a:p>
          <a:p>
            <a:pPr>
              <a:buNone/>
            </a:pPr>
            <a:r>
              <a:rPr lang="en-IN" dirty="0">
                <a:latin typeface="Arial" panose="020B0604020202020204" pitchFamily="34" charset="0"/>
                <a:cs typeface="Arial" panose="020B0604020202020204" pitchFamily="34" charset="0"/>
              </a:rPr>
              <a:t>Fact Table</a:t>
            </a:r>
          </a:p>
          <a:p>
            <a:pPr>
              <a:buFont typeface="Arial" panose="020B0604020202020204" pitchFamily="34" charset="0"/>
              <a:buChar char="•"/>
            </a:pPr>
            <a:r>
              <a:rPr lang="en-IN" dirty="0">
                <a:latin typeface="Arial" panose="020B0604020202020204" pitchFamily="34" charset="0"/>
                <a:cs typeface="Arial" panose="020B0604020202020204" pitchFamily="34" charset="0"/>
              </a:rPr>
              <a:t>Shopify Sales Dimension Tables</a:t>
            </a:r>
          </a:p>
          <a:p>
            <a:pPr>
              <a:buFont typeface="Arial" panose="020B0604020202020204" pitchFamily="34" charset="0"/>
              <a:buChar char="•"/>
            </a:pPr>
            <a:r>
              <a:rPr lang="en-IN" dirty="0">
                <a:latin typeface="Arial" panose="020B0604020202020204" pitchFamily="34" charset="0"/>
                <a:cs typeface="Arial" panose="020B0604020202020204" pitchFamily="34" charset="0"/>
              </a:rPr>
              <a:t>Date Table </a:t>
            </a:r>
          </a:p>
          <a:p>
            <a:pPr>
              <a:buNone/>
            </a:pPr>
            <a:endParaRPr lang="en-IN" dirty="0">
              <a:latin typeface="Arial" panose="020B0604020202020204" pitchFamily="34" charset="0"/>
              <a:cs typeface="Arial" panose="020B0604020202020204" pitchFamily="34" charset="0"/>
            </a:endParaRPr>
          </a:p>
          <a:p>
            <a:pPr>
              <a:buNone/>
            </a:pPr>
            <a:r>
              <a:rPr lang="en-IN" dirty="0">
                <a:latin typeface="Arial" panose="020B0604020202020204" pitchFamily="34" charset="0"/>
                <a:cs typeface="Arial" panose="020B0604020202020204" pitchFamily="34" charset="0"/>
              </a:rPr>
              <a:t>Relationships</a:t>
            </a:r>
          </a:p>
          <a:p>
            <a:pPr>
              <a:buNone/>
            </a:pPr>
            <a:r>
              <a:rPr lang="en-IN" dirty="0">
                <a:latin typeface="Arial" panose="020B0604020202020204" pitchFamily="34" charset="0"/>
                <a:cs typeface="Arial" panose="020B0604020202020204" pitchFamily="34" charset="0"/>
              </a:rPr>
              <a:t>Date Table (Date)</a:t>
            </a:r>
          </a:p>
          <a:p>
            <a:pPr>
              <a:buNone/>
            </a:pPr>
            <a:r>
              <a:rPr lang="en-IN" dirty="0">
                <a:latin typeface="Arial" panose="020B0604020202020204" pitchFamily="34" charset="0"/>
                <a:cs typeface="Arial" panose="020B0604020202020204" pitchFamily="34" charset="0"/>
              </a:rPr>
              <a:t>↓</a:t>
            </a:r>
          </a:p>
          <a:p>
            <a:pPr>
              <a:buNone/>
            </a:pPr>
            <a:r>
              <a:rPr lang="en-IN" dirty="0">
                <a:latin typeface="Arial" panose="020B0604020202020204" pitchFamily="34" charset="0"/>
                <a:cs typeface="Arial" panose="020B0604020202020204" pitchFamily="34" charset="0"/>
              </a:rPr>
              <a:t>Shopify Sales (Order Date)</a:t>
            </a:r>
          </a:p>
          <a:p>
            <a:pPr>
              <a:buNone/>
            </a:pPr>
            <a:endParaRPr lang="en-IN" dirty="0">
              <a:latin typeface="Arial" panose="020B0604020202020204" pitchFamily="34" charset="0"/>
              <a:cs typeface="Arial" panose="020B0604020202020204" pitchFamily="34" charset="0"/>
            </a:endParaRPr>
          </a:p>
          <a:p>
            <a:pPr>
              <a:buNone/>
            </a:pPr>
            <a:r>
              <a:rPr lang="en-IN" b="1" dirty="0">
                <a:latin typeface="Arial" panose="020B0604020202020204" pitchFamily="34" charset="0"/>
                <a:cs typeface="Arial" panose="020B0604020202020204" pitchFamily="34" charset="0"/>
              </a:rPr>
              <a:t>Additional Calculated Columns</a:t>
            </a:r>
          </a:p>
          <a:p>
            <a:pPr>
              <a:buFont typeface="Arial" panose="020B0604020202020204" pitchFamily="34" charset="0"/>
              <a:buChar char="•"/>
            </a:pPr>
            <a:r>
              <a:rPr lang="en-IN" dirty="0">
                <a:latin typeface="Arial" panose="020B0604020202020204" pitchFamily="34" charset="0"/>
                <a:cs typeface="Arial" panose="020B0604020202020204" pitchFamily="34" charset="0"/>
              </a:rPr>
              <a:t>First Purchase Date </a:t>
            </a:r>
          </a:p>
          <a:p>
            <a:pPr>
              <a:buFont typeface="Arial" panose="020B0604020202020204" pitchFamily="34" charset="0"/>
              <a:buChar char="•"/>
            </a:pPr>
            <a:r>
              <a:rPr lang="en-IN" dirty="0">
                <a:latin typeface="Arial" panose="020B0604020202020204" pitchFamily="34" charset="0"/>
                <a:cs typeface="Arial" panose="020B0604020202020204" pitchFamily="34" charset="0"/>
              </a:rPr>
              <a:t>Second Purchase Date </a:t>
            </a:r>
          </a:p>
          <a:p>
            <a:pPr>
              <a:buFont typeface="Arial" panose="020B0604020202020204" pitchFamily="34" charset="0"/>
              <a:buChar char="•"/>
            </a:pPr>
            <a:r>
              <a:rPr lang="en-IN" dirty="0">
                <a:latin typeface="Arial" panose="020B0604020202020204" pitchFamily="34" charset="0"/>
                <a:cs typeface="Arial" panose="020B0604020202020204" pitchFamily="34" charset="0"/>
              </a:rPr>
              <a:t>Customer Type </a:t>
            </a:r>
          </a:p>
          <a:p>
            <a:pPr>
              <a:buFont typeface="Arial" panose="020B0604020202020204" pitchFamily="34" charset="0"/>
              <a:buChar char="•"/>
            </a:pPr>
            <a:r>
              <a:rPr lang="en-IN" dirty="0">
                <a:latin typeface="Arial" panose="020B0604020202020204" pitchFamily="34" charset="0"/>
                <a:cs typeface="Arial" panose="020B0604020202020204" pitchFamily="34" charset="0"/>
              </a:rPr>
              <a:t>Purchase Frequency </a:t>
            </a:r>
          </a:p>
          <a:p>
            <a:pPr>
              <a:buFont typeface="Arial" panose="020B0604020202020204" pitchFamily="34" charset="0"/>
              <a:buChar char="•"/>
            </a:pPr>
            <a:r>
              <a:rPr lang="en-IN" dirty="0">
                <a:latin typeface="Arial" panose="020B0604020202020204" pitchFamily="34" charset="0"/>
                <a:cs typeface="Arial" panose="020B0604020202020204" pitchFamily="34" charset="0"/>
              </a:rPr>
              <a:t>Days to Return </a:t>
            </a:r>
          </a:p>
          <a:p>
            <a:pPr>
              <a:buFont typeface="Arial" panose="020B0604020202020204" pitchFamily="34" charset="0"/>
              <a:buChar char="•"/>
            </a:pPr>
            <a:r>
              <a:rPr lang="en-IN" dirty="0">
                <a:latin typeface="Arial" panose="020B0604020202020204" pitchFamily="34" charset="0"/>
                <a:cs typeface="Arial" panose="020B0604020202020204" pitchFamily="34" charset="0"/>
              </a:rPr>
              <a:t>Return Bucket </a:t>
            </a:r>
          </a:p>
          <a:p>
            <a:pPr>
              <a:buFont typeface="Arial" panose="020B0604020202020204" pitchFamily="34" charset="0"/>
              <a:buChar char="•"/>
            </a:pPr>
            <a:r>
              <a:rPr lang="en-IN" dirty="0">
                <a:latin typeface="Arial" panose="020B0604020202020204" pitchFamily="34" charset="0"/>
                <a:cs typeface="Arial" panose="020B0604020202020204" pitchFamily="34" charset="0"/>
              </a:rPr>
              <a:t>Customer Cohort</a:t>
            </a:r>
          </a:p>
        </p:txBody>
      </p:sp>
    </p:spTree>
    <p:extLst>
      <p:ext uri="{BB962C8B-B14F-4D97-AF65-F5344CB8AC3E}">
        <p14:creationId xmlns:p14="http://schemas.microsoft.com/office/powerpoint/2010/main" val="1154061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51F89A-1E86-5F85-923C-C99AE3478C9C}"/>
              </a:ext>
            </a:extLst>
          </p:cNvPr>
          <p:cNvSpPr txBox="1"/>
          <p:nvPr/>
        </p:nvSpPr>
        <p:spPr>
          <a:xfrm>
            <a:off x="1502230" y="53254"/>
            <a:ext cx="8512629" cy="738664"/>
          </a:xfrm>
          <a:prstGeom prst="rect">
            <a:avLst/>
          </a:prstGeom>
          <a:noFill/>
        </p:spPr>
        <p:txBody>
          <a:bodyPr wrap="square" rtlCol="0">
            <a:spAutoFit/>
          </a:bodyPr>
          <a:lstStyle/>
          <a:p>
            <a:pPr algn="ctr"/>
            <a:r>
              <a:rPr lang="en-IN" sz="2400" b="1" dirty="0">
                <a:solidFill>
                  <a:schemeClr val="accent2"/>
                </a:solidFill>
                <a:latin typeface="Arial" panose="020B0604020202020204" pitchFamily="34" charset="0"/>
                <a:cs typeface="Arial" panose="020B0604020202020204" pitchFamily="34" charset="0"/>
              </a:rPr>
              <a:t>DAX Documentation with Explanations</a:t>
            </a:r>
          </a:p>
          <a:p>
            <a:endParaRPr lang="en-IN" dirty="0"/>
          </a:p>
        </p:txBody>
      </p:sp>
      <p:sp>
        <p:nvSpPr>
          <p:cNvPr id="3" name="TextBox 2">
            <a:extLst>
              <a:ext uri="{FF2B5EF4-FFF2-40B4-BE49-F238E27FC236}">
                <a16:creationId xmlns:a16="http://schemas.microsoft.com/office/drawing/2014/main" id="{520B561F-13B6-39EE-FB82-3E0B22874843}"/>
              </a:ext>
            </a:extLst>
          </p:cNvPr>
          <p:cNvSpPr txBox="1"/>
          <p:nvPr/>
        </p:nvSpPr>
        <p:spPr>
          <a:xfrm>
            <a:off x="544285" y="791918"/>
            <a:ext cx="10755087" cy="6309420"/>
          </a:xfrm>
          <a:prstGeom prst="rect">
            <a:avLst/>
          </a:prstGeom>
          <a:noFill/>
        </p:spPr>
        <p:txBody>
          <a:bodyPr wrap="square" rtlCol="0">
            <a:spAutoFit/>
          </a:bodyPr>
          <a:lstStyle/>
          <a:p>
            <a:pPr marL="342900" indent="-342900">
              <a:buAutoNum type="arabicPeriod"/>
            </a:pPr>
            <a:r>
              <a:rPr lang="en-US" sz="1400" b="1" dirty="0">
                <a:latin typeface="Arial" panose="020B0604020202020204" pitchFamily="34" charset="0"/>
                <a:cs typeface="Arial" panose="020B0604020202020204" pitchFamily="34" charset="0"/>
              </a:rPr>
              <a:t>Total Revenue </a:t>
            </a:r>
            <a:r>
              <a:rPr lang="en-US" sz="1400" dirty="0">
                <a:latin typeface="Arial" panose="020B0604020202020204" pitchFamily="34" charset="0"/>
                <a:cs typeface="Arial" panose="020B0604020202020204" pitchFamily="34" charset="0"/>
              </a:rPr>
              <a:t>=  SUM(</a:t>
            </a:r>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[Revenue])</a:t>
            </a:r>
          </a:p>
          <a:p>
            <a:r>
              <a:rPr lang="en-US" sz="1400" dirty="0">
                <a:latin typeface="Arial" panose="020B0604020202020204" pitchFamily="34" charset="0"/>
                <a:cs typeface="Arial" panose="020B0604020202020204" pitchFamily="34" charset="0"/>
              </a:rPr>
              <a:t>     Note: Total Price </a:t>
            </a:r>
            <a:r>
              <a:rPr lang="en-US" sz="1400" dirty="0" err="1">
                <a:latin typeface="Arial" panose="020B0604020202020204" pitchFamily="34" charset="0"/>
                <a:cs typeface="Arial" panose="020B0604020202020204" pitchFamily="34" charset="0"/>
              </a:rPr>
              <a:t>Usd</a:t>
            </a:r>
            <a:r>
              <a:rPr lang="en-US" sz="1400" dirty="0">
                <a:latin typeface="Arial" panose="020B0604020202020204" pitchFamily="34" charset="0"/>
                <a:cs typeface="Arial" panose="020B0604020202020204" pitchFamily="34" charset="0"/>
              </a:rPr>
              <a:t> renamed this column to Revenue</a:t>
            </a:r>
          </a:p>
          <a:p>
            <a:r>
              <a:rPr lang="en-IN" sz="1400" dirty="0">
                <a:latin typeface="Arial" panose="020B0604020202020204" pitchFamily="34" charset="0"/>
                <a:cs typeface="Arial" panose="020B0604020202020204" pitchFamily="34" charset="0"/>
              </a:rPr>
              <a:t>    Calculates the overall revenue generated from all sales transactions.</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2. </a:t>
            </a:r>
            <a:r>
              <a:rPr lang="en-US" sz="1400" b="1" dirty="0">
                <a:latin typeface="Arial" panose="020B0604020202020204" pitchFamily="34" charset="0"/>
                <a:cs typeface="Arial" panose="020B0604020202020204" pitchFamily="34" charset="0"/>
              </a:rPr>
              <a:t>Total Orders </a:t>
            </a:r>
            <a:r>
              <a:rPr lang="en-US" sz="1400" dirty="0">
                <a:latin typeface="Arial" panose="020B0604020202020204" pitchFamily="34" charset="0"/>
                <a:cs typeface="Arial" panose="020B0604020202020204" pitchFamily="34" charset="0"/>
              </a:rPr>
              <a:t>= DISTINCTCOUNT(</a:t>
            </a:r>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[Order Number])</a:t>
            </a:r>
          </a:p>
          <a:p>
            <a:r>
              <a:rPr lang="en-US" sz="1400"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Counts the total number of unique customer orders.</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3. </a:t>
            </a:r>
            <a:r>
              <a:rPr lang="en-US" sz="1400" b="1" dirty="0">
                <a:latin typeface="Arial" panose="020B0604020202020204" pitchFamily="34" charset="0"/>
                <a:cs typeface="Arial" panose="020B0604020202020204" pitchFamily="34" charset="0"/>
              </a:rPr>
              <a:t>Total Customers </a:t>
            </a:r>
            <a:r>
              <a:rPr lang="en-US" sz="1400" dirty="0">
                <a:latin typeface="Arial" panose="020B0604020202020204" pitchFamily="34" charset="0"/>
                <a:cs typeface="Arial" panose="020B0604020202020204" pitchFamily="34" charset="0"/>
              </a:rPr>
              <a:t>= DISTINCTCOUNT(</a:t>
            </a:r>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[Customer ID])</a:t>
            </a:r>
          </a:p>
          <a:p>
            <a:r>
              <a:rPr lang="en-US" sz="1400"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Calculates the number of unique customers.</a:t>
            </a: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4. Average Order Value </a:t>
            </a:r>
            <a:r>
              <a:rPr lang="en-IN" sz="1400" dirty="0">
                <a:latin typeface="Arial" panose="020B0604020202020204" pitchFamily="34" charset="0"/>
                <a:cs typeface="Arial" panose="020B0604020202020204" pitchFamily="34" charset="0"/>
              </a:rPr>
              <a:t>= DIVIDE([Total Revenue],[Total Orders])</a:t>
            </a:r>
          </a:p>
          <a:p>
            <a:r>
              <a:rPr lang="en-IN" sz="1400" dirty="0">
                <a:latin typeface="Arial" panose="020B0604020202020204" pitchFamily="34" charset="0"/>
                <a:cs typeface="Arial" panose="020B0604020202020204" pitchFamily="34" charset="0"/>
              </a:rPr>
              <a:t>    Measures the average revenue generated per order.</a:t>
            </a: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5. </a:t>
            </a:r>
            <a:r>
              <a:rPr lang="en-US" sz="1400" b="1" dirty="0">
                <a:latin typeface="Arial" panose="020B0604020202020204" pitchFamily="34" charset="0"/>
                <a:cs typeface="Arial" panose="020B0604020202020204" pitchFamily="34" charset="0"/>
              </a:rPr>
              <a:t>Revenue per Customer </a:t>
            </a:r>
            <a:r>
              <a:rPr lang="en-US" sz="1400" dirty="0">
                <a:latin typeface="Arial" panose="020B0604020202020204" pitchFamily="34" charset="0"/>
                <a:cs typeface="Arial" panose="020B0604020202020204" pitchFamily="34" charset="0"/>
              </a:rPr>
              <a:t>= DIVIDE([Total Revenue],[Total Customers])</a:t>
            </a:r>
          </a:p>
          <a:p>
            <a:r>
              <a:rPr lang="en-IN" sz="1400" dirty="0">
                <a:latin typeface="Arial" panose="020B0604020202020204" pitchFamily="34" charset="0"/>
                <a:cs typeface="Arial" panose="020B0604020202020204" pitchFamily="34" charset="0"/>
              </a:rPr>
              <a:t>    Calculates the average revenue generated by each customer.</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6. </a:t>
            </a:r>
            <a:r>
              <a:rPr lang="en-US" sz="1400" b="1" dirty="0">
                <a:latin typeface="Arial" panose="020B0604020202020204" pitchFamily="34" charset="0"/>
                <a:cs typeface="Arial" panose="020B0604020202020204" pitchFamily="34" charset="0"/>
              </a:rPr>
              <a:t>Purchase Frequency </a:t>
            </a:r>
            <a:r>
              <a:rPr lang="en-US" sz="1400" dirty="0">
                <a:latin typeface="Arial" panose="020B0604020202020204" pitchFamily="34" charset="0"/>
                <a:cs typeface="Arial" panose="020B0604020202020204" pitchFamily="34" charset="0"/>
              </a:rPr>
              <a:t>= DIVIDE([Total Orders],[Total Customers])</a:t>
            </a:r>
          </a:p>
          <a:p>
            <a:r>
              <a:rPr lang="en-US" sz="1400"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Measures how frequently customers place orders on average.</a:t>
            </a: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7. </a:t>
            </a:r>
            <a:r>
              <a:rPr lang="en-US" sz="1400" b="1" dirty="0">
                <a:latin typeface="Arial" panose="020B0604020202020204" pitchFamily="34" charset="0"/>
                <a:cs typeface="Arial" panose="020B0604020202020204" pitchFamily="34" charset="0"/>
              </a:rPr>
              <a:t>Estimated CLV </a:t>
            </a:r>
            <a:r>
              <a:rPr lang="en-US" sz="1400" dirty="0">
                <a:latin typeface="Arial" panose="020B0604020202020204" pitchFamily="34" charset="0"/>
                <a:cs typeface="Arial" panose="020B0604020202020204" pitchFamily="34" charset="0"/>
              </a:rPr>
              <a:t>= [Average Order Value] * [Purchase Frequency]</a:t>
            </a:r>
          </a:p>
          <a:p>
            <a:r>
              <a:rPr lang="en-US" sz="1400"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Estimates the average lifetime value of a customer using order value and purchase frequency.</a:t>
            </a:r>
          </a:p>
          <a:p>
            <a:endParaRPr lang="en-IN"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8. First Purchase Date </a:t>
            </a:r>
            <a:r>
              <a:rPr lang="en-US" sz="1400" dirty="0">
                <a:latin typeface="Arial" panose="020B0604020202020204" pitchFamily="34" charset="0"/>
                <a:cs typeface="Arial" panose="020B0604020202020204" pitchFamily="34" charset="0"/>
              </a:rPr>
              <a:t>= CALCULATE( MIN(</a:t>
            </a:r>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[Order Date]), </a:t>
            </a:r>
          </a:p>
          <a:p>
            <a:r>
              <a:rPr lang="en-US" sz="1400" dirty="0">
                <a:latin typeface="Arial" panose="020B0604020202020204" pitchFamily="34" charset="0"/>
                <a:cs typeface="Arial" panose="020B0604020202020204" pitchFamily="34" charset="0"/>
              </a:rPr>
              <a:t>                                          ALLEXCEPT(</a:t>
            </a:r>
            <a:r>
              <a:rPr lang="en-US" sz="1400" dirty="0" err="1">
                <a:latin typeface="Arial" panose="020B0604020202020204" pitchFamily="34" charset="0"/>
                <a:cs typeface="Arial" panose="020B0604020202020204" pitchFamily="34" charset="0"/>
              </a:rPr>
              <a:t>shopify_sales,shopify_sales</a:t>
            </a:r>
            <a:r>
              <a:rPr lang="en-US" sz="1400" dirty="0">
                <a:latin typeface="Arial" panose="020B0604020202020204" pitchFamily="34" charset="0"/>
                <a:cs typeface="Arial" panose="020B0604020202020204" pitchFamily="34" charset="0"/>
              </a:rPr>
              <a:t>[Customer ID]))</a:t>
            </a:r>
          </a:p>
          <a:p>
            <a:r>
              <a:rPr lang="en-IN" sz="1400" dirty="0">
                <a:latin typeface="Arial" panose="020B0604020202020204" pitchFamily="34" charset="0"/>
                <a:cs typeface="Arial" panose="020B0604020202020204" pitchFamily="34" charset="0"/>
              </a:rPr>
              <a:t>    Finds the first purchase made by each customer.</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5172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6073E1-6EE1-26E7-962D-C052E94D90A6}"/>
              </a:ext>
            </a:extLst>
          </p:cNvPr>
          <p:cNvSpPr txBox="1"/>
          <p:nvPr/>
        </p:nvSpPr>
        <p:spPr>
          <a:xfrm>
            <a:off x="5874840" y="567436"/>
            <a:ext cx="4811485" cy="6340197"/>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10. </a:t>
            </a:r>
            <a:r>
              <a:rPr lang="en-US" sz="1400" b="1" dirty="0">
                <a:latin typeface="Arial" panose="020B0604020202020204" pitchFamily="34" charset="0"/>
                <a:cs typeface="Arial" panose="020B0604020202020204" pitchFamily="34" charset="0"/>
              </a:rPr>
              <a:t>Days to Return = </a:t>
            </a:r>
          </a:p>
          <a:p>
            <a:r>
              <a:rPr lang="en-US" sz="1400" dirty="0">
                <a:latin typeface="Arial" panose="020B0604020202020204" pitchFamily="34" charset="0"/>
                <a:cs typeface="Arial" panose="020B0604020202020204" pitchFamily="34" charset="0"/>
              </a:rPr>
              <a:t>DATEDIFF(</a:t>
            </a:r>
          </a:p>
          <a:p>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[First Purchase Date], </a:t>
            </a:r>
          </a:p>
          <a:p>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[Second Purchase Date], DAY)</a:t>
            </a:r>
          </a:p>
          <a:p>
            <a:r>
              <a:rPr lang="en-IN" sz="1400" dirty="0">
                <a:latin typeface="Arial" panose="020B0604020202020204" pitchFamily="34" charset="0"/>
                <a:cs typeface="Arial" panose="020B0604020202020204" pitchFamily="34" charset="0"/>
              </a:rPr>
              <a:t>Calculates the number of days taken for a customer to make their second purchase.</a:t>
            </a:r>
          </a:p>
          <a:p>
            <a:endParaRPr lang="en-IN"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11. Customer Type =</a:t>
            </a:r>
          </a:p>
          <a:p>
            <a:r>
              <a:rPr lang="en-US" sz="1400" dirty="0">
                <a:latin typeface="Arial" panose="020B0604020202020204" pitchFamily="34" charset="0"/>
                <a:cs typeface="Arial" panose="020B0604020202020204" pitchFamily="34" charset="0"/>
              </a:rPr>
              <a:t>IF(</a:t>
            </a:r>
          </a:p>
          <a:p>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[Order Date]=</a:t>
            </a:r>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[First Purchase Date],</a:t>
            </a:r>
          </a:p>
          <a:p>
            <a:r>
              <a:rPr lang="en-US" sz="1400" dirty="0">
                <a:latin typeface="Arial" panose="020B0604020202020204" pitchFamily="34" charset="0"/>
                <a:cs typeface="Arial" panose="020B0604020202020204" pitchFamily="34" charset="0"/>
              </a:rPr>
              <a:t>"New",</a:t>
            </a:r>
          </a:p>
          <a:p>
            <a:r>
              <a:rPr lang="en-US" sz="1400" dirty="0">
                <a:latin typeface="Arial" panose="020B0604020202020204" pitchFamily="34" charset="0"/>
                <a:cs typeface="Arial" panose="020B0604020202020204" pitchFamily="34" charset="0"/>
              </a:rPr>
              <a:t>"Returning"</a:t>
            </a:r>
          </a:p>
          <a:p>
            <a:r>
              <a:rPr lang="en-US"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Classifies customers as New or Returning.</a:t>
            </a: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12. Average Days to Second Purchase = </a:t>
            </a:r>
          </a:p>
          <a:p>
            <a:r>
              <a:rPr lang="en-IN" sz="1400" dirty="0">
                <a:latin typeface="Arial" panose="020B0604020202020204" pitchFamily="34" charset="0"/>
                <a:cs typeface="Arial" panose="020B0604020202020204" pitchFamily="34" charset="0"/>
              </a:rPr>
              <a:t>AVERAGEX(</a:t>
            </a:r>
          </a:p>
          <a:p>
            <a:r>
              <a:rPr lang="en-IN" sz="1400" dirty="0">
                <a:latin typeface="Arial" panose="020B0604020202020204" pitchFamily="34" charset="0"/>
                <a:cs typeface="Arial" panose="020B0604020202020204" pitchFamily="34" charset="0"/>
              </a:rPr>
              <a:t>    FILTER(</a:t>
            </a:r>
          </a:p>
          <a:p>
            <a:r>
              <a:rPr lang="en-IN" sz="1400" dirty="0">
                <a:latin typeface="Arial" panose="020B0604020202020204" pitchFamily="34" charset="0"/>
                <a:cs typeface="Arial" panose="020B0604020202020204" pitchFamily="34" charset="0"/>
              </a:rPr>
              <a:t>        VALUES(</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[Customer ID]),</a:t>
            </a:r>
          </a:p>
          <a:p>
            <a:r>
              <a:rPr lang="en-IN" sz="1400" dirty="0">
                <a:latin typeface="Arial" panose="020B0604020202020204" pitchFamily="34" charset="0"/>
                <a:cs typeface="Arial" panose="020B0604020202020204" pitchFamily="34" charset="0"/>
              </a:rPr>
              <a:t>        CALCULATE(</a:t>
            </a:r>
          </a:p>
          <a:p>
            <a:r>
              <a:rPr lang="en-IN" sz="1400" dirty="0">
                <a:latin typeface="Arial" panose="020B0604020202020204" pitchFamily="34" charset="0"/>
                <a:cs typeface="Arial" panose="020B0604020202020204" pitchFamily="34" charset="0"/>
              </a:rPr>
              <a:t>            DISTINCTCOUNT(</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[Order Number])</a:t>
            </a:r>
          </a:p>
          <a:p>
            <a:r>
              <a:rPr lang="en-IN" sz="1400" dirty="0">
                <a:latin typeface="Arial" panose="020B0604020202020204" pitchFamily="34" charset="0"/>
                <a:cs typeface="Arial" panose="020B0604020202020204" pitchFamily="34" charset="0"/>
              </a:rPr>
              <a:t>        ) &gt;= 2</a:t>
            </a:r>
          </a:p>
          <a:p>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    CALCULATE(</a:t>
            </a:r>
          </a:p>
          <a:p>
            <a:r>
              <a:rPr lang="en-IN" sz="1400" dirty="0">
                <a:latin typeface="Arial" panose="020B0604020202020204" pitchFamily="34" charset="0"/>
                <a:cs typeface="Arial" panose="020B0604020202020204" pitchFamily="34" charset="0"/>
              </a:rPr>
              <a:t>        MIN(</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[Days to Second Purchase])</a:t>
            </a:r>
          </a:p>
          <a:p>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a:t>
            </a:r>
          </a:p>
          <a:p>
            <a:endParaRPr lang="en-IN" sz="14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4A22F82-BA55-04A1-58AB-FF9156D1C7B0}"/>
              </a:ext>
            </a:extLst>
          </p:cNvPr>
          <p:cNvSpPr txBox="1"/>
          <p:nvPr/>
        </p:nvSpPr>
        <p:spPr>
          <a:xfrm>
            <a:off x="515763" y="567436"/>
            <a:ext cx="4578497" cy="5539978"/>
          </a:xfrm>
          <a:prstGeom prst="rect">
            <a:avLst/>
          </a:prstGeom>
          <a:noFill/>
        </p:spPr>
        <p:txBody>
          <a:bodyPr wrap="none" rtlCol="0">
            <a:spAutoFit/>
          </a:bodyPr>
          <a:lstStyle/>
          <a:p>
            <a:r>
              <a:rPr lang="en-IN" sz="1400" b="1" dirty="0">
                <a:latin typeface="Arial" panose="020B0604020202020204" pitchFamily="34" charset="0"/>
                <a:cs typeface="Arial" panose="020B0604020202020204" pitchFamily="34" charset="0"/>
              </a:rPr>
              <a:t>9. Second Purchase Date </a:t>
            </a:r>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VAR </a:t>
            </a:r>
            <a:r>
              <a:rPr lang="en-IN" sz="1400" dirty="0" err="1">
                <a:latin typeface="Arial" panose="020B0604020202020204" pitchFamily="34" charset="0"/>
                <a:cs typeface="Arial" panose="020B0604020202020204" pitchFamily="34" charset="0"/>
              </a:rPr>
              <a:t>CurrentCustomer</a:t>
            </a:r>
            <a:r>
              <a:rPr lang="en-IN" sz="1400" dirty="0">
                <a:latin typeface="Arial" panose="020B0604020202020204" pitchFamily="34" charset="0"/>
                <a:cs typeface="Arial" panose="020B0604020202020204" pitchFamily="34" charset="0"/>
              </a:rPr>
              <a:t> = </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[Customer ID]</a:t>
            </a:r>
          </a:p>
          <a:p>
            <a:r>
              <a:rPr lang="en-IN" sz="1400" dirty="0">
                <a:latin typeface="Arial" panose="020B0604020202020204" pitchFamily="34" charset="0"/>
                <a:cs typeface="Arial" panose="020B0604020202020204" pitchFamily="34" charset="0"/>
              </a:rPr>
              <a:t>VAR </a:t>
            </a:r>
            <a:r>
              <a:rPr lang="en-IN" sz="1400" dirty="0" err="1">
                <a:latin typeface="Arial" panose="020B0604020202020204" pitchFamily="34" charset="0"/>
                <a:cs typeface="Arial" panose="020B0604020202020204" pitchFamily="34" charset="0"/>
              </a:rPr>
              <a:t>CustomerOrders</a:t>
            </a:r>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    SUMMARIZE(</a:t>
            </a:r>
          </a:p>
          <a:p>
            <a:r>
              <a:rPr lang="en-IN" sz="1400" dirty="0">
                <a:latin typeface="Arial" panose="020B0604020202020204" pitchFamily="34" charset="0"/>
                <a:cs typeface="Arial" panose="020B0604020202020204" pitchFamily="34" charset="0"/>
              </a:rPr>
              <a:t>        FILTER(</a:t>
            </a:r>
          </a:p>
          <a:p>
            <a:r>
              <a:rPr lang="en-IN" sz="1400" dirty="0">
                <a:latin typeface="Arial" panose="020B0604020202020204" pitchFamily="34" charset="0"/>
                <a:cs typeface="Arial" panose="020B0604020202020204" pitchFamily="34" charset="0"/>
              </a:rPr>
              <a:t>            ALL(</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[Customer ID] = </a:t>
            </a:r>
            <a:r>
              <a:rPr lang="en-IN" sz="1400" dirty="0" err="1">
                <a:latin typeface="Arial" panose="020B0604020202020204" pitchFamily="34" charset="0"/>
                <a:cs typeface="Arial" panose="020B0604020202020204" pitchFamily="34" charset="0"/>
              </a:rPr>
              <a:t>CurrentCustomer</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[Order Number],</a:t>
            </a:r>
          </a:p>
          <a:p>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[Order Date]</a:t>
            </a:r>
          </a:p>
          <a:p>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VAR </a:t>
            </a:r>
            <a:r>
              <a:rPr lang="en-IN" sz="1400" dirty="0" err="1">
                <a:latin typeface="Arial" panose="020B0604020202020204" pitchFamily="34" charset="0"/>
                <a:cs typeface="Arial" panose="020B0604020202020204" pitchFamily="34" charset="0"/>
              </a:rPr>
              <a:t>SecondOrder</a:t>
            </a:r>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    TOPN(</a:t>
            </a:r>
          </a:p>
          <a:p>
            <a:r>
              <a:rPr lang="en-IN" sz="1400" dirty="0">
                <a:latin typeface="Arial" panose="020B0604020202020204" pitchFamily="34" charset="0"/>
                <a:cs typeface="Arial" panose="020B0604020202020204" pitchFamily="34" charset="0"/>
              </a:rPr>
              <a:t>        2,</a:t>
            </a:r>
          </a:p>
          <a:p>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CustomerOrders</a:t>
            </a:r>
            <a:r>
              <a:rPr lang="en-IN"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[Order Date], ASC,</a:t>
            </a:r>
          </a:p>
          <a:p>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[Order Number], ASC</a:t>
            </a:r>
          </a:p>
          <a:p>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RETURN</a:t>
            </a:r>
          </a:p>
          <a:p>
            <a:r>
              <a:rPr lang="en-IN" sz="1400" dirty="0">
                <a:latin typeface="Arial" panose="020B0604020202020204" pitchFamily="34" charset="0"/>
                <a:cs typeface="Arial" panose="020B0604020202020204" pitchFamily="34" charset="0"/>
              </a:rPr>
              <a:t>    IF(</a:t>
            </a:r>
          </a:p>
          <a:p>
            <a:r>
              <a:rPr lang="en-IN" sz="1400" dirty="0">
                <a:latin typeface="Arial" panose="020B0604020202020204" pitchFamily="34" charset="0"/>
                <a:cs typeface="Arial" panose="020B0604020202020204" pitchFamily="34" charset="0"/>
              </a:rPr>
              <a:t>        COUNTROWS(</a:t>
            </a:r>
            <a:r>
              <a:rPr lang="en-IN" sz="1400" dirty="0" err="1">
                <a:latin typeface="Arial" panose="020B0604020202020204" pitchFamily="34" charset="0"/>
                <a:cs typeface="Arial" panose="020B0604020202020204" pitchFamily="34" charset="0"/>
              </a:rPr>
              <a:t>CustomerOrders</a:t>
            </a:r>
            <a:r>
              <a:rPr lang="en-IN" sz="1400" dirty="0">
                <a:latin typeface="Arial" panose="020B0604020202020204" pitchFamily="34" charset="0"/>
                <a:cs typeface="Arial" panose="020B0604020202020204" pitchFamily="34" charset="0"/>
              </a:rPr>
              <a:t>) &gt;= 2,</a:t>
            </a:r>
          </a:p>
          <a:p>
            <a:r>
              <a:rPr lang="en-IN" sz="1400" dirty="0">
                <a:latin typeface="Arial" panose="020B0604020202020204" pitchFamily="34" charset="0"/>
                <a:cs typeface="Arial" panose="020B0604020202020204" pitchFamily="34" charset="0"/>
              </a:rPr>
              <a:t>        MAXX(</a:t>
            </a:r>
            <a:r>
              <a:rPr lang="en-IN" sz="1400" dirty="0" err="1">
                <a:latin typeface="Arial" panose="020B0604020202020204" pitchFamily="34" charset="0"/>
                <a:cs typeface="Arial" panose="020B0604020202020204" pitchFamily="34" charset="0"/>
              </a:rPr>
              <a:t>SecondOrder</a:t>
            </a:r>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[Order Date]),</a:t>
            </a:r>
          </a:p>
          <a:p>
            <a:r>
              <a:rPr lang="en-IN" sz="1400" dirty="0">
                <a:latin typeface="Arial" panose="020B0604020202020204" pitchFamily="34" charset="0"/>
                <a:cs typeface="Arial" panose="020B0604020202020204" pitchFamily="34" charset="0"/>
              </a:rPr>
              <a:t>        BLANK()</a:t>
            </a:r>
          </a:p>
          <a:p>
            <a:r>
              <a:rPr lang="en-IN" sz="1400" dirty="0">
                <a:latin typeface="Arial" panose="020B0604020202020204" pitchFamily="34" charset="0"/>
                <a:cs typeface="Arial" panose="020B0604020202020204" pitchFamily="34" charset="0"/>
              </a:rPr>
              <a:t>    )</a:t>
            </a:r>
          </a:p>
          <a:p>
            <a:endParaRPr lang="en-IN" dirty="0"/>
          </a:p>
        </p:txBody>
      </p:sp>
    </p:spTree>
    <p:extLst>
      <p:ext uri="{BB962C8B-B14F-4D97-AF65-F5344CB8AC3E}">
        <p14:creationId xmlns:p14="http://schemas.microsoft.com/office/powerpoint/2010/main" val="87874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08845B-16B7-5810-91CD-57343A61E7B1}"/>
              </a:ext>
            </a:extLst>
          </p:cNvPr>
          <p:cNvSpPr txBox="1"/>
          <p:nvPr/>
        </p:nvSpPr>
        <p:spPr>
          <a:xfrm>
            <a:off x="163287" y="206827"/>
            <a:ext cx="5475514" cy="6740307"/>
          </a:xfrm>
          <a:prstGeom prst="rect">
            <a:avLst/>
          </a:prstGeom>
          <a:noFill/>
        </p:spPr>
        <p:txBody>
          <a:bodyPr wrap="square" rtlCol="0">
            <a:spAutoFit/>
          </a:bodyPr>
          <a:lstStyle/>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13. </a:t>
            </a:r>
            <a:r>
              <a:rPr lang="en-US" sz="1400" b="1" dirty="0">
                <a:latin typeface="Arial" panose="020B0604020202020204" pitchFamily="34" charset="0"/>
                <a:cs typeface="Arial" panose="020B0604020202020204" pitchFamily="34" charset="0"/>
              </a:rPr>
              <a:t>Customer Cohort =</a:t>
            </a:r>
          </a:p>
          <a:p>
            <a:r>
              <a:rPr lang="en-US" sz="1400" dirty="0">
                <a:latin typeface="Arial" panose="020B0604020202020204" pitchFamily="34" charset="0"/>
                <a:cs typeface="Arial" panose="020B0604020202020204" pitchFamily="34" charset="0"/>
              </a:rPr>
              <a:t>FORMAT(</a:t>
            </a:r>
          </a:p>
          <a:p>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[First Purchase Date],</a:t>
            </a:r>
          </a:p>
          <a:p>
            <a:r>
              <a:rPr lang="en-US" sz="1400" dirty="0">
                <a:latin typeface="Arial" panose="020B0604020202020204" pitchFamily="34" charset="0"/>
                <a:cs typeface="Arial" panose="020B0604020202020204" pitchFamily="34" charset="0"/>
              </a:rPr>
              <a:t>"YYYY-MM"</a:t>
            </a:r>
          </a:p>
          <a:p>
            <a:r>
              <a:rPr lang="en-US"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Groups customers based on the month of their first purchase.</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14. </a:t>
            </a:r>
            <a:r>
              <a:rPr lang="en-US" sz="1400" b="1" dirty="0">
                <a:latin typeface="Arial" panose="020B0604020202020204" pitchFamily="34" charset="0"/>
                <a:cs typeface="Arial" panose="020B0604020202020204" pitchFamily="34" charset="0"/>
              </a:rPr>
              <a:t>Cohort Retention Rate =</a:t>
            </a:r>
          </a:p>
          <a:p>
            <a:r>
              <a:rPr lang="en-US" sz="1400" dirty="0">
                <a:latin typeface="Arial" panose="020B0604020202020204" pitchFamily="34" charset="0"/>
                <a:cs typeface="Arial" panose="020B0604020202020204" pitchFamily="34" charset="0"/>
              </a:rPr>
              <a:t>DIVIDE(</a:t>
            </a:r>
          </a:p>
          <a:p>
            <a:r>
              <a:rPr lang="en-US" sz="1400" dirty="0">
                <a:latin typeface="Arial" panose="020B0604020202020204" pitchFamily="34" charset="0"/>
                <a:cs typeface="Arial" panose="020B0604020202020204" pitchFamily="34" charset="0"/>
              </a:rPr>
              <a:t>[Returning Customers],</a:t>
            </a:r>
          </a:p>
          <a:p>
            <a:r>
              <a:rPr lang="en-US" sz="1400" dirty="0">
                <a:latin typeface="Arial" panose="020B0604020202020204" pitchFamily="34" charset="0"/>
                <a:cs typeface="Arial" panose="020B0604020202020204" pitchFamily="34" charset="0"/>
              </a:rPr>
              <a:t>[New Customers]</a:t>
            </a:r>
          </a:p>
          <a:p>
            <a:r>
              <a:rPr lang="en-US"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Measures customer retention over time.</a:t>
            </a:r>
          </a:p>
          <a:p>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15. Return Bucket =</a:t>
            </a:r>
          </a:p>
          <a:p>
            <a:r>
              <a:rPr lang="en-US" sz="1400" dirty="0">
                <a:latin typeface="Arial" panose="020B0604020202020204" pitchFamily="34" charset="0"/>
                <a:cs typeface="Arial" panose="020B0604020202020204" pitchFamily="34" charset="0"/>
              </a:rPr>
              <a:t>SWITCH(</a:t>
            </a:r>
          </a:p>
          <a:p>
            <a:r>
              <a:rPr lang="en-US" sz="1400" dirty="0">
                <a:latin typeface="Arial" panose="020B0604020202020204" pitchFamily="34" charset="0"/>
                <a:cs typeface="Arial" panose="020B0604020202020204" pitchFamily="34" charset="0"/>
              </a:rPr>
              <a:t>TRUE(),</a:t>
            </a:r>
          </a:p>
          <a:p>
            <a:r>
              <a:rPr lang="en-US" sz="1400" dirty="0">
                <a:latin typeface="Arial" panose="020B0604020202020204" pitchFamily="34" charset="0"/>
                <a:cs typeface="Arial" panose="020B0604020202020204" pitchFamily="34" charset="0"/>
              </a:rPr>
              <a:t>ISBLANK(</a:t>
            </a:r>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[Days to Return]),"No Repeat Purchase",</a:t>
            </a:r>
          </a:p>
          <a:p>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[Days to Return]&lt;=30,"Within 30 Days",</a:t>
            </a:r>
          </a:p>
          <a:p>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[Days to Return]&lt;=60,"31-60 Days",</a:t>
            </a:r>
          </a:p>
          <a:p>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[Days to Return]&lt;=90,"61-90 Days",</a:t>
            </a:r>
          </a:p>
          <a:p>
            <a:r>
              <a:rPr lang="en-US" sz="1400" dirty="0">
                <a:latin typeface="Arial" panose="020B0604020202020204" pitchFamily="34" charset="0"/>
                <a:cs typeface="Arial" panose="020B0604020202020204" pitchFamily="34" charset="0"/>
              </a:rPr>
              <a:t>"90+ Days"</a:t>
            </a:r>
          </a:p>
          <a:p>
            <a:r>
              <a:rPr lang="en-US"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Groups customers based on the time taken to make a repeat purchase.</a:t>
            </a:r>
          </a:p>
          <a:p>
            <a:endParaRPr lang="en-IN" sz="1600" dirty="0">
              <a:latin typeface="Arial" panose="020B0604020202020204" pitchFamily="34" charset="0"/>
              <a:cs typeface="Arial" panose="020B0604020202020204" pitchFamily="34" charset="0"/>
            </a:endParaRPr>
          </a:p>
          <a:p>
            <a:endParaRPr lang="en-IN" sz="1600" b="1" dirty="0">
              <a:latin typeface="Arial" panose="020B0604020202020204" pitchFamily="34" charset="0"/>
              <a:cs typeface="Arial" panose="020B0604020202020204" pitchFamily="34" charset="0"/>
            </a:endParaRPr>
          </a:p>
          <a:p>
            <a:endParaRPr lang="en-IN" dirty="0"/>
          </a:p>
          <a:p>
            <a:endParaRPr lang="en-IN" dirty="0"/>
          </a:p>
        </p:txBody>
      </p:sp>
      <p:sp>
        <p:nvSpPr>
          <p:cNvPr id="3" name="TextBox 2">
            <a:extLst>
              <a:ext uri="{FF2B5EF4-FFF2-40B4-BE49-F238E27FC236}">
                <a16:creationId xmlns:a16="http://schemas.microsoft.com/office/drawing/2014/main" id="{8A3AC24D-6E3D-448C-AAA7-3B78FD464A3B}"/>
              </a:ext>
            </a:extLst>
          </p:cNvPr>
          <p:cNvSpPr txBox="1"/>
          <p:nvPr/>
        </p:nvSpPr>
        <p:spPr>
          <a:xfrm>
            <a:off x="5878286" y="406881"/>
            <a:ext cx="5878286" cy="634019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16</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Repeat Rate </a:t>
            </a:r>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DIVIDE(</a:t>
            </a:r>
          </a:p>
          <a:p>
            <a:r>
              <a:rPr lang="en-US" sz="1400" dirty="0">
                <a:latin typeface="Arial" panose="020B0604020202020204" pitchFamily="34" charset="0"/>
                <a:cs typeface="Arial" panose="020B0604020202020204" pitchFamily="34" charset="0"/>
              </a:rPr>
              <a:t>    CALCULATE(</a:t>
            </a:r>
          </a:p>
          <a:p>
            <a:r>
              <a:rPr lang="en-US" sz="1400" dirty="0">
                <a:latin typeface="Arial" panose="020B0604020202020204" pitchFamily="34" charset="0"/>
                <a:cs typeface="Arial" panose="020B0604020202020204" pitchFamily="34" charset="0"/>
              </a:rPr>
              <a:t>        DISTINCTCOUNT(</a:t>
            </a:r>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[Customer ID]),</a:t>
            </a:r>
          </a:p>
          <a:p>
            <a:r>
              <a:rPr lang="en-US" sz="1400" dirty="0">
                <a:latin typeface="Arial" panose="020B0604020202020204" pitchFamily="34" charset="0"/>
                <a:cs typeface="Arial" panose="020B0604020202020204" pitchFamily="34" charset="0"/>
              </a:rPr>
              <a:t>        NOT ISBLANK(</a:t>
            </a:r>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[Second Purchase Date])</a:t>
            </a:r>
          </a:p>
          <a:p>
            <a:r>
              <a:rPr lang="en-US" sz="1400" dirty="0">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    DISTINCTCOUNT(</a:t>
            </a:r>
            <a:r>
              <a:rPr lang="en-US" sz="1400" dirty="0" err="1">
                <a:latin typeface="Arial" panose="020B0604020202020204" pitchFamily="34" charset="0"/>
                <a:cs typeface="Arial" panose="020B0604020202020204" pitchFamily="34" charset="0"/>
              </a:rPr>
              <a:t>shopify_sales</a:t>
            </a:r>
            <a:r>
              <a:rPr lang="en-US" sz="1400" dirty="0">
                <a:latin typeface="Arial" panose="020B0604020202020204" pitchFamily="34" charset="0"/>
                <a:cs typeface="Arial" panose="020B0604020202020204" pitchFamily="34" charset="0"/>
              </a:rPr>
              <a:t>[Customer ID]),</a:t>
            </a:r>
          </a:p>
          <a:p>
            <a:r>
              <a:rPr lang="en-US" sz="1400" dirty="0">
                <a:latin typeface="Arial" panose="020B0604020202020204" pitchFamily="34" charset="0"/>
                <a:cs typeface="Arial" panose="020B0604020202020204" pitchFamily="34" charset="0"/>
              </a:rPr>
              <a:t>    0</a:t>
            </a:r>
          </a:p>
          <a:p>
            <a:r>
              <a:rPr lang="en-US" sz="1400" dirty="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17. Second Purchase Rate </a:t>
            </a:r>
            <a:r>
              <a:rPr lang="en-US"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VAR </a:t>
            </a:r>
            <a:r>
              <a:rPr lang="en-IN" sz="1400" dirty="0" err="1">
                <a:latin typeface="Arial" panose="020B0604020202020204" pitchFamily="34" charset="0"/>
                <a:cs typeface="Arial" panose="020B0604020202020204" pitchFamily="34" charset="0"/>
              </a:rPr>
              <a:t>TotalCustomers</a:t>
            </a:r>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    DISTINCTCOUNT(</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[Customer ID])</a:t>
            </a:r>
          </a:p>
          <a:p>
            <a:r>
              <a:rPr lang="en-IN" sz="1400" dirty="0">
                <a:latin typeface="Arial" panose="020B0604020202020204" pitchFamily="34" charset="0"/>
                <a:cs typeface="Arial" panose="020B0604020202020204" pitchFamily="34" charset="0"/>
              </a:rPr>
              <a:t>VAR </a:t>
            </a:r>
            <a:r>
              <a:rPr lang="en-IN" sz="1400" dirty="0" err="1">
                <a:latin typeface="Arial" panose="020B0604020202020204" pitchFamily="34" charset="0"/>
                <a:cs typeface="Arial" panose="020B0604020202020204" pitchFamily="34" charset="0"/>
              </a:rPr>
              <a:t>RepeatCustomers</a:t>
            </a:r>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    COUNTROWS(</a:t>
            </a:r>
          </a:p>
          <a:p>
            <a:r>
              <a:rPr lang="en-IN" sz="1400" dirty="0">
                <a:latin typeface="Arial" panose="020B0604020202020204" pitchFamily="34" charset="0"/>
                <a:cs typeface="Arial" panose="020B0604020202020204" pitchFamily="34" charset="0"/>
              </a:rPr>
              <a:t>        FILTER(</a:t>
            </a:r>
          </a:p>
          <a:p>
            <a:r>
              <a:rPr lang="en-IN" sz="1400" dirty="0">
                <a:latin typeface="Arial" panose="020B0604020202020204" pitchFamily="34" charset="0"/>
                <a:cs typeface="Arial" panose="020B0604020202020204" pitchFamily="34" charset="0"/>
              </a:rPr>
              <a:t>            VALUES(</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[Customer ID]),</a:t>
            </a:r>
          </a:p>
          <a:p>
            <a:r>
              <a:rPr lang="en-IN" sz="1400" dirty="0">
                <a:latin typeface="Arial" panose="020B0604020202020204" pitchFamily="34" charset="0"/>
                <a:cs typeface="Arial" panose="020B0604020202020204" pitchFamily="34" charset="0"/>
              </a:rPr>
              <a:t>            CALCULATE(</a:t>
            </a:r>
          </a:p>
          <a:p>
            <a:r>
              <a:rPr lang="en-IN" sz="1400" dirty="0">
                <a:latin typeface="Arial" panose="020B0604020202020204" pitchFamily="34" charset="0"/>
                <a:cs typeface="Arial" panose="020B0604020202020204" pitchFamily="34" charset="0"/>
              </a:rPr>
              <a:t>                DISTINCTCOUNT(</a:t>
            </a:r>
            <a:r>
              <a:rPr lang="en-IN" sz="1400" dirty="0" err="1">
                <a:latin typeface="Arial" panose="020B0604020202020204" pitchFamily="34" charset="0"/>
                <a:cs typeface="Arial" panose="020B0604020202020204" pitchFamily="34" charset="0"/>
              </a:rPr>
              <a:t>shopify_sales</a:t>
            </a:r>
            <a:r>
              <a:rPr lang="en-IN" sz="1400" dirty="0">
                <a:latin typeface="Arial" panose="020B0604020202020204" pitchFamily="34" charset="0"/>
                <a:cs typeface="Arial" panose="020B0604020202020204" pitchFamily="34" charset="0"/>
              </a:rPr>
              <a:t>[Order Number])</a:t>
            </a:r>
          </a:p>
          <a:p>
            <a:r>
              <a:rPr lang="en-IN" sz="1400" dirty="0">
                <a:latin typeface="Arial" panose="020B0604020202020204" pitchFamily="34" charset="0"/>
                <a:cs typeface="Arial" panose="020B0604020202020204" pitchFamily="34" charset="0"/>
              </a:rPr>
              <a:t>            ) &gt; 1</a:t>
            </a:r>
          </a:p>
          <a:p>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RETURN</a:t>
            </a:r>
          </a:p>
          <a:p>
            <a:r>
              <a:rPr lang="en-IN" sz="1400" dirty="0">
                <a:latin typeface="Arial" panose="020B0604020202020204" pitchFamily="34" charset="0"/>
                <a:cs typeface="Arial" panose="020B0604020202020204" pitchFamily="34" charset="0"/>
              </a:rPr>
              <a:t>    COALESCE(</a:t>
            </a:r>
          </a:p>
          <a:p>
            <a:r>
              <a:rPr lang="en-IN" sz="1400" dirty="0">
                <a:latin typeface="Arial" panose="020B0604020202020204" pitchFamily="34" charset="0"/>
                <a:cs typeface="Arial" panose="020B0604020202020204" pitchFamily="34" charset="0"/>
              </a:rPr>
              <a:t>        DIVIDE(</a:t>
            </a:r>
            <a:r>
              <a:rPr lang="en-IN" sz="1400" dirty="0" err="1">
                <a:latin typeface="Arial" panose="020B0604020202020204" pitchFamily="34" charset="0"/>
                <a:cs typeface="Arial" panose="020B0604020202020204" pitchFamily="34" charset="0"/>
              </a:rPr>
              <a:t>RepeatCustomers</a:t>
            </a:r>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TotalCustomers</a:t>
            </a:r>
            <a:r>
              <a:rPr lang="en-IN" sz="1400" dirty="0">
                <a:latin typeface="Arial" panose="020B0604020202020204" pitchFamily="34" charset="0"/>
                <a:cs typeface="Arial" panose="020B0604020202020204" pitchFamily="34" charset="0"/>
              </a:rPr>
              <a:t>, 0),</a:t>
            </a:r>
          </a:p>
          <a:p>
            <a:r>
              <a:rPr lang="en-IN" sz="1400" dirty="0">
                <a:latin typeface="Arial" panose="020B0604020202020204" pitchFamily="34" charset="0"/>
                <a:cs typeface="Arial" panose="020B0604020202020204" pitchFamily="34" charset="0"/>
              </a:rPr>
              <a:t>        0</a:t>
            </a:r>
          </a:p>
          <a:p>
            <a:r>
              <a:rPr lang="en-IN" sz="1400" dirty="0">
                <a:latin typeface="Arial" panose="020B0604020202020204" pitchFamily="34" charset="0"/>
                <a:cs typeface="Arial" panose="020B0604020202020204" pitchFamily="34" charset="0"/>
              </a:rPr>
              <a:t>    )</a:t>
            </a:r>
          </a:p>
          <a:p>
            <a:endParaRPr lang="en-US"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032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55A9A8-92B8-8976-F153-EBD4B8863BE4}"/>
              </a:ext>
            </a:extLst>
          </p:cNvPr>
          <p:cNvPicPr>
            <a:picLocks noChangeAspect="1"/>
          </p:cNvPicPr>
          <p:nvPr/>
        </p:nvPicPr>
        <p:blipFill>
          <a:blip r:embed="rId2"/>
          <a:stretch>
            <a:fillRect/>
          </a:stretch>
        </p:blipFill>
        <p:spPr>
          <a:xfrm>
            <a:off x="291292" y="304800"/>
            <a:ext cx="11443508" cy="6291943"/>
          </a:xfrm>
          <a:prstGeom prst="rect">
            <a:avLst/>
          </a:prstGeom>
        </p:spPr>
      </p:pic>
    </p:spTree>
    <p:extLst>
      <p:ext uri="{BB962C8B-B14F-4D97-AF65-F5344CB8AC3E}">
        <p14:creationId xmlns:p14="http://schemas.microsoft.com/office/powerpoint/2010/main" val="492443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E58F99-C481-9936-0692-89E689057086}"/>
              </a:ext>
            </a:extLst>
          </p:cNvPr>
          <p:cNvSpPr txBox="1"/>
          <p:nvPr/>
        </p:nvSpPr>
        <p:spPr>
          <a:xfrm>
            <a:off x="2100943" y="402772"/>
            <a:ext cx="7772400" cy="523220"/>
          </a:xfrm>
          <a:prstGeom prst="rect">
            <a:avLst/>
          </a:prstGeom>
          <a:noFill/>
        </p:spPr>
        <p:txBody>
          <a:bodyPr wrap="square" rtlCol="0">
            <a:spAutoFit/>
          </a:bodyPr>
          <a:lstStyle/>
          <a:p>
            <a:pPr algn="ctr"/>
            <a:r>
              <a:rPr lang="en-IN" sz="2800" b="1" dirty="0">
                <a:solidFill>
                  <a:schemeClr val="accent2"/>
                </a:solidFill>
                <a:latin typeface="Arial" panose="020B0604020202020204" pitchFamily="34" charset="0"/>
                <a:cs typeface="Arial" panose="020B0604020202020204" pitchFamily="34" charset="0"/>
              </a:rPr>
              <a:t>Sales Performance Overview</a:t>
            </a:r>
          </a:p>
        </p:txBody>
      </p:sp>
      <p:sp>
        <p:nvSpPr>
          <p:cNvPr id="4" name="TextBox 3">
            <a:extLst>
              <a:ext uri="{FF2B5EF4-FFF2-40B4-BE49-F238E27FC236}">
                <a16:creationId xmlns:a16="http://schemas.microsoft.com/office/drawing/2014/main" id="{BF81B372-3B60-4FF0-C490-E689A266623C}"/>
              </a:ext>
            </a:extLst>
          </p:cNvPr>
          <p:cNvSpPr txBox="1"/>
          <p:nvPr/>
        </p:nvSpPr>
        <p:spPr>
          <a:xfrm>
            <a:off x="416380" y="1120676"/>
            <a:ext cx="4797877" cy="1200329"/>
          </a:xfrm>
          <a:prstGeom prst="rect">
            <a:avLst/>
          </a:prstGeom>
          <a:noFill/>
        </p:spPr>
        <p:txBody>
          <a:bodyPr wrap="square">
            <a:spAutoFit/>
          </a:bodyPr>
          <a:lstStyle/>
          <a:p>
            <a:pPr marL="342900" indent="-342900">
              <a:buAutoNum type="arabicPeriod"/>
            </a:pPr>
            <a:r>
              <a:rPr lang="en-IN" b="1" dirty="0">
                <a:latin typeface="Arial" panose="020B0604020202020204" pitchFamily="34" charset="0"/>
                <a:cs typeface="Arial" panose="020B0604020202020204" pitchFamily="34" charset="0"/>
              </a:rPr>
              <a:t>How is the business performing overall?</a:t>
            </a:r>
          </a:p>
          <a:p>
            <a:r>
              <a:rPr lang="en-IN" dirty="0">
                <a:latin typeface="Arial" panose="020B0604020202020204" pitchFamily="34" charset="0"/>
                <a:cs typeface="Arial" panose="020B0604020202020204" pitchFamily="34" charset="0"/>
              </a:rPr>
              <a:t> A. Total revenue generated is </a:t>
            </a:r>
            <a:r>
              <a:rPr lang="en-IN" b="1" dirty="0">
                <a:latin typeface="Arial" panose="020B0604020202020204" pitchFamily="34" charset="0"/>
                <a:cs typeface="Arial" panose="020B0604020202020204" pitchFamily="34" charset="0"/>
              </a:rPr>
              <a:t>4.28K</a:t>
            </a:r>
            <a:r>
              <a:rPr lang="en-IN" dirty="0">
                <a:latin typeface="Arial" panose="020B0604020202020204" pitchFamily="34" charset="0"/>
                <a:cs typeface="Arial" panose="020B0604020202020204" pitchFamily="34" charset="0"/>
              </a:rPr>
              <a:t> from </a:t>
            </a:r>
            <a:r>
              <a:rPr lang="en-IN" b="1" dirty="0">
                <a:latin typeface="Arial" panose="020B0604020202020204" pitchFamily="34" charset="0"/>
                <a:cs typeface="Arial" panose="020B0604020202020204" pitchFamily="34" charset="0"/>
              </a:rPr>
              <a:t>6 orders</a:t>
            </a:r>
            <a:r>
              <a:rPr lang="en-IN" dirty="0">
                <a:latin typeface="Arial" panose="020B0604020202020204" pitchFamily="34" charset="0"/>
                <a:cs typeface="Arial" panose="020B0604020202020204" pitchFamily="34" charset="0"/>
              </a:rPr>
              <a:t> and </a:t>
            </a:r>
            <a:r>
              <a:rPr lang="en-IN" b="1" dirty="0">
                <a:latin typeface="Arial" panose="020B0604020202020204" pitchFamily="34" charset="0"/>
                <a:cs typeface="Arial" panose="020B0604020202020204" pitchFamily="34" charset="0"/>
              </a:rPr>
              <a:t>6 customers</a:t>
            </a:r>
            <a:r>
              <a:rPr lang="en-IN" dirty="0">
                <a:latin typeface="Arial" panose="020B0604020202020204" pitchFamily="34" charset="0"/>
                <a:cs typeface="Arial" panose="020B0604020202020204" pitchFamily="34" charset="0"/>
              </a:rPr>
              <a:t>.</a:t>
            </a:r>
          </a:p>
        </p:txBody>
      </p:sp>
      <p:sp>
        <p:nvSpPr>
          <p:cNvPr id="5" name="TextBox 4">
            <a:extLst>
              <a:ext uri="{FF2B5EF4-FFF2-40B4-BE49-F238E27FC236}">
                <a16:creationId xmlns:a16="http://schemas.microsoft.com/office/drawing/2014/main" id="{EAAA1C18-635E-7786-EE96-CC05AAA00B19}"/>
              </a:ext>
            </a:extLst>
          </p:cNvPr>
          <p:cNvSpPr txBox="1"/>
          <p:nvPr/>
        </p:nvSpPr>
        <p:spPr>
          <a:xfrm>
            <a:off x="416379" y="2537460"/>
            <a:ext cx="4797877" cy="4524315"/>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2. How has revenue changed over time?</a:t>
            </a:r>
          </a:p>
          <a:p>
            <a:pPr marL="342900" indent="-342900">
              <a:buAutoNum type="alphaUcPeriod"/>
            </a:pPr>
            <a:r>
              <a:rPr lang="en-IN" dirty="0">
                <a:latin typeface="Arial" panose="020B0604020202020204" pitchFamily="34" charset="0"/>
                <a:cs typeface="Arial" panose="020B0604020202020204" pitchFamily="34" charset="0"/>
              </a:rPr>
              <a:t>Revenue peaked on </a:t>
            </a:r>
            <a:r>
              <a:rPr lang="en-IN" b="1" dirty="0">
                <a:latin typeface="Arial" panose="020B0604020202020204" pitchFamily="34" charset="0"/>
                <a:cs typeface="Arial" panose="020B0604020202020204" pitchFamily="34" charset="0"/>
              </a:rPr>
              <a:t>23 March</a:t>
            </a:r>
            <a:r>
              <a:rPr lang="en-IN" dirty="0">
                <a:latin typeface="Arial" panose="020B0604020202020204" pitchFamily="34" charset="0"/>
                <a:cs typeface="Arial" panose="020B0604020202020204" pitchFamily="34" charset="0"/>
              </a:rPr>
              <a:t> before declining on the final day in the selected period.</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3. Which product types generate the highest revenue?</a:t>
            </a:r>
          </a:p>
          <a:p>
            <a:pPr marL="342900" indent="-342900">
              <a:buAutoNum type="alphaUcPeriod"/>
            </a:pPr>
            <a:r>
              <a:rPr lang="en-IN" b="1" dirty="0">
                <a:latin typeface="Arial" panose="020B0604020202020204" pitchFamily="34" charset="0"/>
                <a:cs typeface="Arial" panose="020B0604020202020204" pitchFamily="34" charset="0"/>
              </a:rPr>
              <a:t>Tennis Shoes</a:t>
            </a:r>
            <a:r>
              <a:rPr lang="en-IN" dirty="0">
                <a:latin typeface="Arial" panose="020B0604020202020204" pitchFamily="34" charset="0"/>
                <a:cs typeface="Arial" panose="020B0604020202020204" pitchFamily="34" charset="0"/>
              </a:rPr>
              <a:t> are the highest-performing product category, followed by </a:t>
            </a:r>
            <a:r>
              <a:rPr lang="en-IN" b="1" dirty="0">
                <a:latin typeface="Arial" panose="020B0604020202020204" pitchFamily="34" charset="0"/>
                <a:cs typeface="Arial" panose="020B0604020202020204" pitchFamily="34" charset="0"/>
              </a:rPr>
              <a:t>Sandals</a:t>
            </a:r>
            <a:r>
              <a:rPr lang="en-IN" dirty="0">
                <a:latin typeface="Arial" panose="020B0604020202020204" pitchFamily="34" charset="0"/>
                <a:cs typeface="Arial" panose="020B0604020202020204" pitchFamily="34" charset="0"/>
              </a:rPr>
              <a:t>.</a:t>
            </a:r>
          </a:p>
          <a:p>
            <a:endParaRPr lang="en-IN" b="1"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4. </a:t>
            </a:r>
            <a:r>
              <a:rPr lang="en-US" b="1" dirty="0">
                <a:latin typeface="Arial" panose="020B0604020202020204" pitchFamily="34" charset="0"/>
                <a:cs typeface="Arial" panose="020B0604020202020204" pitchFamily="34" charset="0"/>
              </a:rPr>
              <a:t>What is the revenue contribution of each product type?</a:t>
            </a:r>
          </a:p>
          <a:p>
            <a:r>
              <a:rPr lang="en-US" dirty="0">
                <a:latin typeface="Arial" panose="020B0604020202020204" pitchFamily="34" charset="0"/>
                <a:cs typeface="Arial" panose="020B0604020202020204" pitchFamily="34" charset="0"/>
              </a:rPr>
              <a:t>A. </a:t>
            </a:r>
            <a:r>
              <a:rPr lang="en-IN" dirty="0">
                <a:latin typeface="Arial" panose="020B0604020202020204" pitchFamily="34" charset="0"/>
                <a:cs typeface="Arial" panose="020B0604020202020204" pitchFamily="34" charset="0"/>
              </a:rPr>
              <a:t>Revenue is concentrated in a few product categories, indicating potential dependence on key products.</a:t>
            </a:r>
          </a:p>
          <a:p>
            <a:endParaRPr lang="en-IN"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759843D-E9CC-D0A5-E45C-30C4D13D58FC}"/>
              </a:ext>
            </a:extLst>
          </p:cNvPr>
          <p:cNvSpPr txBox="1"/>
          <p:nvPr/>
        </p:nvSpPr>
        <p:spPr>
          <a:xfrm>
            <a:off x="5878285" y="1120676"/>
            <a:ext cx="5377544" cy="3970318"/>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5. Which ZIP codes generate the highest revenue?</a:t>
            </a:r>
          </a:p>
          <a:p>
            <a:pPr marL="342900" indent="-342900">
              <a:buAutoNum type="alphaUcPeriod"/>
            </a:pPr>
            <a:r>
              <a:rPr lang="en-IN" b="1" dirty="0">
                <a:latin typeface="Arial" panose="020B0604020202020204" pitchFamily="34" charset="0"/>
                <a:cs typeface="Arial" panose="020B0604020202020204" pitchFamily="34" charset="0"/>
              </a:rPr>
              <a:t>ZIP Code 50193</a:t>
            </a:r>
            <a:r>
              <a:rPr lang="en-IN" dirty="0">
                <a:latin typeface="Arial" panose="020B0604020202020204" pitchFamily="34" charset="0"/>
                <a:cs typeface="Arial" panose="020B0604020202020204" pitchFamily="34" charset="0"/>
              </a:rPr>
              <a:t> generated the highest sales among all postal regions.</a:t>
            </a:r>
          </a:p>
          <a:p>
            <a:endParaRPr lang="en-IN" b="1"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6. Which payment gateway do customers prefer?</a:t>
            </a:r>
          </a:p>
          <a:p>
            <a:pPr marL="342900" indent="-342900">
              <a:buAutoNum type="alphaUcPeriod"/>
            </a:pPr>
            <a:r>
              <a:rPr lang="en-IN" dirty="0">
                <a:latin typeface="Arial" panose="020B0604020202020204" pitchFamily="34" charset="0"/>
                <a:cs typeface="Arial" panose="020B0604020202020204" pitchFamily="34" charset="0"/>
              </a:rPr>
              <a:t>Customers predominantly prefer </a:t>
            </a:r>
            <a:r>
              <a:rPr lang="en-IN" b="1" dirty="0">
                <a:latin typeface="Arial" panose="020B0604020202020204" pitchFamily="34" charset="0"/>
                <a:cs typeface="Arial" panose="020B0604020202020204" pitchFamily="34" charset="0"/>
              </a:rPr>
              <a:t>Shopify Payments</a:t>
            </a:r>
            <a:r>
              <a:rPr lang="en-IN" dirty="0">
                <a:latin typeface="Arial" panose="020B0604020202020204" pitchFamily="34" charset="0"/>
                <a:cs typeface="Arial" panose="020B0604020202020204" pitchFamily="34" charset="0"/>
              </a:rPr>
              <a:t>, followed by </a:t>
            </a:r>
            <a:r>
              <a:rPr lang="en-IN" b="1" dirty="0">
                <a:latin typeface="Arial" panose="020B0604020202020204" pitchFamily="34" charset="0"/>
                <a:cs typeface="Arial" panose="020B0604020202020204" pitchFamily="34" charset="0"/>
              </a:rPr>
              <a:t>PayPal</a:t>
            </a:r>
            <a:r>
              <a:rPr lang="en-IN" dirty="0">
                <a:latin typeface="Arial" panose="020B0604020202020204" pitchFamily="34" charset="0"/>
                <a:cs typeface="Arial" panose="020B0604020202020204" pitchFamily="34" charset="0"/>
              </a:rPr>
              <a:t>, with Amazon Pay being the least used gateway.</a:t>
            </a:r>
          </a:p>
          <a:p>
            <a:endParaRPr lang="en-IN" b="1"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7. Which cities contribute the highest sales?</a:t>
            </a:r>
          </a:p>
          <a:p>
            <a:r>
              <a:rPr lang="en-IN" dirty="0">
                <a:latin typeface="Arial" panose="020B0604020202020204" pitchFamily="34" charset="0"/>
                <a:cs typeface="Arial" panose="020B0604020202020204" pitchFamily="34" charset="0"/>
              </a:rPr>
              <a:t>A. </a:t>
            </a:r>
            <a:r>
              <a:rPr lang="en-IN" b="1" dirty="0">
                <a:latin typeface="Arial" panose="020B0604020202020204" pitchFamily="34" charset="0"/>
                <a:cs typeface="Arial" panose="020B0604020202020204" pitchFamily="34" charset="0"/>
              </a:rPr>
              <a:t>Louisville</a:t>
            </a:r>
            <a:r>
              <a:rPr lang="en-IN" dirty="0">
                <a:latin typeface="Arial" panose="020B0604020202020204" pitchFamily="34" charset="0"/>
                <a:cs typeface="Arial" panose="020B0604020202020204" pitchFamily="34" charset="0"/>
              </a:rPr>
              <a:t> contributes the highest city-level revenue, making it a strategically important market.</a:t>
            </a:r>
          </a:p>
        </p:txBody>
      </p:sp>
    </p:spTree>
    <p:extLst>
      <p:ext uri="{BB962C8B-B14F-4D97-AF65-F5344CB8AC3E}">
        <p14:creationId xmlns:p14="http://schemas.microsoft.com/office/powerpoint/2010/main" val="1971911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49631E-5A45-7F88-3272-3E1F7B470241}"/>
              </a:ext>
            </a:extLst>
          </p:cNvPr>
          <p:cNvPicPr>
            <a:picLocks noChangeAspect="1"/>
          </p:cNvPicPr>
          <p:nvPr/>
        </p:nvPicPr>
        <p:blipFill>
          <a:blip r:embed="rId2"/>
          <a:stretch>
            <a:fillRect/>
          </a:stretch>
        </p:blipFill>
        <p:spPr>
          <a:xfrm>
            <a:off x="345296" y="239486"/>
            <a:ext cx="11247990" cy="6379028"/>
          </a:xfrm>
          <a:prstGeom prst="rect">
            <a:avLst/>
          </a:prstGeom>
        </p:spPr>
      </p:pic>
    </p:spTree>
    <p:extLst>
      <p:ext uri="{BB962C8B-B14F-4D97-AF65-F5344CB8AC3E}">
        <p14:creationId xmlns:p14="http://schemas.microsoft.com/office/powerpoint/2010/main" val="1739242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592E69-355B-C328-2DD4-17104E0517E5}"/>
              </a:ext>
            </a:extLst>
          </p:cNvPr>
          <p:cNvSpPr txBox="1"/>
          <p:nvPr/>
        </p:nvSpPr>
        <p:spPr>
          <a:xfrm>
            <a:off x="544285" y="1012371"/>
            <a:ext cx="4757057" cy="6186309"/>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1.  KPIs: </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Customer Revenue : 4.28k</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Total Orders : 6</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Revenue per Customer : 713.97</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Customer Lifetime Revenue : 4.59M</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2. Which customer segment generates the highest revenue?</a:t>
            </a:r>
          </a:p>
          <a:p>
            <a:pPr marL="342900" indent="-342900">
              <a:buAutoNum type="alphaUcPeriod"/>
            </a:pPr>
            <a:r>
              <a:rPr lang="en-IN" b="1" dirty="0">
                <a:latin typeface="Arial" panose="020B0604020202020204" pitchFamily="34" charset="0"/>
                <a:cs typeface="Arial" panose="020B0604020202020204" pitchFamily="34" charset="0"/>
              </a:rPr>
              <a:t>Platinum customers</a:t>
            </a:r>
            <a:r>
              <a:rPr lang="en-IN" dirty="0">
                <a:latin typeface="Arial" panose="020B0604020202020204" pitchFamily="34" charset="0"/>
                <a:cs typeface="Arial" panose="020B0604020202020204" pitchFamily="34" charset="0"/>
              </a:rPr>
              <a:t> contribute nearly three times the revenue of </a:t>
            </a:r>
            <a:r>
              <a:rPr lang="en-IN" b="1" dirty="0">
                <a:latin typeface="Arial" panose="020B0604020202020204" pitchFamily="34" charset="0"/>
                <a:cs typeface="Arial" panose="020B0604020202020204" pitchFamily="34" charset="0"/>
              </a:rPr>
              <a:t>Gold customers</a:t>
            </a:r>
            <a:r>
              <a:rPr lang="en-IN" dirty="0">
                <a:latin typeface="Arial" panose="020B0604020202020204" pitchFamily="34" charset="0"/>
                <a:cs typeface="Arial" panose="020B0604020202020204" pitchFamily="34" charset="0"/>
              </a:rPr>
              <a:t>, demonstrating the importance of high-value customer segments.</a:t>
            </a:r>
          </a:p>
          <a:p>
            <a:endParaRPr lang="en-IN" b="1"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3. How many orders does each customer place on an Average?</a:t>
            </a:r>
          </a:p>
          <a:p>
            <a:r>
              <a:rPr lang="en-IN" b="1" dirty="0">
                <a:latin typeface="Arial" panose="020B0604020202020204" pitchFamily="34" charset="0"/>
                <a:cs typeface="Arial" panose="020B0604020202020204" pitchFamily="34" charset="0"/>
              </a:rPr>
              <a:t>A. </a:t>
            </a:r>
            <a:r>
              <a:rPr lang="en-IN" dirty="0">
                <a:latin typeface="Arial" panose="020B0604020202020204" pitchFamily="34" charset="0"/>
                <a:cs typeface="Arial" panose="020B0604020202020204" pitchFamily="34" charset="0"/>
              </a:rPr>
              <a:t>Average revenue per customer is approximately </a:t>
            </a:r>
            <a:r>
              <a:rPr lang="en-IN" b="1" dirty="0">
                <a:latin typeface="Arial" panose="020B0604020202020204" pitchFamily="34" charset="0"/>
                <a:cs typeface="Arial" panose="020B0604020202020204" pitchFamily="34" charset="0"/>
              </a:rPr>
              <a:t>713.97</a:t>
            </a:r>
            <a:r>
              <a:rPr lang="en-IN" dirty="0">
                <a:latin typeface="Arial" panose="020B0604020202020204" pitchFamily="34" charset="0"/>
                <a:cs typeface="Arial" panose="020B0604020202020204" pitchFamily="34" charset="0"/>
              </a:rPr>
              <a:t>, showing a relatively high spend per customer in the available dataset.</a:t>
            </a:r>
            <a:endParaRPr lang="en-IN" b="1" dirty="0">
              <a:latin typeface="Arial" panose="020B0604020202020204" pitchFamily="34" charset="0"/>
              <a:cs typeface="Arial" panose="020B0604020202020204" pitchFamily="34" charset="0"/>
            </a:endParaRPr>
          </a:p>
          <a:p>
            <a:endParaRPr lang="en-IN" b="1" dirty="0">
              <a:latin typeface="Arial" panose="020B0604020202020204" pitchFamily="34" charset="0"/>
              <a:cs typeface="Arial" panose="020B0604020202020204" pitchFamily="34" charset="0"/>
            </a:endParaRPr>
          </a:p>
          <a:p>
            <a:endParaRPr lang="en-IN" dirty="0"/>
          </a:p>
        </p:txBody>
      </p:sp>
      <p:sp>
        <p:nvSpPr>
          <p:cNvPr id="3" name="TextBox 2">
            <a:extLst>
              <a:ext uri="{FF2B5EF4-FFF2-40B4-BE49-F238E27FC236}">
                <a16:creationId xmlns:a16="http://schemas.microsoft.com/office/drawing/2014/main" id="{85472744-A94A-C560-059D-400CF1C0AB35}"/>
              </a:ext>
            </a:extLst>
          </p:cNvPr>
          <p:cNvSpPr txBox="1"/>
          <p:nvPr/>
        </p:nvSpPr>
        <p:spPr>
          <a:xfrm>
            <a:off x="1856014" y="185057"/>
            <a:ext cx="8479971" cy="584775"/>
          </a:xfrm>
          <a:prstGeom prst="rect">
            <a:avLst/>
          </a:prstGeom>
          <a:noFill/>
        </p:spPr>
        <p:txBody>
          <a:bodyPr wrap="square" rtlCol="0">
            <a:spAutoFit/>
          </a:bodyPr>
          <a:lstStyle/>
          <a:p>
            <a:pPr algn="ctr"/>
            <a:r>
              <a:rPr lang="en-IN" sz="3200" b="1" dirty="0">
                <a:solidFill>
                  <a:schemeClr val="accent2"/>
                </a:solidFill>
                <a:latin typeface="Arial" panose="020B0604020202020204" pitchFamily="34" charset="0"/>
                <a:cs typeface="Arial" panose="020B0604020202020204" pitchFamily="34" charset="0"/>
              </a:rPr>
              <a:t>Customer Insights &amp; Segmentation</a:t>
            </a:r>
          </a:p>
        </p:txBody>
      </p:sp>
      <p:sp>
        <p:nvSpPr>
          <p:cNvPr id="4" name="TextBox 3">
            <a:extLst>
              <a:ext uri="{FF2B5EF4-FFF2-40B4-BE49-F238E27FC236}">
                <a16:creationId xmlns:a16="http://schemas.microsoft.com/office/drawing/2014/main" id="{2CC109A0-AABF-7382-858C-8836CC573F0C}"/>
              </a:ext>
            </a:extLst>
          </p:cNvPr>
          <p:cNvSpPr txBox="1"/>
          <p:nvPr/>
        </p:nvSpPr>
        <p:spPr>
          <a:xfrm>
            <a:off x="5758543" y="1219199"/>
            <a:ext cx="5758544" cy="3139321"/>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4. </a:t>
            </a:r>
            <a:r>
              <a:rPr lang="en-US" b="1" dirty="0">
                <a:latin typeface="Arial" panose="020B0604020202020204" pitchFamily="34" charset="0"/>
                <a:cs typeface="Arial" panose="020B0604020202020204" pitchFamily="34" charset="0"/>
              </a:rPr>
              <a:t>What is the distribution of new vs. returning customers?</a:t>
            </a:r>
          </a:p>
          <a:p>
            <a:pPr marL="342900" indent="-342900">
              <a:buAutoNum type="alphaUcPeriod"/>
            </a:pPr>
            <a:r>
              <a:rPr lang="en-IN" dirty="0">
                <a:latin typeface="Arial" panose="020B0604020202020204" pitchFamily="34" charset="0"/>
                <a:cs typeface="Arial" panose="020B0604020202020204" pitchFamily="34" charset="0"/>
              </a:rPr>
              <a:t>The customer base is largely composed of </a:t>
            </a:r>
            <a:r>
              <a:rPr lang="en-IN" b="1" dirty="0">
                <a:latin typeface="Arial" panose="020B0604020202020204" pitchFamily="34" charset="0"/>
                <a:cs typeface="Arial" panose="020B0604020202020204" pitchFamily="34" charset="0"/>
              </a:rPr>
              <a:t>new customers (66.7%)</a:t>
            </a:r>
            <a:r>
              <a:rPr lang="en-IN" dirty="0">
                <a:latin typeface="Arial" panose="020B0604020202020204" pitchFamily="34" charset="0"/>
                <a:cs typeface="Arial" panose="020B0604020202020204" pitchFamily="34" charset="0"/>
              </a:rPr>
              <a:t>, while </a:t>
            </a:r>
            <a:r>
              <a:rPr lang="en-IN" b="1" dirty="0">
                <a:latin typeface="Arial" panose="020B0604020202020204" pitchFamily="34" charset="0"/>
                <a:cs typeface="Arial" panose="020B0604020202020204" pitchFamily="34" charset="0"/>
              </a:rPr>
              <a:t>returning customers account for 33.3%</a:t>
            </a:r>
            <a:r>
              <a:rPr lang="en-IN" dirty="0">
                <a:latin typeface="Arial" panose="020B0604020202020204" pitchFamily="34" charset="0"/>
                <a:cs typeface="Arial" panose="020B0604020202020204" pitchFamily="34" charset="0"/>
              </a:rPr>
              <a:t>, indicating opportunities to strengthen customer loyalty.</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5. </a:t>
            </a:r>
            <a:r>
              <a:rPr lang="en-US" b="1" dirty="0">
                <a:latin typeface="Arial" panose="020B0604020202020204" pitchFamily="34" charset="0"/>
                <a:cs typeface="Arial" panose="020B0604020202020204" pitchFamily="34" charset="0"/>
              </a:rPr>
              <a:t>Who are the top spending customers?</a:t>
            </a:r>
          </a:p>
          <a:p>
            <a:r>
              <a:rPr lang="en-US" b="1" dirty="0">
                <a:latin typeface="Arial" panose="020B0604020202020204" pitchFamily="34" charset="0"/>
                <a:cs typeface="Arial" panose="020B0604020202020204" pitchFamily="34" charset="0"/>
              </a:rPr>
              <a:t>A</a:t>
            </a:r>
            <a:r>
              <a:rPr lang="en-US"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A small number of customers generate the majority of revenue, suggesting a concentrated customer value distribution.</a:t>
            </a:r>
          </a:p>
        </p:txBody>
      </p:sp>
    </p:spTree>
    <p:extLst>
      <p:ext uri="{BB962C8B-B14F-4D97-AF65-F5344CB8AC3E}">
        <p14:creationId xmlns:p14="http://schemas.microsoft.com/office/powerpoint/2010/main" val="2815578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84FB8D-912A-5BA5-1313-21383B103486}"/>
              </a:ext>
            </a:extLst>
          </p:cNvPr>
          <p:cNvPicPr>
            <a:picLocks noChangeAspect="1"/>
          </p:cNvPicPr>
          <p:nvPr/>
        </p:nvPicPr>
        <p:blipFill>
          <a:blip r:embed="rId2"/>
          <a:stretch>
            <a:fillRect/>
          </a:stretch>
        </p:blipFill>
        <p:spPr>
          <a:xfrm>
            <a:off x="521685" y="224726"/>
            <a:ext cx="10973630" cy="6207839"/>
          </a:xfrm>
          <a:prstGeom prst="rect">
            <a:avLst/>
          </a:prstGeom>
        </p:spPr>
      </p:pic>
    </p:spTree>
    <p:extLst>
      <p:ext uri="{BB962C8B-B14F-4D97-AF65-F5344CB8AC3E}">
        <p14:creationId xmlns:p14="http://schemas.microsoft.com/office/powerpoint/2010/main" val="4104031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A3F235-B622-DCC1-EF47-FB3253673458}"/>
              </a:ext>
            </a:extLst>
          </p:cNvPr>
          <p:cNvSpPr txBox="1"/>
          <p:nvPr/>
        </p:nvSpPr>
        <p:spPr>
          <a:xfrm>
            <a:off x="1364642" y="217714"/>
            <a:ext cx="8062335" cy="523220"/>
          </a:xfrm>
          <a:prstGeom prst="rect">
            <a:avLst/>
          </a:prstGeom>
          <a:noFill/>
        </p:spPr>
        <p:txBody>
          <a:bodyPr wrap="none" rtlCol="0">
            <a:spAutoFit/>
          </a:bodyPr>
          <a:lstStyle/>
          <a:p>
            <a:pPr algn="ctr"/>
            <a:r>
              <a:rPr lang="en-US" sz="2800" b="1" dirty="0">
                <a:solidFill>
                  <a:schemeClr val="accent2"/>
                </a:solidFill>
                <a:latin typeface="Arial" panose="020B0604020202020204" pitchFamily="34" charset="0"/>
                <a:cs typeface="Arial" panose="020B0604020202020204" pitchFamily="34" charset="0"/>
              </a:rPr>
              <a:t>Customer Retention &amp; Lifetime Value Analysis</a:t>
            </a:r>
            <a:endParaRPr lang="en-IN" sz="2800" b="1" dirty="0">
              <a:solidFill>
                <a:schemeClr val="accent2"/>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2E5CE8B-999A-C875-13E5-979DB9390796}"/>
              </a:ext>
            </a:extLst>
          </p:cNvPr>
          <p:cNvSpPr txBox="1"/>
          <p:nvPr/>
        </p:nvSpPr>
        <p:spPr>
          <a:xfrm>
            <a:off x="370115" y="740934"/>
            <a:ext cx="10809514" cy="5078313"/>
          </a:xfrm>
          <a:prstGeom prst="rect">
            <a:avLst/>
          </a:prstGeom>
          <a:noFill/>
        </p:spPr>
        <p:txBody>
          <a:bodyPr wrap="square" rtlCol="0">
            <a:spAutoFit/>
          </a:bodyPr>
          <a:lstStyle/>
          <a:p>
            <a:pPr marL="342900" indent="-342900">
              <a:buAutoNum type="arabicPeriod"/>
            </a:pPr>
            <a:r>
              <a:rPr lang="en-IN" b="1" dirty="0">
                <a:latin typeface="Arial" panose="020B0604020202020204" pitchFamily="34" charset="0"/>
                <a:cs typeface="Arial" panose="020B0604020202020204" pitchFamily="34" charset="0"/>
              </a:rPr>
              <a:t>KPI’s: </a:t>
            </a:r>
          </a:p>
          <a:p>
            <a:r>
              <a:rPr lang="en-IN" dirty="0">
                <a:latin typeface="Arial" panose="020B0604020202020204" pitchFamily="34" charset="0"/>
                <a:cs typeface="Arial" panose="020B0604020202020204" pitchFamily="34" charset="0"/>
              </a:rPr>
              <a:t>Purchase Frequency : 1.00</a:t>
            </a:r>
          </a:p>
          <a:p>
            <a:r>
              <a:rPr lang="en-IN" dirty="0">
                <a:latin typeface="Arial" panose="020B0604020202020204" pitchFamily="34" charset="0"/>
                <a:cs typeface="Arial" panose="020B0604020202020204" pitchFamily="34" charset="0"/>
              </a:rPr>
              <a:t>Average Order Value :713.97</a:t>
            </a:r>
          </a:p>
          <a:p>
            <a:r>
              <a:rPr lang="en-IN" dirty="0">
                <a:latin typeface="Arial" panose="020B0604020202020204" pitchFamily="34" charset="0"/>
                <a:cs typeface="Arial" panose="020B0604020202020204" pitchFamily="34" charset="0"/>
              </a:rPr>
              <a:t>Cohort Retention Rate : 0.14%</a:t>
            </a:r>
          </a:p>
          <a:p>
            <a:r>
              <a:rPr lang="en-IN" dirty="0">
                <a:latin typeface="Arial" panose="020B0604020202020204" pitchFamily="34" charset="0"/>
                <a:cs typeface="Arial" panose="020B0604020202020204" pitchFamily="34" charset="0"/>
              </a:rPr>
              <a:t>Average Days to Second Purchase : 1.00 </a:t>
            </a:r>
          </a:p>
          <a:p>
            <a:r>
              <a:rPr lang="en-IN" dirty="0">
                <a:latin typeface="Arial" panose="020B0604020202020204" pitchFamily="34" charset="0"/>
                <a:cs typeface="Arial" panose="020B0604020202020204" pitchFamily="34" charset="0"/>
              </a:rPr>
              <a:t>Estimated CLV: 713.97</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2. How frequently do customers purchase?</a:t>
            </a:r>
          </a:p>
          <a:p>
            <a:r>
              <a:rPr lang="en-IN" dirty="0">
                <a:latin typeface="Arial" panose="020B0604020202020204" pitchFamily="34" charset="0"/>
                <a:cs typeface="Arial" panose="020B0604020202020204" pitchFamily="34" charset="0"/>
              </a:rPr>
              <a:t>A. The average purchase frequency is </a:t>
            </a:r>
            <a:r>
              <a:rPr lang="en-IN" b="1" dirty="0">
                <a:latin typeface="Arial" panose="020B0604020202020204" pitchFamily="34" charset="0"/>
                <a:cs typeface="Arial" panose="020B0604020202020204" pitchFamily="34" charset="0"/>
              </a:rPr>
              <a:t>1 order per customer</a:t>
            </a:r>
            <a:r>
              <a:rPr lang="en-IN" dirty="0">
                <a:latin typeface="Arial" panose="020B0604020202020204" pitchFamily="34" charset="0"/>
                <a:cs typeface="Arial" panose="020B0604020202020204" pitchFamily="34" charset="0"/>
              </a:rPr>
              <a:t>, indicating that most customers have made only a single purchase during the analysis period.</a:t>
            </a:r>
          </a:p>
          <a:p>
            <a:pPr marL="342900" indent="-342900">
              <a:buAutoNum type="arabicPeriod"/>
            </a:pP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3. How long does it take customers to make a second purchase?</a:t>
            </a:r>
          </a:p>
          <a:p>
            <a:pPr marL="342900" indent="-342900">
              <a:buAutoNum type="alphaUcPeriod"/>
            </a:pPr>
            <a:r>
              <a:rPr lang="en-IN" dirty="0">
                <a:latin typeface="Arial" panose="020B0604020202020204" pitchFamily="34" charset="0"/>
                <a:cs typeface="Arial" panose="020B0604020202020204" pitchFamily="34" charset="0"/>
              </a:rPr>
              <a:t>Customers who return tend to make their second purchase very quickly (approximately </a:t>
            </a:r>
            <a:r>
              <a:rPr lang="en-IN" b="1" dirty="0">
                <a:latin typeface="Arial" panose="020B0604020202020204" pitchFamily="34" charset="0"/>
                <a:cs typeface="Arial" panose="020B0604020202020204" pitchFamily="34" charset="0"/>
              </a:rPr>
              <a:t>1 day</a:t>
            </a:r>
            <a:r>
              <a:rPr lang="en-IN" dirty="0">
                <a:latin typeface="Arial" panose="020B0604020202020204" pitchFamily="34" charset="0"/>
                <a:cs typeface="Arial" panose="020B0604020202020204" pitchFamily="34" charset="0"/>
              </a:rPr>
              <a:t> on average), but the number of repeat customers is limited.</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4. </a:t>
            </a:r>
            <a:r>
              <a:rPr lang="en-US" b="1" dirty="0">
                <a:latin typeface="Arial" panose="020B0604020202020204" pitchFamily="34" charset="0"/>
                <a:cs typeface="Arial" panose="020B0604020202020204" pitchFamily="34" charset="0"/>
              </a:rPr>
              <a:t>Which customers have the highest Customer Lifetime Value (CLV)?</a:t>
            </a:r>
          </a:p>
          <a:p>
            <a:r>
              <a:rPr lang="en-US" dirty="0">
                <a:latin typeface="Arial" panose="020B0604020202020204" pitchFamily="34" charset="0"/>
                <a:cs typeface="Arial" panose="020B0604020202020204" pitchFamily="34" charset="0"/>
              </a:rPr>
              <a:t>A. </a:t>
            </a:r>
            <a:r>
              <a:rPr lang="en-IN" dirty="0">
                <a:latin typeface="Arial" panose="020B0604020202020204" pitchFamily="34" charset="0"/>
                <a:cs typeface="Arial" panose="020B0604020202020204" pitchFamily="34" charset="0"/>
              </a:rPr>
              <a:t>Customer Lifetime Value (CLV) analysis identifies a small group of high-value customers who contribute a disproportionate share of total revenue.</a:t>
            </a:r>
          </a:p>
        </p:txBody>
      </p:sp>
      <p:sp>
        <p:nvSpPr>
          <p:cNvPr id="4" name="TextBox 3">
            <a:extLst>
              <a:ext uri="{FF2B5EF4-FFF2-40B4-BE49-F238E27FC236}">
                <a16:creationId xmlns:a16="http://schemas.microsoft.com/office/drawing/2014/main" id="{439AE608-B93D-3F9C-BB7F-AD555681F240}"/>
              </a:ext>
            </a:extLst>
          </p:cNvPr>
          <p:cNvSpPr txBox="1"/>
          <p:nvPr/>
        </p:nvSpPr>
        <p:spPr>
          <a:xfrm>
            <a:off x="370115" y="5793900"/>
            <a:ext cx="11898085" cy="646331"/>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5. How well are customers retained?</a:t>
            </a:r>
          </a:p>
          <a:p>
            <a:r>
              <a:rPr lang="en-IN" dirty="0"/>
              <a:t>A. The </a:t>
            </a:r>
            <a:r>
              <a:rPr lang="en-IN" b="1" dirty="0"/>
              <a:t>cohort retention rate of 0.14%</a:t>
            </a:r>
            <a:r>
              <a:rPr lang="en-IN" dirty="0"/>
              <a:t> highlights weak long-term customer retention.</a:t>
            </a:r>
          </a:p>
        </p:txBody>
      </p:sp>
    </p:spTree>
    <p:extLst>
      <p:ext uri="{BB962C8B-B14F-4D97-AF65-F5344CB8AC3E}">
        <p14:creationId xmlns:p14="http://schemas.microsoft.com/office/powerpoint/2010/main" val="235000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E4636C-1063-0A80-15DE-167F194919D0}"/>
              </a:ext>
            </a:extLst>
          </p:cNvPr>
          <p:cNvSpPr txBox="1"/>
          <p:nvPr/>
        </p:nvSpPr>
        <p:spPr>
          <a:xfrm>
            <a:off x="293915" y="228001"/>
            <a:ext cx="9514114" cy="7048083"/>
          </a:xfrm>
          <a:prstGeom prst="rect">
            <a:avLst/>
          </a:prstGeom>
          <a:noFill/>
        </p:spPr>
        <p:txBody>
          <a:bodyPr wrap="square">
            <a:spAutoFit/>
          </a:bodyPr>
          <a:lstStyle/>
          <a:p>
            <a:pPr algn="ctr"/>
            <a:r>
              <a:rPr lang="en-IN" sz="2000" b="1" dirty="0">
                <a:solidFill>
                  <a:schemeClr val="accent2"/>
                </a:solidFill>
                <a:latin typeface="Arial" panose="020B0604020202020204" pitchFamily="34" charset="0"/>
                <a:cs typeface="Arial" panose="020B0604020202020204" pitchFamily="34" charset="0"/>
              </a:rPr>
              <a:t>Business Investigation and Recommendation</a:t>
            </a:r>
          </a:p>
          <a:p>
            <a:pPr algn="ctr"/>
            <a:endParaRPr lang="en-IN" sz="1600" b="1" dirty="0">
              <a:solidFill>
                <a:schemeClr val="accent2"/>
              </a:solidFill>
              <a:latin typeface="Arial" panose="020B0604020202020204" pitchFamily="34" charset="0"/>
              <a:cs typeface="Arial" panose="020B0604020202020204" pitchFamily="34" charset="0"/>
            </a:endParaRPr>
          </a:p>
          <a:p>
            <a:pPr marL="342900" indent="-342900">
              <a:buAutoNum type="arabicPeriod"/>
            </a:pPr>
            <a:r>
              <a:rPr lang="en-IN" sz="1200" b="1" dirty="0">
                <a:latin typeface="Arial" panose="020B0604020202020204" pitchFamily="34" charset="0"/>
                <a:cs typeface="Arial" panose="020B0604020202020204" pitchFamily="34" charset="0"/>
              </a:rPr>
              <a:t>Business Investigation by City:</a:t>
            </a:r>
            <a:r>
              <a:rPr lang="en-IN" sz="1200" dirty="0">
                <a:latin typeface="Arial" panose="020B0604020202020204" pitchFamily="34" charset="0"/>
                <a:cs typeface="Arial" panose="020B0604020202020204" pitchFamily="34" charset="0"/>
              </a:rPr>
              <a:t> Revenue by City</a:t>
            </a:r>
            <a:br>
              <a:rPr lang="en-IN" sz="1200" dirty="0">
                <a:latin typeface="Arial" panose="020B0604020202020204" pitchFamily="34" charset="0"/>
                <a:cs typeface="Arial" panose="020B0604020202020204" pitchFamily="34" charset="0"/>
              </a:rPr>
            </a:br>
            <a:r>
              <a:rPr lang="en-IN" sz="1200" dirty="0">
                <a:latin typeface="Arial" panose="020B0604020202020204" pitchFamily="34" charset="0"/>
                <a:cs typeface="Arial" panose="020B0604020202020204" pitchFamily="34" charset="0"/>
              </a:rPr>
              <a:t> Identified </a:t>
            </a:r>
            <a:r>
              <a:rPr lang="en-IN" sz="1200" b="1" dirty="0">
                <a:latin typeface="Arial" panose="020B0604020202020204" pitchFamily="34" charset="0"/>
                <a:cs typeface="Arial" panose="020B0604020202020204" pitchFamily="34" charset="0"/>
              </a:rPr>
              <a:t>highest-revenue city</a:t>
            </a:r>
            <a:r>
              <a:rPr lang="en-IN" sz="1200" dirty="0">
                <a:latin typeface="Arial" panose="020B0604020202020204" pitchFamily="34" charset="0"/>
                <a:cs typeface="Arial" panose="020B0604020202020204" pitchFamily="34" charset="0"/>
              </a:rPr>
              <a:t> and </a:t>
            </a:r>
            <a:r>
              <a:rPr lang="en-IN" sz="1200" b="1" dirty="0">
                <a:latin typeface="Arial" panose="020B0604020202020204" pitchFamily="34" charset="0"/>
                <a:cs typeface="Arial" panose="020B0604020202020204" pitchFamily="34" charset="0"/>
              </a:rPr>
              <a:t>lowest-revenue city</a:t>
            </a:r>
            <a:r>
              <a:rPr lang="en-IN" sz="1200" dirty="0">
                <a:latin typeface="Arial" panose="020B0604020202020204" pitchFamily="34" charset="0"/>
                <a:cs typeface="Arial" panose="020B0604020202020204" pitchFamily="34" charset="0"/>
              </a:rPr>
              <a:t> </a:t>
            </a:r>
          </a:p>
          <a:p>
            <a:endParaRPr lang="en-IN" sz="1200" dirty="0">
              <a:latin typeface="Arial" panose="020B0604020202020204" pitchFamily="34" charset="0"/>
              <a:cs typeface="Arial" panose="020B0604020202020204" pitchFamily="34" charset="0"/>
            </a:endParaRPr>
          </a:p>
          <a:p>
            <a:r>
              <a:rPr lang="en-IN" sz="1200" b="1" dirty="0">
                <a:latin typeface="Arial" panose="020B0604020202020204" pitchFamily="34" charset="0"/>
                <a:cs typeface="Arial" panose="020B0604020202020204" pitchFamily="34" charset="0"/>
              </a:rPr>
              <a:t>Highest-Revenue-City Insight:</a:t>
            </a:r>
          </a:p>
          <a:p>
            <a:r>
              <a:rPr lang="en-IN" sz="1200" b="1" dirty="0">
                <a:latin typeface="Arial" panose="020B0604020202020204" pitchFamily="34" charset="0"/>
                <a:cs typeface="Arial" panose="020B0604020202020204" pitchFamily="34" charset="0"/>
              </a:rPr>
              <a:t>Finding:</a:t>
            </a:r>
            <a:r>
              <a:rPr lang="en-IN" sz="1200" dirty="0">
                <a:latin typeface="Arial" panose="020B0604020202020204" pitchFamily="34" charset="0"/>
                <a:cs typeface="Arial" panose="020B0604020202020204" pitchFamily="34" charset="0"/>
              </a:rPr>
              <a:t> Total revenue is </a:t>
            </a:r>
            <a:r>
              <a:rPr lang="en-IN" sz="1200" b="1" dirty="0">
                <a:latin typeface="Arial" panose="020B0604020202020204" pitchFamily="34" charset="0"/>
                <a:cs typeface="Arial" panose="020B0604020202020204" pitchFamily="34" charset="0"/>
              </a:rPr>
              <a:t>132.30K</a:t>
            </a:r>
            <a:r>
              <a:rPr lang="en-IN" sz="1200" dirty="0">
                <a:latin typeface="Arial" panose="020B0604020202020204" pitchFamily="34" charset="0"/>
                <a:cs typeface="Arial" panose="020B0604020202020204" pitchFamily="34" charset="0"/>
              </a:rPr>
              <a:t> from </a:t>
            </a:r>
            <a:r>
              <a:rPr lang="en-IN" sz="1200" b="1" dirty="0">
                <a:latin typeface="Arial" panose="020B0604020202020204" pitchFamily="34" charset="0"/>
                <a:cs typeface="Arial" panose="020B0604020202020204" pitchFamily="34" charset="0"/>
              </a:rPr>
              <a:t>212 customers and 217 orders</a:t>
            </a:r>
            <a:r>
              <a:rPr lang="en-IN" sz="1200" dirty="0">
                <a:latin typeface="Arial" panose="020B0604020202020204" pitchFamily="34" charset="0"/>
                <a:cs typeface="Arial" panose="020B0604020202020204" pitchFamily="34" charset="0"/>
              </a:rPr>
              <a:t>; Washington is the highest-revenue city, while New Customers generate more revenue than Returning Customers.</a:t>
            </a:r>
          </a:p>
          <a:p>
            <a:r>
              <a:rPr lang="en-IN" sz="1200" b="1" dirty="0">
                <a:latin typeface="Arial" panose="020B0604020202020204" pitchFamily="34" charset="0"/>
                <a:cs typeface="Arial" panose="020B0604020202020204" pitchFamily="34" charset="0"/>
              </a:rPr>
              <a:t>Comparison:</a:t>
            </a:r>
            <a:r>
              <a:rPr lang="en-IN" sz="1200" dirty="0">
                <a:latin typeface="Arial" panose="020B0604020202020204" pitchFamily="34" charset="0"/>
                <a:cs typeface="Arial" panose="020B0604020202020204" pitchFamily="34" charset="0"/>
              </a:rPr>
              <a:t> New-customer revenue is higher than returning-customer revenue, and overall purchase frequency is </a:t>
            </a:r>
            <a:r>
              <a:rPr lang="en-IN" sz="1200" b="1" dirty="0">
                <a:latin typeface="Arial" panose="020B0604020202020204" pitchFamily="34" charset="0"/>
                <a:cs typeface="Arial" panose="020B0604020202020204" pitchFamily="34" charset="0"/>
              </a:rPr>
              <a:t>1.02 orders per customer</a:t>
            </a:r>
            <a:r>
              <a:rPr lang="en-IN" sz="1200" dirty="0">
                <a:latin typeface="Arial" panose="020B0604020202020204" pitchFamily="34" charset="0"/>
                <a:cs typeface="Arial" panose="020B0604020202020204" pitchFamily="34" charset="0"/>
              </a:rPr>
              <a:t>, indicating limited repeat purchasing in the observed dataset.</a:t>
            </a:r>
          </a:p>
          <a:p>
            <a:r>
              <a:rPr lang="en-IN" sz="1200" b="1" dirty="0">
                <a:latin typeface="Arial" panose="020B0604020202020204" pitchFamily="34" charset="0"/>
                <a:cs typeface="Arial" panose="020B0604020202020204" pitchFamily="34" charset="0"/>
              </a:rPr>
              <a:t>Driver:</a:t>
            </a:r>
            <a:r>
              <a:rPr lang="en-IN" sz="1200" dirty="0">
                <a:latin typeface="Arial" panose="020B0604020202020204" pitchFamily="34" charset="0"/>
                <a:cs typeface="Arial" panose="020B0604020202020204" pitchFamily="34" charset="0"/>
              </a:rPr>
              <a:t> The low purchase frequency suggests that </a:t>
            </a:r>
            <a:r>
              <a:rPr lang="en-IN" sz="1200" b="1" dirty="0">
                <a:latin typeface="Arial" panose="020B0604020202020204" pitchFamily="34" charset="0"/>
                <a:cs typeface="Arial" panose="020B0604020202020204" pitchFamily="34" charset="0"/>
              </a:rPr>
              <a:t>repeat orders are limited</a:t>
            </a:r>
            <a:r>
              <a:rPr lang="en-IN" sz="1200" dirty="0">
                <a:latin typeface="Arial" panose="020B0604020202020204" pitchFamily="34" charset="0"/>
                <a:cs typeface="Arial" panose="020B0604020202020204" pitchFamily="34" charset="0"/>
              </a:rPr>
              <a:t>, so customer acquisition currently contributes more revenue than repeat purchasing.</a:t>
            </a:r>
          </a:p>
          <a:p>
            <a:r>
              <a:rPr lang="en-IN" sz="1200" b="1" dirty="0">
                <a:latin typeface="Arial" panose="020B0604020202020204" pitchFamily="34" charset="0"/>
                <a:cs typeface="Arial" panose="020B0604020202020204" pitchFamily="34" charset="0"/>
              </a:rPr>
              <a:t>Insight:</a:t>
            </a:r>
            <a:r>
              <a:rPr lang="en-IN" sz="1200" dirty="0">
                <a:latin typeface="Arial" panose="020B0604020202020204" pitchFamily="34" charset="0"/>
                <a:cs typeface="Arial" panose="020B0604020202020204" pitchFamily="34" charset="0"/>
              </a:rPr>
              <a:t> The business appears to rely more on </a:t>
            </a:r>
            <a:r>
              <a:rPr lang="en-IN" sz="1200" b="1" dirty="0">
                <a:latin typeface="Arial" panose="020B0604020202020204" pitchFamily="34" charset="0"/>
                <a:cs typeface="Arial" panose="020B0604020202020204" pitchFamily="34" charset="0"/>
              </a:rPr>
              <a:t>acquiring new customers than generating repeat orders</a:t>
            </a:r>
            <a:r>
              <a:rPr lang="en-IN" sz="1200" dirty="0">
                <a:latin typeface="Arial" panose="020B0604020202020204" pitchFamily="34" charset="0"/>
                <a:cs typeface="Arial" panose="020B0604020202020204" pitchFamily="34" charset="0"/>
              </a:rPr>
              <a:t>, creating an opportunity to improve second-purchase conversion and customer value.</a:t>
            </a:r>
          </a:p>
          <a:p>
            <a:r>
              <a:rPr lang="en-IN" sz="1200" b="1" dirty="0">
                <a:latin typeface="Arial" panose="020B0604020202020204" pitchFamily="34" charset="0"/>
                <a:cs typeface="Arial" panose="020B0604020202020204" pitchFamily="34" charset="0"/>
              </a:rPr>
              <a:t>Recommendation:</a:t>
            </a:r>
            <a:r>
              <a:rPr lang="en-IN" sz="1200" dirty="0">
                <a:latin typeface="Arial" panose="020B0604020202020204" pitchFamily="34" charset="0"/>
                <a:cs typeface="Arial" panose="020B0604020202020204" pitchFamily="34" charset="0"/>
              </a:rPr>
              <a:t> Focus post-purchase retention campaigns on first-time customers and prioritize high-value customer segments/products for repeat-purchase offers.</a:t>
            </a:r>
          </a:p>
          <a:p>
            <a:r>
              <a:rPr lang="en-IN" sz="1200" b="1" dirty="0">
                <a:latin typeface="Arial" panose="020B0604020202020204" pitchFamily="34" charset="0"/>
                <a:cs typeface="Arial" panose="020B0604020202020204" pitchFamily="34" charset="0"/>
              </a:rPr>
              <a:t>KPI to monitor:</a:t>
            </a:r>
            <a:r>
              <a:rPr lang="en-IN" sz="1200" dirty="0">
                <a:latin typeface="Arial" panose="020B0604020202020204" pitchFamily="34" charset="0"/>
                <a:cs typeface="Arial" panose="020B0604020202020204" pitchFamily="34" charset="0"/>
              </a:rPr>
              <a:t> </a:t>
            </a:r>
            <a:r>
              <a:rPr lang="en-IN" sz="1200" b="1" dirty="0">
                <a:latin typeface="Arial" panose="020B0604020202020204" pitchFamily="34" charset="0"/>
                <a:cs typeface="Arial" panose="020B0604020202020204" pitchFamily="34" charset="0"/>
              </a:rPr>
              <a:t>Second Purchase Rate, Purchase Frequency, Average Days to Second Purchase, Returning Customer Revenue, and Revenue per Customer.</a:t>
            </a:r>
          </a:p>
          <a:p>
            <a:endParaRPr lang="en-IN" sz="1200" b="1" dirty="0">
              <a:latin typeface="Arial" panose="020B0604020202020204" pitchFamily="34" charset="0"/>
              <a:cs typeface="Arial" panose="020B0604020202020204" pitchFamily="34" charset="0"/>
            </a:endParaRPr>
          </a:p>
          <a:p>
            <a:r>
              <a:rPr lang="en-IN" sz="1200" b="1" dirty="0">
                <a:latin typeface="Arial" panose="020B0604020202020204" pitchFamily="34" charset="0"/>
                <a:cs typeface="Arial" panose="020B0604020202020204" pitchFamily="34" charset="0"/>
              </a:rPr>
              <a:t>Lowest-Revenue-City Insight:</a:t>
            </a:r>
          </a:p>
          <a:p>
            <a:r>
              <a:rPr lang="en-IN" sz="1200" b="1" dirty="0">
                <a:latin typeface="Arial" panose="020B0604020202020204" pitchFamily="34" charset="0"/>
                <a:cs typeface="Arial" panose="020B0604020202020204" pitchFamily="34" charset="0"/>
              </a:rPr>
              <a:t>Finding:</a:t>
            </a:r>
            <a:r>
              <a:rPr lang="en-IN" sz="1200" dirty="0">
                <a:latin typeface="Arial" panose="020B0604020202020204" pitchFamily="34" charset="0"/>
                <a:cs typeface="Arial" panose="020B0604020202020204" pitchFamily="34" charset="0"/>
              </a:rPr>
              <a:t> Staten Island generated </a:t>
            </a:r>
            <a:r>
              <a:rPr lang="en-IN" sz="1200" b="1" dirty="0">
                <a:latin typeface="Arial" panose="020B0604020202020204" pitchFamily="34" charset="0"/>
                <a:cs typeface="Arial" panose="020B0604020202020204" pitchFamily="34" charset="0"/>
              </a:rPr>
              <a:t>546.84 revenue from 1 customer and 1 order</a:t>
            </a:r>
            <a:r>
              <a:rPr lang="en-IN" sz="1200" dirty="0">
                <a:latin typeface="Arial" panose="020B0604020202020204" pitchFamily="34" charset="0"/>
                <a:cs typeface="Arial" panose="020B0604020202020204" pitchFamily="34" charset="0"/>
              </a:rPr>
              <a:t>, with an AOV of </a:t>
            </a:r>
            <a:r>
              <a:rPr lang="en-IN" sz="1200" b="1" dirty="0">
                <a:latin typeface="Arial" panose="020B0604020202020204" pitchFamily="34" charset="0"/>
                <a:cs typeface="Arial" panose="020B0604020202020204" pitchFamily="34" charset="0"/>
              </a:rPr>
              <a:t>546.84</a:t>
            </a:r>
            <a:r>
              <a:rPr lang="en-IN" sz="1200" dirty="0">
                <a:latin typeface="Arial" panose="020B0604020202020204" pitchFamily="34" charset="0"/>
                <a:cs typeface="Arial" panose="020B0604020202020204" pitchFamily="34" charset="0"/>
              </a:rPr>
              <a:t> and purchase frequency of </a:t>
            </a:r>
            <a:r>
              <a:rPr lang="en-IN" sz="1200" b="1" dirty="0">
                <a:latin typeface="Arial" panose="020B0604020202020204" pitchFamily="34" charset="0"/>
                <a:cs typeface="Arial" panose="020B0604020202020204" pitchFamily="34" charset="0"/>
              </a:rPr>
              <a:t>1.00</a:t>
            </a:r>
            <a:r>
              <a:rPr lang="en-IN" sz="1200" dirty="0">
                <a:latin typeface="Arial" panose="020B0604020202020204" pitchFamily="34" charset="0"/>
                <a:cs typeface="Arial" panose="020B0604020202020204" pitchFamily="34" charset="0"/>
              </a:rPr>
              <a:t>.</a:t>
            </a:r>
          </a:p>
          <a:p>
            <a:r>
              <a:rPr lang="en-IN" sz="1200" b="1" dirty="0">
                <a:latin typeface="Arial" panose="020B0604020202020204" pitchFamily="34" charset="0"/>
                <a:cs typeface="Arial" panose="020B0604020202020204" pitchFamily="34" charset="0"/>
              </a:rPr>
              <a:t>Comparison:</a:t>
            </a:r>
            <a:r>
              <a:rPr lang="en-IN" sz="1200" dirty="0">
                <a:latin typeface="Arial" panose="020B0604020202020204" pitchFamily="34" charset="0"/>
                <a:cs typeface="Arial" panose="020B0604020202020204" pitchFamily="34" charset="0"/>
              </a:rPr>
              <a:t> Compared with higher-revenue cities such as Washington, Staten Island has substantially lower revenue and customer/order volume.</a:t>
            </a:r>
          </a:p>
          <a:p>
            <a:r>
              <a:rPr lang="en-IN" sz="1200" b="1" dirty="0">
                <a:latin typeface="Arial" panose="020B0604020202020204" pitchFamily="34" charset="0"/>
                <a:cs typeface="Arial" panose="020B0604020202020204" pitchFamily="34" charset="0"/>
              </a:rPr>
              <a:t>Driver:</a:t>
            </a:r>
            <a:r>
              <a:rPr lang="en-IN" sz="1200" dirty="0">
                <a:latin typeface="Arial" panose="020B0604020202020204" pitchFamily="34" charset="0"/>
                <a:cs typeface="Arial" panose="020B0604020202020204" pitchFamily="34" charset="0"/>
              </a:rPr>
              <a:t> The primary observable driver is the </a:t>
            </a:r>
            <a:r>
              <a:rPr lang="en-IN" sz="1200" b="1" dirty="0">
                <a:latin typeface="Arial" panose="020B0604020202020204" pitchFamily="34" charset="0"/>
                <a:cs typeface="Arial" panose="020B0604020202020204" pitchFamily="34" charset="0"/>
              </a:rPr>
              <a:t>very small customer and order base (1 customer, 1 order)</a:t>
            </a:r>
            <a:r>
              <a:rPr lang="en-IN" sz="1200" dirty="0">
                <a:latin typeface="Arial" panose="020B0604020202020204" pitchFamily="34" charset="0"/>
                <a:cs typeface="Arial" panose="020B0604020202020204" pitchFamily="34" charset="0"/>
              </a:rPr>
              <a:t>; the </a:t>
            </a:r>
            <a:r>
              <a:rPr lang="en-IN" sz="1200" b="1" dirty="0">
                <a:latin typeface="Arial" panose="020B0604020202020204" pitchFamily="34" charset="0"/>
                <a:cs typeface="Arial" panose="020B0604020202020204" pitchFamily="34" charset="0"/>
              </a:rPr>
              <a:t>Second Purchase Rate is 0%</a:t>
            </a:r>
            <a:r>
              <a:rPr lang="en-IN" sz="1200" dirty="0">
                <a:latin typeface="Arial" panose="020B0604020202020204" pitchFamily="34" charset="0"/>
                <a:cs typeface="Arial" panose="020B0604020202020204" pitchFamily="34" charset="0"/>
              </a:rPr>
              <a:t>, confirming no repeat purchase was observed.</a:t>
            </a:r>
          </a:p>
          <a:p>
            <a:r>
              <a:rPr lang="en-IN" sz="1200" b="1" dirty="0">
                <a:latin typeface="Arial" panose="020B0604020202020204" pitchFamily="34" charset="0"/>
                <a:cs typeface="Arial" panose="020B0604020202020204" pitchFamily="34" charset="0"/>
              </a:rPr>
              <a:t>Insight:</a:t>
            </a:r>
            <a:r>
              <a:rPr lang="en-IN" sz="1200" dirty="0">
                <a:latin typeface="Arial" panose="020B0604020202020204" pitchFamily="34" charset="0"/>
                <a:cs typeface="Arial" panose="020B0604020202020204" pitchFamily="34" charset="0"/>
              </a:rPr>
              <a:t> Staten Island's low revenue appears to be driven mainly by </a:t>
            </a:r>
            <a:r>
              <a:rPr lang="en-IN" sz="1200" b="1" dirty="0">
                <a:latin typeface="Arial" panose="020B0604020202020204" pitchFamily="34" charset="0"/>
                <a:cs typeface="Arial" panose="020B0604020202020204" pitchFamily="34" charset="0"/>
              </a:rPr>
              <a:t>low customer and transaction volume</a:t>
            </a:r>
            <a:r>
              <a:rPr lang="en-IN" sz="1200" dirty="0">
                <a:latin typeface="Arial" panose="020B0604020202020204" pitchFamily="34" charset="0"/>
                <a:cs typeface="Arial" panose="020B0604020202020204" pitchFamily="34" charset="0"/>
              </a:rPr>
              <a:t>, rather than evidence of low spending among a larger customer base. With only one customer, the result is directional and should not be generalized.</a:t>
            </a:r>
          </a:p>
          <a:p>
            <a:r>
              <a:rPr lang="en-IN" sz="1200" b="1" dirty="0">
                <a:latin typeface="Arial" panose="020B0604020202020204" pitchFamily="34" charset="0"/>
                <a:cs typeface="Arial" panose="020B0604020202020204" pitchFamily="34" charset="0"/>
              </a:rPr>
              <a:t>Recommendation:</a:t>
            </a:r>
            <a:r>
              <a:rPr lang="en-IN" sz="1200" dirty="0">
                <a:latin typeface="Arial" panose="020B0604020202020204" pitchFamily="34" charset="0"/>
                <a:cs typeface="Arial" panose="020B0604020202020204" pitchFamily="34" charset="0"/>
              </a:rPr>
              <a:t> Investigate whether Staten Island has limited customer acquisition/market reach and test targeted acquisition or awareness initiatives before prioritizing retention strategies.</a:t>
            </a:r>
          </a:p>
          <a:p>
            <a:r>
              <a:rPr lang="en-IN" sz="1200" b="1" dirty="0">
                <a:latin typeface="Arial" panose="020B0604020202020204" pitchFamily="34" charset="0"/>
                <a:cs typeface="Arial" panose="020B0604020202020204" pitchFamily="34" charset="0"/>
              </a:rPr>
              <a:t>KPI to monitor:</a:t>
            </a:r>
            <a:r>
              <a:rPr lang="en-IN" sz="1200" dirty="0">
                <a:latin typeface="Arial" panose="020B0604020202020204" pitchFamily="34" charset="0"/>
                <a:cs typeface="Arial" panose="020B0604020202020204" pitchFamily="34" charset="0"/>
              </a:rPr>
              <a:t> </a:t>
            </a:r>
            <a:r>
              <a:rPr lang="en-IN" sz="1200" b="1" dirty="0">
                <a:latin typeface="Arial" panose="020B0604020202020204" pitchFamily="34" charset="0"/>
                <a:cs typeface="Arial" panose="020B0604020202020204" pitchFamily="34" charset="0"/>
              </a:rPr>
              <a:t>Customers, Orders, Revenue, AOV, Purchase Frequency, Second Purchase Rate, and New Customer Acquisition Rate.</a:t>
            </a:r>
            <a:endParaRPr lang="en-IN" sz="1200" dirty="0">
              <a:latin typeface="Arial" panose="020B0604020202020204" pitchFamily="34" charset="0"/>
              <a:cs typeface="Arial" panose="020B0604020202020204" pitchFamily="34" charset="0"/>
            </a:endParaRPr>
          </a:p>
          <a:p>
            <a:endParaRPr lang="en-IN" sz="1400" b="1" dirty="0">
              <a:latin typeface="Arial" panose="020B0604020202020204" pitchFamily="34" charset="0"/>
              <a:cs typeface="Arial" panose="020B0604020202020204" pitchFamily="34" charset="0"/>
            </a:endParaRPr>
          </a:p>
          <a:p>
            <a:endParaRPr lang="en-IN" sz="1400" b="1"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endParaRPr lang="en-IN"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7891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11C8BB-F8E9-1AA3-9FA5-F671D88DB9AE}"/>
              </a:ext>
            </a:extLst>
          </p:cNvPr>
          <p:cNvSpPr txBox="1"/>
          <p:nvPr/>
        </p:nvSpPr>
        <p:spPr>
          <a:xfrm>
            <a:off x="446313" y="533399"/>
            <a:ext cx="8567057" cy="5447645"/>
          </a:xfrm>
          <a:prstGeom prst="rect">
            <a:avLst/>
          </a:prstGeom>
          <a:noFill/>
        </p:spPr>
        <p:txBody>
          <a:bodyPr wrap="square" rtlCol="0">
            <a:spAutoFit/>
          </a:bodyPr>
          <a:lstStyle/>
          <a:p>
            <a:r>
              <a:rPr lang="en-IN" sz="1200" b="1" dirty="0">
                <a:latin typeface="Arial" panose="020B0604020202020204" pitchFamily="34" charset="0"/>
                <a:cs typeface="Arial" panose="020B0604020202020204" pitchFamily="34" charset="0"/>
              </a:rPr>
              <a:t>2. Business Investigation by Customer Type:</a:t>
            </a:r>
            <a:r>
              <a:rPr lang="en-IN" sz="1200" dirty="0">
                <a:latin typeface="Arial" panose="020B0604020202020204" pitchFamily="34" charset="0"/>
                <a:cs typeface="Arial" panose="020B0604020202020204" pitchFamily="34" charset="0"/>
              </a:rPr>
              <a:t> Revenue by Customer Type</a:t>
            </a:r>
            <a:br>
              <a:rPr lang="en-IN" sz="1200" dirty="0">
                <a:latin typeface="Arial" panose="020B0604020202020204" pitchFamily="34" charset="0"/>
                <a:cs typeface="Arial" panose="020B0604020202020204" pitchFamily="34" charset="0"/>
              </a:rPr>
            </a:br>
            <a:r>
              <a:rPr lang="en-IN" sz="1200" dirty="0">
                <a:latin typeface="Arial" panose="020B0604020202020204" pitchFamily="34" charset="0"/>
                <a:cs typeface="Arial" panose="020B0604020202020204" pitchFamily="34" charset="0"/>
              </a:rPr>
              <a:t> Identified New vs Returning </a:t>
            </a:r>
          </a:p>
          <a:p>
            <a:r>
              <a:rPr lang="en-IN" sz="1200" b="1" dirty="0">
                <a:latin typeface="Arial" panose="020B0604020202020204" pitchFamily="34" charset="0"/>
                <a:cs typeface="Arial" panose="020B0604020202020204" pitchFamily="34" charset="0"/>
              </a:rPr>
              <a:t>New Customers Insight: Finding:</a:t>
            </a:r>
            <a:r>
              <a:rPr lang="en-IN" sz="1200" dirty="0">
                <a:latin typeface="Arial" panose="020B0604020202020204" pitchFamily="34" charset="0"/>
                <a:cs typeface="Arial" panose="020B0604020202020204" pitchFamily="34" charset="0"/>
              </a:rPr>
              <a:t> New customers generated </a:t>
            </a:r>
            <a:r>
              <a:rPr lang="en-IN" sz="1200" b="1" dirty="0">
                <a:latin typeface="Arial" panose="020B0604020202020204" pitchFamily="34" charset="0"/>
                <a:cs typeface="Arial" panose="020B0604020202020204" pitchFamily="34" charset="0"/>
              </a:rPr>
              <a:t>2.74M revenue from 4.43K customers and 4K orders</a:t>
            </a:r>
            <a:r>
              <a:rPr lang="en-IN" sz="1200" dirty="0">
                <a:latin typeface="Arial" panose="020B0604020202020204" pitchFamily="34" charset="0"/>
                <a:cs typeface="Arial" panose="020B0604020202020204" pitchFamily="34" charset="0"/>
              </a:rPr>
              <a:t>, with purchase frequency of </a:t>
            </a:r>
            <a:r>
              <a:rPr lang="en-IN" sz="1200" b="1" dirty="0">
                <a:latin typeface="Arial" panose="020B0604020202020204" pitchFamily="34" charset="0"/>
                <a:cs typeface="Arial" panose="020B0604020202020204" pitchFamily="34" charset="0"/>
              </a:rPr>
              <a:t>1.00</a:t>
            </a:r>
            <a:r>
              <a:rPr lang="en-IN" sz="1200" dirty="0">
                <a:latin typeface="Arial" panose="020B0604020202020204" pitchFamily="34" charset="0"/>
                <a:cs typeface="Arial" panose="020B0604020202020204" pitchFamily="34" charset="0"/>
              </a:rPr>
              <a:t> and AOV of </a:t>
            </a:r>
            <a:r>
              <a:rPr lang="en-IN" sz="1200" b="1" dirty="0">
                <a:latin typeface="Arial" panose="020B0604020202020204" pitchFamily="34" charset="0"/>
                <a:cs typeface="Arial" panose="020B0604020202020204" pitchFamily="34" charset="0"/>
              </a:rPr>
              <a:t>618.01</a:t>
            </a:r>
            <a:r>
              <a:rPr lang="en-IN" sz="1200" dirty="0">
                <a:latin typeface="Arial" panose="020B0604020202020204" pitchFamily="34" charset="0"/>
                <a:cs typeface="Arial" panose="020B0604020202020204" pitchFamily="34" charset="0"/>
              </a:rPr>
              <a:t>.</a:t>
            </a:r>
          </a:p>
          <a:p>
            <a:r>
              <a:rPr lang="en-IN" sz="1200" b="1" dirty="0">
                <a:latin typeface="Arial" panose="020B0604020202020204" pitchFamily="34" charset="0"/>
                <a:cs typeface="Arial" panose="020B0604020202020204" pitchFamily="34" charset="0"/>
              </a:rPr>
              <a:t>Comparison:</a:t>
            </a:r>
            <a:r>
              <a:rPr lang="en-IN" sz="1200" dirty="0">
                <a:latin typeface="Arial" panose="020B0604020202020204" pitchFamily="34" charset="0"/>
                <a:cs typeface="Arial" panose="020B0604020202020204" pitchFamily="34" charset="0"/>
              </a:rPr>
              <a:t> New customers contribute a larger share of observed revenue than returning customers (</a:t>
            </a:r>
            <a:r>
              <a:rPr lang="en-IN" sz="1200" b="1" dirty="0">
                <a:latin typeface="Arial" panose="020B0604020202020204" pitchFamily="34" charset="0"/>
                <a:cs typeface="Arial" panose="020B0604020202020204" pitchFamily="34" charset="0"/>
              </a:rPr>
              <a:t>2.74M vs 1.86M</a:t>
            </a:r>
            <a:r>
              <a:rPr lang="en-IN" sz="1200" dirty="0">
                <a:latin typeface="Arial" panose="020B0604020202020204" pitchFamily="34" charset="0"/>
                <a:cs typeface="Arial" panose="020B0604020202020204" pitchFamily="34" charset="0"/>
              </a:rPr>
              <a:t>), primarily because there are more new customers.</a:t>
            </a:r>
          </a:p>
          <a:p>
            <a:r>
              <a:rPr lang="en-IN" sz="1200" b="1" dirty="0">
                <a:latin typeface="Arial" panose="020B0604020202020204" pitchFamily="34" charset="0"/>
                <a:cs typeface="Arial" panose="020B0604020202020204" pitchFamily="34" charset="0"/>
              </a:rPr>
              <a:t>Driver:</a:t>
            </a:r>
            <a:r>
              <a:rPr lang="en-IN" sz="1200" dirty="0">
                <a:latin typeface="Arial" panose="020B0604020202020204" pitchFamily="34" charset="0"/>
                <a:cs typeface="Arial" panose="020B0604020202020204" pitchFamily="34" charset="0"/>
              </a:rPr>
              <a:t> Revenue from new customers is primarily driven by </a:t>
            </a:r>
            <a:r>
              <a:rPr lang="en-IN" sz="1200" b="1" dirty="0">
                <a:latin typeface="Arial" panose="020B0604020202020204" pitchFamily="34" charset="0"/>
                <a:cs typeface="Arial" panose="020B0604020202020204" pitchFamily="34" charset="0"/>
              </a:rPr>
              <a:t>customer volume</a:t>
            </a:r>
            <a:r>
              <a:rPr lang="en-IN" sz="1200" dirty="0">
                <a:latin typeface="Arial" panose="020B0604020202020204" pitchFamily="34" charset="0"/>
                <a:cs typeface="Arial" panose="020B0604020202020204" pitchFamily="34" charset="0"/>
              </a:rPr>
              <a:t>, while purchase frequency is only </a:t>
            </a:r>
            <a:r>
              <a:rPr lang="en-IN" sz="1200" b="1" dirty="0">
                <a:latin typeface="Arial" panose="020B0604020202020204" pitchFamily="34" charset="0"/>
                <a:cs typeface="Arial" panose="020B0604020202020204" pitchFamily="34" charset="0"/>
              </a:rPr>
              <a:t>1 order per customer</a:t>
            </a:r>
            <a:r>
              <a:rPr lang="en-IN" sz="1200" dirty="0">
                <a:latin typeface="Arial" panose="020B0604020202020204" pitchFamily="34" charset="0"/>
                <a:cs typeface="Arial" panose="020B0604020202020204" pitchFamily="34" charset="0"/>
              </a:rPr>
              <a:t>.</a:t>
            </a:r>
          </a:p>
          <a:p>
            <a:r>
              <a:rPr lang="en-IN" sz="1200" b="1" dirty="0">
                <a:latin typeface="Arial" panose="020B0604020202020204" pitchFamily="34" charset="0"/>
                <a:cs typeface="Arial" panose="020B0604020202020204" pitchFamily="34" charset="0"/>
              </a:rPr>
              <a:t>Insight:</a:t>
            </a:r>
            <a:r>
              <a:rPr lang="en-IN" sz="1200" dirty="0">
                <a:latin typeface="Arial" panose="020B0604020202020204" pitchFamily="34" charset="0"/>
                <a:cs typeface="Arial" panose="020B0604020202020204" pitchFamily="34" charset="0"/>
              </a:rPr>
              <a:t> The business currently depends substantially on </a:t>
            </a:r>
            <a:r>
              <a:rPr lang="en-IN" sz="1200" b="1" dirty="0">
                <a:latin typeface="Arial" panose="020B0604020202020204" pitchFamily="34" charset="0"/>
                <a:cs typeface="Arial" panose="020B0604020202020204" pitchFamily="34" charset="0"/>
              </a:rPr>
              <a:t>new-customer acquisition for revenue</a:t>
            </a:r>
            <a:r>
              <a:rPr lang="en-IN" sz="1200" dirty="0">
                <a:latin typeface="Arial" panose="020B0604020202020204" pitchFamily="34" charset="0"/>
                <a:cs typeface="Arial" panose="020B0604020202020204" pitchFamily="34" charset="0"/>
              </a:rPr>
              <a:t>, while new customers show limited repeat-order </a:t>
            </a:r>
            <a:r>
              <a:rPr lang="en-IN" sz="1200" dirty="0" err="1">
                <a:latin typeface="Arial" panose="020B0604020202020204" pitchFamily="34" charset="0"/>
                <a:cs typeface="Arial" panose="020B0604020202020204" pitchFamily="34" charset="0"/>
              </a:rPr>
              <a:t>behavior</a:t>
            </a:r>
            <a:r>
              <a:rPr lang="en-IN" sz="1200" dirty="0">
                <a:latin typeface="Arial" panose="020B0604020202020204" pitchFamily="34" charset="0"/>
                <a:cs typeface="Arial" panose="020B0604020202020204" pitchFamily="34" charset="0"/>
              </a:rPr>
              <a:t> in the observed data.</a:t>
            </a:r>
          </a:p>
          <a:p>
            <a:r>
              <a:rPr lang="en-IN" sz="1200" b="1" dirty="0">
                <a:latin typeface="Arial" panose="020B0604020202020204" pitchFamily="34" charset="0"/>
                <a:cs typeface="Arial" panose="020B0604020202020204" pitchFamily="34" charset="0"/>
              </a:rPr>
              <a:t>Recommendation:</a:t>
            </a:r>
            <a:r>
              <a:rPr lang="en-IN" sz="1200" dirty="0">
                <a:latin typeface="Arial" panose="020B0604020202020204" pitchFamily="34" charset="0"/>
                <a:cs typeface="Arial" panose="020B0604020202020204" pitchFamily="34" charset="0"/>
              </a:rPr>
              <a:t> Continue acquiring new customers, but introduce a structured </a:t>
            </a:r>
            <a:r>
              <a:rPr lang="en-IN" sz="1200" b="1" dirty="0">
                <a:latin typeface="Arial" panose="020B0604020202020204" pitchFamily="34" charset="0"/>
                <a:cs typeface="Arial" panose="020B0604020202020204" pitchFamily="34" charset="0"/>
              </a:rPr>
              <a:t>first-to-second-purchase journey</a:t>
            </a:r>
            <a:r>
              <a:rPr lang="en-IN" sz="1200" dirty="0">
                <a:latin typeface="Arial" panose="020B0604020202020204" pitchFamily="34" charset="0"/>
                <a:cs typeface="Arial" panose="020B0604020202020204" pitchFamily="34" charset="0"/>
              </a:rPr>
              <a:t> to convert more newly acquired customers into repeat buyers.</a:t>
            </a:r>
          </a:p>
          <a:p>
            <a:r>
              <a:rPr lang="en-IN" sz="1200" b="1" dirty="0">
                <a:latin typeface="Arial" panose="020B0604020202020204" pitchFamily="34" charset="0"/>
                <a:cs typeface="Arial" panose="020B0604020202020204" pitchFamily="34" charset="0"/>
              </a:rPr>
              <a:t>KPI to monitor:</a:t>
            </a:r>
            <a:r>
              <a:rPr lang="en-IN" sz="1200" dirty="0">
                <a:latin typeface="Arial" panose="020B0604020202020204" pitchFamily="34" charset="0"/>
                <a:cs typeface="Arial" panose="020B0604020202020204" pitchFamily="34" charset="0"/>
              </a:rPr>
              <a:t> </a:t>
            </a:r>
            <a:r>
              <a:rPr lang="en-IN" sz="1200" b="1" dirty="0">
                <a:latin typeface="Arial" panose="020B0604020202020204" pitchFamily="34" charset="0"/>
                <a:cs typeface="Arial" panose="020B0604020202020204" pitchFamily="34" charset="0"/>
              </a:rPr>
              <a:t>New Customer Revenue, New Customers, Second Purchase Rate, Purchase Frequency, and Revenue per New Customer.</a:t>
            </a:r>
            <a:endParaRPr lang="en-IN" sz="1200" dirty="0">
              <a:latin typeface="Arial" panose="020B0604020202020204" pitchFamily="34" charset="0"/>
              <a:cs typeface="Arial" panose="020B0604020202020204" pitchFamily="34" charset="0"/>
            </a:endParaRPr>
          </a:p>
          <a:p>
            <a:endParaRPr lang="en-IN" sz="1200" b="1" dirty="0">
              <a:latin typeface="Arial" panose="020B0604020202020204" pitchFamily="34" charset="0"/>
              <a:cs typeface="Arial" panose="020B0604020202020204" pitchFamily="34" charset="0"/>
            </a:endParaRPr>
          </a:p>
          <a:p>
            <a:endParaRPr lang="en-IN" sz="1200" b="1" dirty="0">
              <a:latin typeface="Arial" panose="020B0604020202020204" pitchFamily="34" charset="0"/>
              <a:cs typeface="Arial" panose="020B0604020202020204" pitchFamily="34" charset="0"/>
            </a:endParaRPr>
          </a:p>
          <a:p>
            <a:r>
              <a:rPr lang="en-IN" sz="1200" b="1" dirty="0">
                <a:latin typeface="Arial" panose="020B0604020202020204" pitchFamily="34" charset="0"/>
                <a:cs typeface="Arial" panose="020B0604020202020204" pitchFamily="34" charset="0"/>
              </a:rPr>
              <a:t>Returning Customers Insight: Finding:</a:t>
            </a:r>
            <a:r>
              <a:rPr lang="en-IN" sz="1200" dirty="0">
                <a:latin typeface="Arial" panose="020B0604020202020204" pitchFamily="34" charset="0"/>
                <a:cs typeface="Arial" panose="020B0604020202020204" pitchFamily="34" charset="0"/>
              </a:rPr>
              <a:t> Returning customers generated </a:t>
            </a:r>
            <a:r>
              <a:rPr lang="en-IN" sz="1200" b="1" dirty="0">
                <a:latin typeface="Arial" panose="020B0604020202020204" pitchFamily="34" charset="0"/>
                <a:cs typeface="Arial" panose="020B0604020202020204" pitchFamily="34" charset="0"/>
              </a:rPr>
              <a:t>1.86M revenue from 2.99K customers and approximately 3K orders</a:t>
            </a:r>
            <a:r>
              <a:rPr lang="en-IN" sz="1200" dirty="0">
                <a:latin typeface="Arial" panose="020B0604020202020204" pitchFamily="34" charset="0"/>
                <a:cs typeface="Arial" panose="020B0604020202020204" pitchFamily="34" charset="0"/>
              </a:rPr>
              <a:t>, with purchase frequency of </a:t>
            </a:r>
            <a:r>
              <a:rPr lang="en-IN" sz="1200" b="1" dirty="0">
                <a:latin typeface="Arial" panose="020B0604020202020204" pitchFamily="34" charset="0"/>
                <a:cs typeface="Arial" panose="020B0604020202020204" pitchFamily="34" charset="0"/>
              </a:rPr>
              <a:t>1.47</a:t>
            </a:r>
            <a:r>
              <a:rPr lang="en-IN" sz="1200" dirty="0">
                <a:latin typeface="Arial" panose="020B0604020202020204" pitchFamily="34" charset="0"/>
                <a:cs typeface="Arial" panose="020B0604020202020204" pitchFamily="34" charset="0"/>
              </a:rPr>
              <a:t> and AOV of </a:t>
            </a:r>
            <a:r>
              <a:rPr lang="en-IN" sz="1200" b="1" dirty="0">
                <a:latin typeface="Arial" panose="020B0604020202020204" pitchFamily="34" charset="0"/>
                <a:cs typeface="Arial" panose="020B0604020202020204" pitchFamily="34" charset="0"/>
              </a:rPr>
              <a:t>620.09</a:t>
            </a:r>
            <a:r>
              <a:rPr lang="en-IN" sz="1200" dirty="0">
                <a:latin typeface="Arial" panose="020B0604020202020204" pitchFamily="34" charset="0"/>
                <a:cs typeface="Arial" panose="020B0604020202020204" pitchFamily="34" charset="0"/>
              </a:rPr>
              <a:t>.</a:t>
            </a:r>
          </a:p>
          <a:p>
            <a:r>
              <a:rPr lang="en-IN" sz="1200" b="1" dirty="0">
                <a:latin typeface="Arial" panose="020B0604020202020204" pitchFamily="34" charset="0"/>
                <a:cs typeface="Arial" panose="020B0604020202020204" pitchFamily="34" charset="0"/>
              </a:rPr>
              <a:t>Comparison:</a:t>
            </a:r>
            <a:r>
              <a:rPr lang="en-IN" sz="1200" dirty="0">
                <a:latin typeface="Arial" panose="020B0604020202020204" pitchFamily="34" charset="0"/>
                <a:cs typeface="Arial" panose="020B0604020202020204" pitchFamily="34" charset="0"/>
              </a:rPr>
              <a:t> Returning customers have a </a:t>
            </a:r>
            <a:r>
              <a:rPr lang="en-IN" sz="1200" b="1" dirty="0">
                <a:latin typeface="Arial" panose="020B0604020202020204" pitchFamily="34" charset="0"/>
                <a:cs typeface="Arial" panose="020B0604020202020204" pitchFamily="34" charset="0"/>
              </a:rPr>
              <a:t>higher purchase frequency (1.47 vs 1.00)</a:t>
            </a:r>
            <a:r>
              <a:rPr lang="en-IN" sz="1200" dirty="0">
                <a:latin typeface="Arial" panose="020B0604020202020204" pitchFamily="34" charset="0"/>
                <a:cs typeface="Arial" panose="020B0604020202020204" pitchFamily="34" charset="0"/>
              </a:rPr>
              <a:t> than new customers, while AOV is almost the same (</a:t>
            </a:r>
            <a:r>
              <a:rPr lang="en-IN" sz="1200" b="1" dirty="0">
                <a:latin typeface="Arial" panose="020B0604020202020204" pitchFamily="34" charset="0"/>
                <a:cs typeface="Arial" panose="020B0604020202020204" pitchFamily="34" charset="0"/>
              </a:rPr>
              <a:t>620.09 vs 618.01</a:t>
            </a:r>
            <a:r>
              <a:rPr lang="en-IN" sz="1200" dirty="0">
                <a:latin typeface="Arial" panose="020B0604020202020204" pitchFamily="34" charset="0"/>
                <a:cs typeface="Arial" panose="020B0604020202020204" pitchFamily="34" charset="0"/>
              </a:rPr>
              <a:t>).</a:t>
            </a:r>
          </a:p>
          <a:p>
            <a:r>
              <a:rPr lang="en-IN" sz="1200" b="1" dirty="0">
                <a:latin typeface="Arial" panose="020B0604020202020204" pitchFamily="34" charset="0"/>
                <a:cs typeface="Arial" panose="020B0604020202020204" pitchFamily="34" charset="0"/>
              </a:rPr>
              <a:t>Driver:</a:t>
            </a:r>
            <a:r>
              <a:rPr lang="en-IN" sz="1200" dirty="0">
                <a:latin typeface="Arial" panose="020B0604020202020204" pitchFamily="34" charset="0"/>
                <a:cs typeface="Arial" panose="020B0604020202020204" pitchFamily="34" charset="0"/>
              </a:rPr>
              <a:t> The stronger revenue contribution from returning customers is driven mainly by </a:t>
            </a:r>
            <a:r>
              <a:rPr lang="en-IN" sz="1200" b="1" dirty="0">
                <a:latin typeface="Arial" panose="020B0604020202020204" pitchFamily="34" charset="0"/>
                <a:cs typeface="Arial" panose="020B0604020202020204" pitchFamily="34" charset="0"/>
              </a:rPr>
              <a:t>higher purchase frequency</a:t>
            </a:r>
            <a:r>
              <a:rPr lang="en-IN" sz="1200" dirty="0">
                <a:latin typeface="Arial" panose="020B0604020202020204" pitchFamily="34" charset="0"/>
                <a:cs typeface="Arial" panose="020B0604020202020204" pitchFamily="34" charset="0"/>
              </a:rPr>
              <a:t>, not by substantially higher order value.</a:t>
            </a:r>
          </a:p>
          <a:p>
            <a:r>
              <a:rPr lang="en-IN" sz="1200" b="1" dirty="0">
                <a:latin typeface="Arial" panose="020B0604020202020204" pitchFamily="34" charset="0"/>
                <a:cs typeface="Arial" panose="020B0604020202020204" pitchFamily="34" charset="0"/>
              </a:rPr>
              <a:t>Insight:</a:t>
            </a:r>
            <a:r>
              <a:rPr lang="en-IN" sz="1200" dirty="0">
                <a:latin typeface="Arial" panose="020B0604020202020204" pitchFamily="34" charset="0"/>
                <a:cs typeface="Arial" panose="020B0604020202020204" pitchFamily="34" charset="0"/>
              </a:rPr>
              <a:t> Repeat purchasing appears to be the key differentiator in customer value: returning customers place more orders per customer while spending approximately the same amount per order.</a:t>
            </a:r>
          </a:p>
          <a:p>
            <a:r>
              <a:rPr lang="en-IN" sz="1200" b="1" dirty="0">
                <a:latin typeface="Arial" panose="020B0604020202020204" pitchFamily="34" charset="0"/>
                <a:cs typeface="Arial" panose="020B0604020202020204" pitchFamily="34" charset="0"/>
              </a:rPr>
              <a:t>Recommendation:</a:t>
            </a:r>
            <a:r>
              <a:rPr lang="en-IN" sz="1200" dirty="0">
                <a:latin typeface="Arial" panose="020B0604020202020204" pitchFamily="34" charset="0"/>
                <a:cs typeface="Arial" panose="020B0604020202020204" pitchFamily="34" charset="0"/>
              </a:rPr>
              <a:t> Prioritize </a:t>
            </a:r>
            <a:r>
              <a:rPr lang="en-IN" sz="1200" b="1" dirty="0">
                <a:latin typeface="Arial" panose="020B0604020202020204" pitchFamily="34" charset="0"/>
                <a:cs typeface="Arial" panose="020B0604020202020204" pitchFamily="34" charset="0"/>
              </a:rPr>
              <a:t>retention and loyalty strategies</a:t>
            </a:r>
            <a:r>
              <a:rPr lang="en-IN" sz="1200" dirty="0">
                <a:latin typeface="Arial" panose="020B0604020202020204" pitchFamily="34" charset="0"/>
                <a:cs typeface="Arial" panose="020B0604020202020204" pitchFamily="34" charset="0"/>
              </a:rPr>
              <a:t> that encourage returning customers to purchase more frequently, such as personalized cross-sell, replenishment reminders, and loyalty benefits.</a:t>
            </a:r>
          </a:p>
          <a:p>
            <a:endParaRPr lang="en-IN"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4816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A4B110-D439-CCB6-82E2-BA972BE6487F}"/>
              </a:ext>
            </a:extLst>
          </p:cNvPr>
          <p:cNvSpPr txBox="1"/>
          <p:nvPr/>
        </p:nvSpPr>
        <p:spPr>
          <a:xfrm>
            <a:off x="500744" y="413657"/>
            <a:ext cx="10668000" cy="5262979"/>
          </a:xfrm>
          <a:prstGeom prst="rect">
            <a:avLst/>
          </a:prstGeom>
          <a:noFill/>
        </p:spPr>
        <p:txBody>
          <a:bodyPr wrap="square">
            <a:spAutoFit/>
          </a:bodyPr>
          <a:lstStyle/>
          <a:p>
            <a:r>
              <a:rPr lang="en-IN" sz="1200" b="1" dirty="0">
                <a:latin typeface="Arial" panose="020B0604020202020204" pitchFamily="34" charset="0"/>
                <a:cs typeface="Arial" panose="020B0604020202020204" pitchFamily="34" charset="0"/>
              </a:rPr>
              <a:t>3. Business Investigation by Product Type:</a:t>
            </a:r>
            <a:r>
              <a:rPr lang="en-IN" sz="1200" dirty="0">
                <a:latin typeface="Arial" panose="020B0604020202020204" pitchFamily="34" charset="0"/>
                <a:cs typeface="Arial" panose="020B0604020202020204" pitchFamily="34" charset="0"/>
              </a:rPr>
              <a:t> Revenue by Product Type</a:t>
            </a:r>
          </a:p>
          <a:p>
            <a:r>
              <a:rPr lang="en-IN" sz="1200" dirty="0">
                <a:latin typeface="Arial" panose="020B0604020202020204" pitchFamily="34" charset="0"/>
                <a:cs typeface="Arial" panose="020B0604020202020204" pitchFamily="34" charset="0"/>
              </a:rPr>
              <a:t>Identified Highest and Lowest Product Type</a:t>
            </a:r>
          </a:p>
          <a:p>
            <a:br>
              <a:rPr lang="en-IN" sz="1200" dirty="0">
                <a:latin typeface="Arial" panose="020B0604020202020204" pitchFamily="34" charset="0"/>
                <a:cs typeface="Arial" panose="020B0604020202020204" pitchFamily="34" charset="0"/>
              </a:rPr>
            </a:br>
            <a:r>
              <a:rPr lang="en-IN" sz="1200" b="1" dirty="0">
                <a:latin typeface="Arial" panose="020B0604020202020204" pitchFamily="34" charset="0"/>
                <a:cs typeface="Arial" panose="020B0604020202020204" pitchFamily="34" charset="0"/>
              </a:rPr>
              <a:t>Highest Product type</a:t>
            </a:r>
            <a:r>
              <a:rPr lang="en-IN" sz="1200" dirty="0">
                <a:latin typeface="Arial" panose="020B0604020202020204" pitchFamily="34" charset="0"/>
                <a:cs typeface="Arial" panose="020B0604020202020204" pitchFamily="34" charset="0"/>
              </a:rPr>
              <a:t> </a:t>
            </a:r>
            <a:r>
              <a:rPr lang="en-IN" sz="1200" b="1" dirty="0">
                <a:latin typeface="Arial" panose="020B0604020202020204" pitchFamily="34" charset="0"/>
                <a:cs typeface="Arial" panose="020B0604020202020204" pitchFamily="34" charset="0"/>
              </a:rPr>
              <a:t>Insight: Finding:</a:t>
            </a:r>
            <a:r>
              <a:rPr lang="en-IN" sz="1200" dirty="0">
                <a:latin typeface="Arial" panose="020B0604020202020204" pitchFamily="34" charset="0"/>
                <a:cs typeface="Arial" panose="020B0604020202020204" pitchFamily="34" charset="0"/>
              </a:rPr>
              <a:t> Running Shoes generated </a:t>
            </a:r>
            <a:r>
              <a:rPr lang="en-IN" sz="1200" b="1" dirty="0">
                <a:latin typeface="Arial" panose="020B0604020202020204" pitchFamily="34" charset="0"/>
                <a:cs typeface="Arial" panose="020B0604020202020204" pitchFamily="34" charset="0"/>
              </a:rPr>
              <a:t>1.62M revenue from approximately 2K customers and 3K orders</a:t>
            </a:r>
            <a:r>
              <a:rPr lang="en-IN" sz="1200" dirty="0">
                <a:latin typeface="Arial" panose="020B0604020202020204" pitchFamily="34" charset="0"/>
                <a:cs typeface="Arial" panose="020B0604020202020204" pitchFamily="34" charset="0"/>
              </a:rPr>
              <a:t>, with </a:t>
            </a:r>
            <a:r>
              <a:rPr lang="en-IN" sz="1200" b="1" dirty="0">
                <a:latin typeface="Arial" panose="020B0604020202020204" pitchFamily="34" charset="0"/>
                <a:cs typeface="Arial" panose="020B0604020202020204" pitchFamily="34" charset="0"/>
              </a:rPr>
              <a:t>purchase frequency of 1.23</a:t>
            </a:r>
            <a:r>
              <a:rPr lang="en-IN" sz="1200" dirty="0">
                <a:latin typeface="Arial" panose="020B0604020202020204" pitchFamily="34" charset="0"/>
                <a:cs typeface="Arial" panose="020B0604020202020204" pitchFamily="34" charset="0"/>
              </a:rPr>
              <a:t> and </a:t>
            </a:r>
            <a:r>
              <a:rPr lang="en-IN" sz="1200" b="1" dirty="0">
                <a:latin typeface="Arial" panose="020B0604020202020204" pitchFamily="34" charset="0"/>
                <a:cs typeface="Arial" panose="020B0604020202020204" pitchFamily="34" charset="0"/>
              </a:rPr>
              <a:t>AOV of 617.63</a:t>
            </a:r>
            <a:r>
              <a:rPr lang="en-IN" sz="1200" dirty="0">
                <a:latin typeface="Arial" panose="020B0604020202020204" pitchFamily="34" charset="0"/>
                <a:cs typeface="Arial" panose="020B0604020202020204" pitchFamily="34" charset="0"/>
              </a:rPr>
              <a:t>.</a:t>
            </a:r>
          </a:p>
          <a:p>
            <a:r>
              <a:rPr lang="en-IN" sz="1200" b="1" dirty="0">
                <a:latin typeface="Arial" panose="020B0604020202020204" pitchFamily="34" charset="0"/>
                <a:cs typeface="Arial" panose="020B0604020202020204" pitchFamily="34" charset="0"/>
              </a:rPr>
              <a:t>Comparison:</a:t>
            </a:r>
            <a:r>
              <a:rPr lang="en-IN" sz="1200" dirty="0">
                <a:latin typeface="Arial" panose="020B0604020202020204" pitchFamily="34" charset="0"/>
                <a:cs typeface="Arial" panose="020B0604020202020204" pitchFamily="34" charset="0"/>
              </a:rPr>
              <a:t> Running Shoes have substantially higher revenue and transaction volume than the lowest-performing product, Water Shoes (</a:t>
            </a:r>
            <a:r>
              <a:rPr lang="en-IN" sz="1200" b="1" dirty="0">
                <a:latin typeface="Arial" panose="020B0604020202020204" pitchFamily="34" charset="0"/>
                <a:cs typeface="Arial" panose="020B0604020202020204" pitchFamily="34" charset="0"/>
              </a:rPr>
              <a:t>2.80K revenue, 5 customers, 5 orders</a:t>
            </a:r>
            <a:r>
              <a:rPr lang="en-IN" sz="1200" dirty="0">
                <a:latin typeface="Arial" panose="020B0604020202020204" pitchFamily="34" charset="0"/>
                <a:cs typeface="Arial" panose="020B0604020202020204" pitchFamily="34" charset="0"/>
              </a:rPr>
              <a:t>).</a:t>
            </a:r>
          </a:p>
          <a:p>
            <a:r>
              <a:rPr lang="en-IN" sz="1200" b="1" dirty="0">
                <a:latin typeface="Arial" panose="020B0604020202020204" pitchFamily="34" charset="0"/>
                <a:cs typeface="Arial" panose="020B0604020202020204" pitchFamily="34" charset="0"/>
              </a:rPr>
              <a:t>Driver:</a:t>
            </a:r>
            <a:r>
              <a:rPr lang="en-IN" sz="1200" dirty="0">
                <a:latin typeface="Arial" panose="020B0604020202020204" pitchFamily="34" charset="0"/>
                <a:cs typeface="Arial" panose="020B0604020202020204" pitchFamily="34" charset="0"/>
              </a:rPr>
              <a:t> The strong revenue is mainly associated with </a:t>
            </a:r>
            <a:r>
              <a:rPr lang="en-IN" sz="1200" b="1" dirty="0">
                <a:latin typeface="Arial" panose="020B0604020202020204" pitchFamily="34" charset="0"/>
                <a:cs typeface="Arial" panose="020B0604020202020204" pitchFamily="34" charset="0"/>
              </a:rPr>
              <a:t>high customer/order volume</a:t>
            </a:r>
            <a:r>
              <a:rPr lang="en-IN" sz="1200" dirty="0">
                <a:latin typeface="Arial" panose="020B0604020202020204" pitchFamily="34" charset="0"/>
                <a:cs typeface="Arial" panose="020B0604020202020204" pitchFamily="34" charset="0"/>
              </a:rPr>
              <a:t>, while purchase frequency of </a:t>
            </a:r>
            <a:r>
              <a:rPr lang="en-IN" sz="1200" b="1" dirty="0">
                <a:latin typeface="Arial" panose="020B0604020202020204" pitchFamily="34" charset="0"/>
                <a:cs typeface="Arial" panose="020B0604020202020204" pitchFamily="34" charset="0"/>
              </a:rPr>
              <a:t>1.23</a:t>
            </a:r>
            <a:r>
              <a:rPr lang="en-IN" sz="1200" dirty="0">
                <a:latin typeface="Arial" panose="020B0604020202020204" pitchFamily="34" charset="0"/>
                <a:cs typeface="Arial" panose="020B0604020202020204" pitchFamily="34" charset="0"/>
              </a:rPr>
              <a:t> indicates some repeat purchasing; the product also has a </a:t>
            </a:r>
            <a:r>
              <a:rPr lang="en-IN" sz="1200" b="1" dirty="0">
                <a:latin typeface="Arial" panose="020B0604020202020204" pitchFamily="34" charset="0"/>
                <a:cs typeface="Arial" panose="020B0604020202020204" pitchFamily="34" charset="0"/>
              </a:rPr>
              <a:t>20% Second Purchase Rate</a:t>
            </a:r>
            <a:r>
              <a:rPr lang="en-IN" sz="1200" dirty="0">
                <a:latin typeface="Arial" panose="020B0604020202020204" pitchFamily="34" charset="0"/>
                <a:cs typeface="Arial" panose="020B0604020202020204" pitchFamily="34" charset="0"/>
              </a:rPr>
              <a:t>.</a:t>
            </a:r>
          </a:p>
          <a:p>
            <a:r>
              <a:rPr lang="en-IN" sz="1200" b="1" dirty="0">
                <a:latin typeface="Arial" panose="020B0604020202020204" pitchFamily="34" charset="0"/>
                <a:cs typeface="Arial" panose="020B0604020202020204" pitchFamily="34" charset="0"/>
              </a:rPr>
              <a:t>Insight:</a:t>
            </a:r>
            <a:r>
              <a:rPr lang="en-IN" sz="1200" dirty="0">
                <a:latin typeface="Arial" panose="020B0604020202020204" pitchFamily="34" charset="0"/>
                <a:cs typeface="Arial" panose="020B0604020202020204" pitchFamily="34" charset="0"/>
              </a:rPr>
              <a:t> Running Shoes are a major revenue-generating product with both strong acquisition volume and some repeat-purchase activity, making them an important product to protect and grow.</a:t>
            </a:r>
          </a:p>
          <a:p>
            <a:r>
              <a:rPr lang="en-IN" sz="1200" b="1" dirty="0">
                <a:latin typeface="Arial" panose="020B0604020202020204" pitchFamily="34" charset="0"/>
                <a:cs typeface="Arial" panose="020B0604020202020204" pitchFamily="34" charset="0"/>
              </a:rPr>
              <a:t>Recommendation:</a:t>
            </a:r>
            <a:r>
              <a:rPr lang="en-IN" sz="1200" dirty="0">
                <a:latin typeface="Arial" panose="020B0604020202020204" pitchFamily="34" charset="0"/>
                <a:cs typeface="Arial" panose="020B0604020202020204" pitchFamily="34" charset="0"/>
              </a:rPr>
              <a:t> Prioritize </a:t>
            </a:r>
            <a:r>
              <a:rPr lang="en-IN" sz="1200" b="1" dirty="0">
                <a:latin typeface="Arial" panose="020B0604020202020204" pitchFamily="34" charset="0"/>
                <a:cs typeface="Arial" panose="020B0604020202020204" pitchFamily="34" charset="0"/>
              </a:rPr>
              <a:t>inventory availability, targeted cross-selling, and retention campaigns</a:t>
            </a:r>
            <a:r>
              <a:rPr lang="en-IN" sz="1200" dirty="0">
                <a:latin typeface="Arial" panose="020B0604020202020204" pitchFamily="34" charset="0"/>
                <a:cs typeface="Arial" panose="020B0604020202020204" pitchFamily="34" charset="0"/>
              </a:rPr>
              <a:t> for Running Shoes customers to increase repeat purchases and customer value.</a:t>
            </a:r>
          </a:p>
          <a:p>
            <a:r>
              <a:rPr lang="en-IN" sz="1200" b="1" dirty="0">
                <a:latin typeface="Arial" panose="020B0604020202020204" pitchFamily="34" charset="0"/>
                <a:cs typeface="Arial" panose="020B0604020202020204" pitchFamily="34" charset="0"/>
              </a:rPr>
              <a:t>KPI to monitor:</a:t>
            </a:r>
            <a:r>
              <a:rPr lang="en-IN" sz="1200" dirty="0">
                <a:latin typeface="Arial" panose="020B0604020202020204" pitchFamily="34" charset="0"/>
                <a:cs typeface="Arial" panose="020B0604020202020204" pitchFamily="34" charset="0"/>
              </a:rPr>
              <a:t> </a:t>
            </a:r>
            <a:r>
              <a:rPr lang="en-IN" sz="1200" b="1" dirty="0">
                <a:latin typeface="Arial" panose="020B0604020202020204" pitchFamily="34" charset="0"/>
                <a:cs typeface="Arial" panose="020B0604020202020204" pitchFamily="34" charset="0"/>
              </a:rPr>
              <a:t>Product Revenue, Orders, Customers, AOV, Purchase Frequency, Second Purchase Rate, and Returning Customer Revenue.</a:t>
            </a:r>
            <a:endParaRPr lang="en-IN" sz="1200" dirty="0">
              <a:latin typeface="Arial" panose="020B0604020202020204" pitchFamily="34" charset="0"/>
              <a:cs typeface="Arial" panose="020B0604020202020204" pitchFamily="34" charset="0"/>
            </a:endParaRPr>
          </a:p>
          <a:p>
            <a:endParaRPr lang="en-IN" sz="1200" b="1" dirty="0">
              <a:latin typeface="Arial" panose="020B0604020202020204" pitchFamily="34" charset="0"/>
              <a:cs typeface="Arial" panose="020B0604020202020204" pitchFamily="34" charset="0"/>
            </a:endParaRPr>
          </a:p>
          <a:p>
            <a:endParaRPr lang="en-IN" sz="1200" b="1" dirty="0">
              <a:latin typeface="Arial" panose="020B0604020202020204" pitchFamily="34" charset="0"/>
              <a:cs typeface="Arial" panose="020B0604020202020204" pitchFamily="34" charset="0"/>
            </a:endParaRPr>
          </a:p>
          <a:p>
            <a:r>
              <a:rPr lang="en-IN" sz="1200" b="1" dirty="0">
                <a:latin typeface="Arial" panose="020B0604020202020204" pitchFamily="34" charset="0"/>
                <a:cs typeface="Arial" panose="020B0604020202020204" pitchFamily="34" charset="0"/>
              </a:rPr>
              <a:t>Lowest Product Type Insight: Finding:</a:t>
            </a:r>
            <a:r>
              <a:rPr lang="en-IN" sz="1200" dirty="0">
                <a:latin typeface="Arial" panose="020B0604020202020204" pitchFamily="34" charset="0"/>
                <a:cs typeface="Arial" panose="020B0604020202020204" pitchFamily="34" charset="0"/>
              </a:rPr>
              <a:t> Water Shoes generated only </a:t>
            </a:r>
            <a:r>
              <a:rPr lang="en-IN" sz="1200" b="1" dirty="0">
                <a:latin typeface="Arial" panose="020B0604020202020204" pitchFamily="34" charset="0"/>
                <a:cs typeface="Arial" panose="020B0604020202020204" pitchFamily="34" charset="0"/>
              </a:rPr>
              <a:t>2.80K revenue from 5 customers and 5 orders</a:t>
            </a:r>
            <a:r>
              <a:rPr lang="en-IN" sz="1200" dirty="0">
                <a:latin typeface="Arial" panose="020B0604020202020204" pitchFamily="34" charset="0"/>
                <a:cs typeface="Arial" panose="020B0604020202020204" pitchFamily="34" charset="0"/>
              </a:rPr>
              <a:t>, with </a:t>
            </a:r>
            <a:r>
              <a:rPr lang="en-IN" sz="1200" b="1" dirty="0">
                <a:latin typeface="Arial" panose="020B0604020202020204" pitchFamily="34" charset="0"/>
                <a:cs typeface="Arial" panose="020B0604020202020204" pitchFamily="34" charset="0"/>
              </a:rPr>
              <a:t>purchase frequency of 1.00</a:t>
            </a:r>
            <a:r>
              <a:rPr lang="en-IN" sz="1200" dirty="0">
                <a:latin typeface="Arial" panose="020B0604020202020204" pitchFamily="34" charset="0"/>
                <a:cs typeface="Arial" panose="020B0604020202020204" pitchFamily="34" charset="0"/>
              </a:rPr>
              <a:t> and </a:t>
            </a:r>
            <a:r>
              <a:rPr lang="en-IN" sz="1200" b="1" dirty="0">
                <a:latin typeface="Arial" panose="020B0604020202020204" pitchFamily="34" charset="0"/>
                <a:cs typeface="Arial" panose="020B0604020202020204" pitchFamily="34" charset="0"/>
              </a:rPr>
              <a:t>AOV of 559.60</a:t>
            </a:r>
            <a:r>
              <a:rPr lang="en-IN" sz="1200" dirty="0">
                <a:latin typeface="Arial" panose="020B0604020202020204" pitchFamily="34" charset="0"/>
                <a:cs typeface="Arial" panose="020B0604020202020204" pitchFamily="34" charset="0"/>
              </a:rPr>
              <a:t>.</a:t>
            </a:r>
          </a:p>
          <a:p>
            <a:r>
              <a:rPr lang="en-IN" sz="1200" b="1" dirty="0">
                <a:latin typeface="Arial" panose="020B0604020202020204" pitchFamily="34" charset="0"/>
                <a:cs typeface="Arial" panose="020B0604020202020204" pitchFamily="34" charset="0"/>
              </a:rPr>
              <a:t>Comparison:</a:t>
            </a:r>
            <a:r>
              <a:rPr lang="en-IN" sz="1200" dirty="0">
                <a:latin typeface="Arial" panose="020B0604020202020204" pitchFamily="34" charset="0"/>
                <a:cs typeface="Arial" panose="020B0604020202020204" pitchFamily="34" charset="0"/>
              </a:rPr>
              <a:t> Water Shoes have extremely low customer and order volume compared with Running Shoes, which generated </a:t>
            </a:r>
            <a:r>
              <a:rPr lang="en-IN" sz="1200" b="1" dirty="0">
                <a:latin typeface="Arial" panose="020B0604020202020204" pitchFamily="34" charset="0"/>
                <a:cs typeface="Arial" panose="020B0604020202020204" pitchFamily="34" charset="0"/>
              </a:rPr>
              <a:t>1.62M revenue</a:t>
            </a:r>
            <a:r>
              <a:rPr lang="en-IN" sz="1200" dirty="0">
                <a:latin typeface="Arial" panose="020B0604020202020204" pitchFamily="34" charset="0"/>
                <a:cs typeface="Arial" panose="020B0604020202020204" pitchFamily="34" charset="0"/>
              </a:rPr>
              <a:t>.</a:t>
            </a:r>
          </a:p>
          <a:p>
            <a:r>
              <a:rPr lang="en-IN" sz="1200" b="1" dirty="0">
                <a:latin typeface="Arial" panose="020B0604020202020204" pitchFamily="34" charset="0"/>
                <a:cs typeface="Arial" panose="020B0604020202020204" pitchFamily="34" charset="0"/>
              </a:rPr>
              <a:t>Driver:</a:t>
            </a:r>
            <a:r>
              <a:rPr lang="en-IN" sz="1200" dirty="0">
                <a:latin typeface="Arial" panose="020B0604020202020204" pitchFamily="34" charset="0"/>
                <a:cs typeface="Arial" panose="020B0604020202020204" pitchFamily="34" charset="0"/>
              </a:rPr>
              <a:t> The immediate observable driver is </a:t>
            </a:r>
            <a:r>
              <a:rPr lang="en-IN" sz="1200" b="1" dirty="0">
                <a:latin typeface="Arial" panose="020B0604020202020204" pitchFamily="34" charset="0"/>
                <a:cs typeface="Arial" panose="020B0604020202020204" pitchFamily="34" charset="0"/>
              </a:rPr>
              <a:t>very low customer and order volume</a:t>
            </a:r>
            <a:r>
              <a:rPr lang="en-IN" sz="1200" dirty="0">
                <a:latin typeface="Arial" panose="020B0604020202020204" pitchFamily="34" charset="0"/>
                <a:cs typeface="Arial" panose="020B0604020202020204" pitchFamily="34" charset="0"/>
              </a:rPr>
              <a:t>, while the </a:t>
            </a:r>
            <a:r>
              <a:rPr lang="en-IN" sz="1200" b="1" dirty="0">
                <a:latin typeface="Arial" panose="020B0604020202020204" pitchFamily="34" charset="0"/>
                <a:cs typeface="Arial" panose="020B0604020202020204" pitchFamily="34" charset="0"/>
              </a:rPr>
              <a:t>Second Purchase Rate is 0%</a:t>
            </a:r>
            <a:r>
              <a:rPr lang="en-IN" sz="1200" dirty="0">
                <a:latin typeface="Arial" panose="020B0604020202020204" pitchFamily="34" charset="0"/>
                <a:cs typeface="Arial" panose="020B0604020202020204" pitchFamily="34" charset="0"/>
              </a:rPr>
              <a:t>, indicating no observed second purchase under the current measure.</a:t>
            </a:r>
          </a:p>
          <a:p>
            <a:r>
              <a:rPr lang="en-IN" sz="1200" b="1" dirty="0">
                <a:latin typeface="Arial" panose="020B0604020202020204" pitchFamily="34" charset="0"/>
                <a:cs typeface="Arial" panose="020B0604020202020204" pitchFamily="34" charset="0"/>
              </a:rPr>
              <a:t>Insight:</a:t>
            </a:r>
            <a:r>
              <a:rPr lang="en-IN" sz="1200" dirty="0">
                <a:latin typeface="Arial" panose="020B0604020202020204" pitchFamily="34" charset="0"/>
                <a:cs typeface="Arial" panose="020B0604020202020204" pitchFamily="34" charset="0"/>
              </a:rPr>
              <a:t> Water Shoes have limited observed demand and no observed repeat purchasing, but the dataset alone does not establish whether the issue is product demand, customer acquisition, seasonality, or product positioning.</a:t>
            </a:r>
          </a:p>
          <a:p>
            <a:r>
              <a:rPr lang="en-IN" sz="1200" b="1" dirty="0">
                <a:latin typeface="Arial" panose="020B0604020202020204" pitchFamily="34" charset="0"/>
                <a:cs typeface="Arial" panose="020B0604020202020204" pitchFamily="34" charset="0"/>
              </a:rPr>
              <a:t>Recommendation:</a:t>
            </a:r>
            <a:r>
              <a:rPr lang="en-IN" sz="1200" dirty="0">
                <a:latin typeface="Arial" panose="020B0604020202020204" pitchFamily="34" charset="0"/>
                <a:cs typeface="Arial" panose="020B0604020202020204" pitchFamily="34" charset="0"/>
              </a:rPr>
              <a:t> </a:t>
            </a:r>
            <a:r>
              <a:rPr lang="en-IN" sz="1200" b="1" dirty="0">
                <a:latin typeface="Arial" panose="020B0604020202020204" pitchFamily="34" charset="0"/>
                <a:cs typeface="Arial" panose="020B0604020202020204" pitchFamily="34" charset="0"/>
              </a:rPr>
              <a:t>Investigate demand first</a:t>
            </a:r>
            <a:r>
              <a:rPr lang="en-IN" sz="1200" dirty="0">
                <a:latin typeface="Arial" panose="020B0604020202020204" pitchFamily="34" charset="0"/>
                <a:cs typeface="Arial" panose="020B0604020202020204" pitchFamily="34" charset="0"/>
              </a:rPr>
              <a:t> by comparing Water Shoes with similar products, customer locations, and sales periods before increasing promotions or inventory; consider a targeted test rather than assuming discounts will solve the problem.</a:t>
            </a:r>
          </a:p>
          <a:p>
            <a:r>
              <a:rPr lang="en-IN" sz="1200" b="1" dirty="0">
                <a:latin typeface="Arial" panose="020B0604020202020204" pitchFamily="34" charset="0"/>
                <a:cs typeface="Arial" panose="020B0604020202020204" pitchFamily="34" charset="0"/>
              </a:rPr>
              <a:t>KPI to monitor:</a:t>
            </a:r>
            <a:r>
              <a:rPr lang="en-IN" sz="1200" dirty="0">
                <a:latin typeface="Arial" panose="020B0604020202020204" pitchFamily="34" charset="0"/>
                <a:cs typeface="Arial" panose="020B0604020202020204" pitchFamily="34" charset="0"/>
              </a:rPr>
              <a:t> </a:t>
            </a:r>
            <a:r>
              <a:rPr lang="en-IN" sz="1200" b="1" dirty="0">
                <a:latin typeface="Arial" panose="020B0604020202020204" pitchFamily="34" charset="0"/>
                <a:cs typeface="Arial" panose="020B0604020202020204" pitchFamily="34" charset="0"/>
              </a:rPr>
              <a:t>Product Revenue, Customers, Orders, AOV, Purchase Frequency, Second Purchase Rate, and Product Revenue Share.</a:t>
            </a:r>
            <a:endParaRPr lang="en-IN" sz="1200" dirty="0">
              <a:latin typeface="Arial" panose="020B0604020202020204" pitchFamily="34" charset="0"/>
              <a:cs typeface="Arial" panose="020B0604020202020204" pitchFamily="34" charset="0"/>
            </a:endParaRPr>
          </a:p>
          <a:p>
            <a:endParaRPr lang="en-IN"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5487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9595E8-272B-8EA9-39BC-DEEF7BE0073A}"/>
              </a:ext>
            </a:extLst>
          </p:cNvPr>
          <p:cNvSpPr txBox="1"/>
          <p:nvPr/>
        </p:nvSpPr>
        <p:spPr>
          <a:xfrm>
            <a:off x="764722" y="476807"/>
            <a:ext cx="8248650" cy="3323987"/>
          </a:xfrm>
          <a:prstGeom prst="rect">
            <a:avLst/>
          </a:prstGeom>
          <a:noFill/>
        </p:spPr>
        <p:txBody>
          <a:bodyPr wrap="square">
            <a:spAutoFit/>
          </a:bodyPr>
          <a:lstStyle/>
          <a:p>
            <a:pPr>
              <a:buNone/>
            </a:pPr>
            <a:r>
              <a:rPr lang="en-IN" sz="1400" b="1" dirty="0">
                <a:effectLst/>
                <a:latin typeface="Arial" panose="020B0604020202020204" pitchFamily="34" charset="0"/>
                <a:cs typeface="Arial" panose="020B0604020202020204" pitchFamily="34" charset="0"/>
              </a:rPr>
              <a:t>Final Business Insights:</a:t>
            </a:r>
            <a:r>
              <a:rPr lang="en-IN" sz="1400" dirty="0">
                <a:effectLst/>
                <a:latin typeface="Arial" panose="020B0604020202020204" pitchFamily="34" charset="0"/>
                <a:cs typeface="Arial" panose="020B0604020202020204" pitchFamily="34" charset="0"/>
              </a:rPr>
              <a:t> Overall, three key insights emerged from the analysis.</a:t>
            </a:r>
            <a:endParaRPr lang="en-IN" sz="1400" dirty="0">
              <a:latin typeface="Arial" panose="020B0604020202020204" pitchFamily="34" charset="0"/>
              <a:cs typeface="Arial" panose="020B0604020202020204" pitchFamily="34" charset="0"/>
            </a:endParaRPr>
          </a:p>
          <a:p>
            <a:pPr>
              <a:buNone/>
            </a:pPr>
            <a:r>
              <a:rPr lang="en-IN" sz="1400" dirty="0">
                <a:effectLst/>
                <a:latin typeface="Arial" panose="020B0604020202020204" pitchFamily="34" charset="0"/>
                <a:cs typeface="Arial" panose="020B0604020202020204" pitchFamily="34" charset="0"/>
              </a:rPr>
              <a:t>First, revenue is strongly influenced by customer and order volume.</a:t>
            </a:r>
            <a:endParaRPr lang="en-IN" sz="1400" dirty="0">
              <a:latin typeface="Arial" panose="020B0604020202020204" pitchFamily="34" charset="0"/>
              <a:cs typeface="Arial" panose="020B0604020202020204" pitchFamily="34" charset="0"/>
            </a:endParaRPr>
          </a:p>
          <a:p>
            <a:pPr>
              <a:buNone/>
            </a:pPr>
            <a:r>
              <a:rPr lang="en-IN" sz="1400" dirty="0">
                <a:effectLst/>
                <a:latin typeface="Arial" panose="020B0604020202020204" pitchFamily="34" charset="0"/>
                <a:cs typeface="Arial" panose="020B0604020202020204" pitchFamily="34" charset="0"/>
              </a:rPr>
              <a:t>Second, new customers are an important revenue source, while returning customers generate additional value through higher purchase frequency.</a:t>
            </a:r>
            <a:endParaRPr lang="en-IN" sz="1400" dirty="0">
              <a:latin typeface="Arial" panose="020B0604020202020204" pitchFamily="34" charset="0"/>
              <a:cs typeface="Arial" panose="020B0604020202020204" pitchFamily="34" charset="0"/>
            </a:endParaRPr>
          </a:p>
          <a:p>
            <a:pPr>
              <a:buNone/>
            </a:pPr>
            <a:r>
              <a:rPr lang="en-IN" sz="1400" dirty="0">
                <a:effectLst/>
                <a:latin typeface="Arial" panose="020B0604020202020204" pitchFamily="34" charset="0"/>
                <a:cs typeface="Arial" panose="020B0604020202020204" pitchFamily="34" charset="0"/>
              </a:rPr>
              <a:t>Third, high-performing products and customer segments represent important opportunities, while low-performing cities and products require further investigation before taking corrective action.</a:t>
            </a:r>
          </a:p>
          <a:p>
            <a:pPr>
              <a:buNone/>
            </a:pPr>
            <a:endParaRPr lang="en-IN" sz="1400" dirty="0">
              <a:latin typeface="Arial" panose="020B0604020202020204" pitchFamily="34" charset="0"/>
              <a:cs typeface="Arial" panose="020B0604020202020204" pitchFamily="34" charset="0"/>
            </a:endParaRPr>
          </a:p>
          <a:p>
            <a:pPr>
              <a:buNone/>
            </a:pPr>
            <a:endParaRPr lang="en-IN" sz="1400" dirty="0">
              <a:latin typeface="Arial" panose="020B0604020202020204" pitchFamily="34" charset="0"/>
              <a:cs typeface="Arial" panose="020B0604020202020204" pitchFamily="34" charset="0"/>
            </a:endParaRPr>
          </a:p>
          <a:p>
            <a:pPr>
              <a:buNone/>
            </a:pPr>
            <a:r>
              <a:rPr lang="en-IN" sz="1400" b="1" dirty="0">
                <a:effectLst/>
                <a:latin typeface="Arial" panose="020B0604020202020204" pitchFamily="34" charset="0"/>
                <a:cs typeface="Arial" panose="020B0604020202020204" pitchFamily="34" charset="0"/>
              </a:rPr>
              <a:t>Recommendations: </a:t>
            </a:r>
            <a:r>
              <a:rPr lang="en-IN" sz="1400" dirty="0">
                <a:effectLst/>
                <a:latin typeface="Arial" panose="020B0604020202020204" pitchFamily="34" charset="0"/>
                <a:cs typeface="Arial" panose="020B0604020202020204" pitchFamily="34" charset="0"/>
              </a:rPr>
              <a:t>Based on these findings, I recommend three actions.</a:t>
            </a:r>
            <a:endParaRPr lang="en-IN" sz="1400" dirty="0">
              <a:latin typeface="Arial" panose="020B0604020202020204" pitchFamily="34" charset="0"/>
              <a:cs typeface="Arial" panose="020B0604020202020204" pitchFamily="34" charset="0"/>
            </a:endParaRPr>
          </a:p>
          <a:p>
            <a:pPr>
              <a:buNone/>
            </a:pPr>
            <a:r>
              <a:rPr lang="en-IN" sz="1400" dirty="0">
                <a:effectLst/>
                <a:latin typeface="Arial" panose="020B0604020202020204" pitchFamily="34" charset="0"/>
                <a:cs typeface="Arial" panose="020B0604020202020204" pitchFamily="34" charset="0"/>
              </a:rPr>
              <a:t>First, improve second-purchase conversion through targeted post-purchase engagement for first-time customers.</a:t>
            </a:r>
            <a:endParaRPr lang="en-IN" sz="1400" dirty="0">
              <a:latin typeface="Arial" panose="020B0604020202020204" pitchFamily="34" charset="0"/>
              <a:cs typeface="Arial" panose="020B0604020202020204" pitchFamily="34" charset="0"/>
            </a:endParaRPr>
          </a:p>
          <a:p>
            <a:pPr>
              <a:buNone/>
            </a:pPr>
            <a:r>
              <a:rPr lang="en-IN" sz="1400" dirty="0">
                <a:effectLst/>
                <a:latin typeface="Arial" panose="020B0604020202020204" pitchFamily="34" charset="0"/>
                <a:cs typeface="Arial" panose="020B0604020202020204" pitchFamily="34" charset="0"/>
              </a:rPr>
              <a:t>Second, strengthen retention and loyalty strategies for high-value and returning customers.</a:t>
            </a:r>
            <a:endParaRPr lang="en-IN" sz="1400" dirty="0">
              <a:latin typeface="Arial" panose="020B0604020202020204" pitchFamily="34" charset="0"/>
              <a:cs typeface="Arial" panose="020B0604020202020204" pitchFamily="34" charset="0"/>
            </a:endParaRPr>
          </a:p>
          <a:p>
            <a:pPr>
              <a:buNone/>
            </a:pPr>
            <a:r>
              <a:rPr lang="en-IN" sz="1400" dirty="0">
                <a:effectLst/>
                <a:latin typeface="Arial" panose="020B0604020202020204" pitchFamily="34" charset="0"/>
                <a:cs typeface="Arial" panose="020B0604020202020204" pitchFamily="34" charset="0"/>
              </a:rPr>
              <a:t>Third, investigate low-performing cities and products by separating customer volume, order volume, AOV and </a:t>
            </a:r>
            <a:r>
              <a:rPr lang="en-IN" sz="1400">
                <a:effectLst/>
                <a:latin typeface="Arial" panose="020B0604020202020204" pitchFamily="34" charset="0"/>
                <a:cs typeface="Arial" panose="020B0604020202020204" pitchFamily="34" charset="0"/>
              </a:rPr>
              <a:t>repeat behaviour </a:t>
            </a:r>
            <a:r>
              <a:rPr lang="en-IN" sz="1400" dirty="0">
                <a:effectLst/>
                <a:latin typeface="Arial" panose="020B0604020202020204" pitchFamily="34" charset="0"/>
                <a:cs typeface="Arial" panose="020B0604020202020204" pitchFamily="34" charset="0"/>
              </a:rPr>
              <a:t>before introducing discounts or other interventions.</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286888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685</TotalTime>
  <Words>2749</Words>
  <Application>Microsoft Office PowerPoint</Application>
  <PresentationFormat>Widescreen</PresentationFormat>
  <Paragraphs>322</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Trebuchet MS</vt:lpstr>
      <vt:lpstr>Wingdings 3</vt:lpstr>
      <vt:lpstr>Facet</vt:lpstr>
      <vt:lpstr>Shopify Sales and Customer Analysis</vt:lpstr>
      <vt:lpstr>Business Understanding  Project Overview: The objective of this project is to analyze Shopify sales data to understand customer purchasing behaviour, sales performance, product performance, payment preferences, and customer retention. The dashboard helps business stakeholders monitor sales KPIs and identify opportunities to improve customer acquisition, retention, and revenue growth.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Harika Challa</dc:creator>
  <cp:lastModifiedBy>Harika Challa</cp:lastModifiedBy>
  <cp:revision>1</cp:revision>
  <dcterms:created xsi:type="dcterms:W3CDTF">2026-07-29T15:58:48Z</dcterms:created>
  <dcterms:modified xsi:type="dcterms:W3CDTF">2026-07-31T17:01:40Z</dcterms:modified>
</cp:coreProperties>
</file>