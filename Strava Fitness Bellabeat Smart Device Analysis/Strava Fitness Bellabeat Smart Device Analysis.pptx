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4" r:id="rId1"/>
  </p:sldMasterIdLst>
  <p:sldIdLst>
    <p:sldId id="256" r:id="rId2"/>
    <p:sldId id="257" r:id="rId3"/>
    <p:sldId id="265" r:id="rId4"/>
    <p:sldId id="266" r:id="rId5"/>
    <p:sldId id="258" r:id="rId6"/>
    <p:sldId id="259" r:id="rId7"/>
    <p:sldId id="260" r:id="rId8"/>
    <p:sldId id="261" r:id="rId9"/>
    <p:sldId id="262" r:id="rId10"/>
    <p:sldId id="263" r:id="rId11"/>
    <p:sldId id="264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3965E52-21F7-47B2-80A7-2720F1D38208}" v="58" dt="2026-06-10T05:53:31.70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132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arika Challa" userId="135cdfd11f38c2ac" providerId="LiveId" clId="{D76684D5-5A26-45C6-AD39-980DC061D39F}"/>
    <pc:docChg chg="undo custSel addSld modSld sldOrd">
      <pc:chgData name="Harika Challa" userId="135cdfd11f38c2ac" providerId="LiveId" clId="{D76684D5-5A26-45C6-AD39-980DC061D39F}" dt="2026-06-10T05:54:17.053" v="676" actId="20577"/>
      <pc:docMkLst>
        <pc:docMk/>
      </pc:docMkLst>
      <pc:sldChg chg="modSp mod">
        <pc:chgData name="Harika Challa" userId="135cdfd11f38c2ac" providerId="LiveId" clId="{D76684D5-5A26-45C6-AD39-980DC061D39F}" dt="2026-06-09T18:07:42.435" v="436" actId="20577"/>
        <pc:sldMkLst>
          <pc:docMk/>
          <pc:sldMk cId="3515464645" sldId="256"/>
        </pc:sldMkLst>
        <pc:spChg chg="mod">
          <ac:chgData name="Harika Challa" userId="135cdfd11f38c2ac" providerId="LiveId" clId="{D76684D5-5A26-45C6-AD39-980DC061D39F}" dt="2026-06-09T18:07:42.435" v="436" actId="20577"/>
          <ac:spMkLst>
            <pc:docMk/>
            <pc:sldMk cId="3515464645" sldId="256"/>
            <ac:spMk id="3" creationId="{79804A6F-2FAE-BA38-59E4-6021D6BFA0D3}"/>
          </ac:spMkLst>
        </pc:spChg>
      </pc:sldChg>
      <pc:sldChg chg="modSp mod">
        <pc:chgData name="Harika Challa" userId="135cdfd11f38c2ac" providerId="LiveId" clId="{D76684D5-5A26-45C6-AD39-980DC061D39F}" dt="2026-06-10T05:48:21.268" v="584" actId="1076"/>
        <pc:sldMkLst>
          <pc:docMk/>
          <pc:sldMk cId="2127707211" sldId="257"/>
        </pc:sldMkLst>
        <pc:spChg chg="mod">
          <ac:chgData name="Harika Challa" userId="135cdfd11f38c2ac" providerId="LiveId" clId="{D76684D5-5A26-45C6-AD39-980DC061D39F}" dt="2026-06-10T05:48:21.268" v="584" actId="1076"/>
          <ac:spMkLst>
            <pc:docMk/>
            <pc:sldMk cId="2127707211" sldId="257"/>
            <ac:spMk id="2" creationId="{8E82631B-66B0-B898-F7AD-9CB0C0124642}"/>
          </ac:spMkLst>
        </pc:spChg>
      </pc:sldChg>
      <pc:sldChg chg="modSp mod ord">
        <pc:chgData name="Harika Challa" userId="135cdfd11f38c2ac" providerId="LiveId" clId="{D76684D5-5A26-45C6-AD39-980DC061D39F}" dt="2026-06-10T05:48:47.417" v="591"/>
        <pc:sldMkLst>
          <pc:docMk/>
          <pc:sldMk cId="4098192210" sldId="258"/>
        </pc:sldMkLst>
        <pc:spChg chg="mod">
          <ac:chgData name="Harika Challa" userId="135cdfd11f38c2ac" providerId="LiveId" clId="{D76684D5-5A26-45C6-AD39-980DC061D39F}" dt="2026-06-09T17:32:56.380" v="258" actId="255"/>
          <ac:spMkLst>
            <pc:docMk/>
            <pc:sldMk cId="4098192210" sldId="258"/>
            <ac:spMk id="2" creationId="{A6042B75-546B-A915-525A-A6702CF37977}"/>
          </ac:spMkLst>
        </pc:spChg>
        <pc:spChg chg="mod">
          <ac:chgData name="Harika Challa" userId="135cdfd11f38c2ac" providerId="LiveId" clId="{D76684D5-5A26-45C6-AD39-980DC061D39F}" dt="2026-06-09T17:32:39.361" v="254" actId="255"/>
          <ac:spMkLst>
            <pc:docMk/>
            <pc:sldMk cId="4098192210" sldId="258"/>
            <ac:spMk id="3" creationId="{8F4E303C-DFFF-4FBC-A477-A2096FDACDEE}"/>
          </ac:spMkLst>
        </pc:spChg>
      </pc:sldChg>
      <pc:sldChg chg="modSp mod">
        <pc:chgData name="Harika Challa" userId="135cdfd11f38c2ac" providerId="LiveId" clId="{D76684D5-5A26-45C6-AD39-980DC061D39F}" dt="2026-06-09T17:33:14.116" v="259" actId="255"/>
        <pc:sldMkLst>
          <pc:docMk/>
          <pc:sldMk cId="3097141351" sldId="259"/>
        </pc:sldMkLst>
        <pc:spChg chg="mod">
          <ac:chgData name="Harika Challa" userId="135cdfd11f38c2ac" providerId="LiveId" clId="{D76684D5-5A26-45C6-AD39-980DC061D39F}" dt="2026-06-09T17:33:14.116" v="259" actId="255"/>
          <ac:spMkLst>
            <pc:docMk/>
            <pc:sldMk cId="3097141351" sldId="259"/>
            <ac:spMk id="2" creationId="{647D0C97-650D-5C7D-9AAD-D067B5F4ECDB}"/>
          </ac:spMkLst>
        </pc:spChg>
      </pc:sldChg>
      <pc:sldChg chg="addSp delSp modSp new mod">
        <pc:chgData name="Harika Challa" userId="135cdfd11f38c2ac" providerId="LiveId" clId="{D76684D5-5A26-45C6-AD39-980DC061D39F}" dt="2026-06-09T17:33:20.583" v="260" actId="255"/>
        <pc:sldMkLst>
          <pc:docMk/>
          <pc:sldMk cId="1987167759" sldId="260"/>
        </pc:sldMkLst>
        <pc:spChg chg="add del mod">
          <ac:chgData name="Harika Challa" userId="135cdfd11f38c2ac" providerId="LiveId" clId="{D76684D5-5A26-45C6-AD39-980DC061D39F}" dt="2026-06-09T16:16:08.849" v="4"/>
          <ac:spMkLst>
            <pc:docMk/>
            <pc:sldMk cId="1987167759" sldId="260"/>
            <ac:spMk id="2" creationId="{9C6B7BF4-4FB3-54CF-ED84-F0BB7EF3D16F}"/>
          </ac:spMkLst>
        </pc:spChg>
        <pc:spChg chg="add mod">
          <ac:chgData name="Harika Challa" userId="135cdfd11f38c2ac" providerId="LiveId" clId="{D76684D5-5A26-45C6-AD39-980DC061D39F}" dt="2026-06-09T17:33:20.583" v="260" actId="255"/>
          <ac:spMkLst>
            <pc:docMk/>
            <pc:sldMk cId="1987167759" sldId="260"/>
            <ac:spMk id="3" creationId="{E0A1C0B9-99BE-71B1-9AED-EC844365F7F8}"/>
          </ac:spMkLst>
        </pc:spChg>
      </pc:sldChg>
      <pc:sldChg chg="addSp modSp new mod">
        <pc:chgData name="Harika Challa" userId="135cdfd11f38c2ac" providerId="LiveId" clId="{D76684D5-5A26-45C6-AD39-980DC061D39F}" dt="2026-06-09T17:33:26.991" v="261" actId="255"/>
        <pc:sldMkLst>
          <pc:docMk/>
          <pc:sldMk cId="1067084263" sldId="261"/>
        </pc:sldMkLst>
        <pc:spChg chg="add mod">
          <ac:chgData name="Harika Challa" userId="135cdfd11f38c2ac" providerId="LiveId" clId="{D76684D5-5A26-45C6-AD39-980DC061D39F}" dt="2026-06-09T17:33:26.991" v="261" actId="255"/>
          <ac:spMkLst>
            <pc:docMk/>
            <pc:sldMk cId="1067084263" sldId="261"/>
            <ac:spMk id="2" creationId="{399CC976-537A-0D86-102F-040B4FB07A17}"/>
          </ac:spMkLst>
        </pc:spChg>
      </pc:sldChg>
      <pc:sldChg chg="addSp modSp new mod">
        <pc:chgData name="Harika Challa" userId="135cdfd11f38c2ac" providerId="LiveId" clId="{D76684D5-5A26-45C6-AD39-980DC061D39F}" dt="2026-06-09T17:22:46.561" v="224" actId="113"/>
        <pc:sldMkLst>
          <pc:docMk/>
          <pc:sldMk cId="1605819163" sldId="262"/>
        </pc:sldMkLst>
        <pc:spChg chg="add mod">
          <ac:chgData name="Harika Challa" userId="135cdfd11f38c2ac" providerId="LiveId" clId="{D76684D5-5A26-45C6-AD39-980DC061D39F}" dt="2026-06-09T17:22:46.561" v="224" actId="113"/>
          <ac:spMkLst>
            <pc:docMk/>
            <pc:sldMk cId="1605819163" sldId="262"/>
            <ac:spMk id="2" creationId="{702B8A2F-9FED-35B9-5DFB-860B99870915}"/>
          </ac:spMkLst>
        </pc:spChg>
      </pc:sldChg>
      <pc:sldChg chg="addSp modSp new mod">
        <pc:chgData name="Harika Challa" userId="135cdfd11f38c2ac" providerId="LiveId" clId="{D76684D5-5A26-45C6-AD39-980DC061D39F}" dt="2026-06-09T17:46:29.689" v="303" actId="20577"/>
        <pc:sldMkLst>
          <pc:docMk/>
          <pc:sldMk cId="74733362" sldId="263"/>
        </pc:sldMkLst>
        <pc:spChg chg="add mod">
          <ac:chgData name="Harika Challa" userId="135cdfd11f38c2ac" providerId="LiveId" clId="{D76684D5-5A26-45C6-AD39-980DC061D39F}" dt="2026-06-09T17:46:29.689" v="303" actId="20577"/>
          <ac:spMkLst>
            <pc:docMk/>
            <pc:sldMk cId="74733362" sldId="263"/>
            <ac:spMk id="2" creationId="{2C5442DD-F94A-9670-6147-85117ECB02CD}"/>
          </ac:spMkLst>
        </pc:spChg>
      </pc:sldChg>
      <pc:sldChg chg="addSp modSp new mod">
        <pc:chgData name="Harika Challa" userId="135cdfd11f38c2ac" providerId="LiveId" clId="{D76684D5-5A26-45C6-AD39-980DC061D39F}" dt="2026-06-09T17:59:48.806" v="374" actId="14100"/>
        <pc:sldMkLst>
          <pc:docMk/>
          <pc:sldMk cId="98072242" sldId="264"/>
        </pc:sldMkLst>
        <pc:spChg chg="add mod">
          <ac:chgData name="Harika Challa" userId="135cdfd11f38c2ac" providerId="LiveId" clId="{D76684D5-5A26-45C6-AD39-980DC061D39F}" dt="2026-06-09T17:57:51.353" v="354" actId="14100"/>
          <ac:spMkLst>
            <pc:docMk/>
            <pc:sldMk cId="98072242" sldId="264"/>
            <ac:spMk id="2" creationId="{D342595D-22DF-5187-8C3A-E562DFF7B57D}"/>
          </ac:spMkLst>
        </pc:spChg>
        <pc:spChg chg="add mod">
          <ac:chgData name="Harika Challa" userId="135cdfd11f38c2ac" providerId="LiveId" clId="{D76684D5-5A26-45C6-AD39-980DC061D39F}" dt="2026-06-09T17:58:02.428" v="356" actId="14100"/>
          <ac:spMkLst>
            <pc:docMk/>
            <pc:sldMk cId="98072242" sldId="264"/>
            <ac:spMk id="4" creationId="{8C1D0072-A8FD-5DF8-0A56-50EDAB528827}"/>
          </ac:spMkLst>
        </pc:spChg>
        <pc:spChg chg="add mod">
          <ac:chgData name="Harika Challa" userId="135cdfd11f38c2ac" providerId="LiveId" clId="{D76684D5-5A26-45C6-AD39-980DC061D39F}" dt="2026-06-09T17:59:48.806" v="374" actId="14100"/>
          <ac:spMkLst>
            <pc:docMk/>
            <pc:sldMk cId="98072242" sldId="264"/>
            <ac:spMk id="5" creationId="{65D7A25A-C44F-E588-02CF-5053C02E142E}"/>
          </ac:spMkLst>
        </pc:spChg>
        <pc:graphicFrameChg chg="add mod modGraphic">
          <ac:chgData name="Harika Challa" userId="135cdfd11f38c2ac" providerId="LiveId" clId="{D76684D5-5A26-45C6-AD39-980DC061D39F}" dt="2026-06-09T17:58:14.121" v="358" actId="1076"/>
          <ac:graphicFrameMkLst>
            <pc:docMk/>
            <pc:sldMk cId="98072242" sldId="264"/>
            <ac:graphicFrameMk id="3" creationId="{0D816098-5DB7-6BA9-3B77-773B1DF4A6A9}"/>
          </ac:graphicFrameMkLst>
        </pc:graphicFrameChg>
      </pc:sldChg>
      <pc:sldChg chg="addSp modSp new mod">
        <pc:chgData name="Harika Challa" userId="135cdfd11f38c2ac" providerId="LiveId" clId="{D76684D5-5A26-45C6-AD39-980DC061D39F}" dt="2026-06-10T05:51:49.530" v="643" actId="1076"/>
        <pc:sldMkLst>
          <pc:docMk/>
          <pc:sldMk cId="3203104863" sldId="265"/>
        </pc:sldMkLst>
        <pc:spChg chg="add mod">
          <ac:chgData name="Harika Challa" userId="135cdfd11f38c2ac" providerId="LiveId" clId="{D76684D5-5A26-45C6-AD39-980DC061D39F}" dt="2026-06-10T05:51:49.530" v="643" actId="1076"/>
          <ac:spMkLst>
            <pc:docMk/>
            <pc:sldMk cId="3203104863" sldId="265"/>
            <ac:spMk id="2" creationId="{767BDE50-7C4C-655F-80FD-DD16E27F83AE}"/>
          </ac:spMkLst>
        </pc:spChg>
      </pc:sldChg>
      <pc:sldChg chg="addSp delSp modSp new mod">
        <pc:chgData name="Harika Challa" userId="135cdfd11f38c2ac" providerId="LiveId" clId="{D76684D5-5A26-45C6-AD39-980DC061D39F}" dt="2026-06-10T05:54:17.053" v="676" actId="20577"/>
        <pc:sldMkLst>
          <pc:docMk/>
          <pc:sldMk cId="161509320" sldId="266"/>
        </pc:sldMkLst>
        <pc:spChg chg="add del mod">
          <ac:chgData name="Harika Challa" userId="135cdfd11f38c2ac" providerId="LiveId" clId="{D76684D5-5A26-45C6-AD39-980DC061D39F}" dt="2026-06-10T05:52:16.433" v="647"/>
          <ac:spMkLst>
            <pc:docMk/>
            <pc:sldMk cId="161509320" sldId="266"/>
            <ac:spMk id="2" creationId="{1FEF187D-8CF6-B787-CC6D-B6E9A95B1C8F}"/>
          </ac:spMkLst>
        </pc:spChg>
        <pc:spChg chg="add mod">
          <ac:chgData name="Harika Challa" userId="135cdfd11f38c2ac" providerId="LiveId" clId="{D76684D5-5A26-45C6-AD39-980DC061D39F}" dt="2026-06-10T05:54:17.053" v="676" actId="20577"/>
          <ac:spMkLst>
            <pc:docMk/>
            <pc:sldMk cId="161509320" sldId="266"/>
            <ac:spMk id="3" creationId="{66B506B9-35D6-DBDF-E70A-6519EBE001E4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03405"/>
            <a:ext cx="94488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32201"/>
            <a:ext cx="94488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09561" y="4314328"/>
            <a:ext cx="2910840" cy="374642"/>
          </a:xfrm>
        </p:spPr>
        <p:txBody>
          <a:bodyPr/>
          <a:lstStyle/>
          <a:p>
            <a:fld id="{BCB5831C-E407-4FF1-9894-16C0AEA33786}" type="datetimeFigureOut">
              <a:rPr lang="en-IN" smtClean="0"/>
              <a:t>10-06-2026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4323845"/>
            <a:ext cx="6400800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1430866"/>
            <a:ext cx="2743200" cy="365125"/>
          </a:xfrm>
        </p:spPr>
        <p:txBody>
          <a:bodyPr/>
          <a:lstStyle/>
          <a:p>
            <a:fld id="{CE7EF351-819F-4DFE-8775-1F94AA407C8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798307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B5831C-E407-4FF1-9894-16C0AEA33786}" type="datetimeFigureOut">
              <a:rPr lang="en-IN" smtClean="0"/>
              <a:t>10-06-2026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7EF351-819F-4DFE-8775-1F94AA407C8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19682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3"/>
            <a:ext cx="10820399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467" y="3641725"/>
            <a:ext cx="10490200" cy="955675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BCB5831C-E407-4FF1-9894-16C0AEA33786}" type="datetimeFigureOut">
              <a:rPr lang="en-IN" smtClean="0"/>
              <a:t>10-06-2026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1"/>
            <a:ext cx="6991492" cy="36406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CE7EF351-819F-4DFE-8775-1F94AA407C8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621915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B5831C-E407-4FF1-9894-16C0AEA33786}" type="datetimeFigureOut">
              <a:rPr lang="en-IN" smtClean="0"/>
              <a:t>10-06-2026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7EF351-819F-4DFE-8775-1F94AA407C8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187945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600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9" y="2183802"/>
            <a:ext cx="50799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3132666"/>
            <a:ext cx="5311775" cy="30860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0" y="2183802"/>
            <a:ext cx="5105400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132666"/>
            <a:ext cx="5334000" cy="30860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B5831C-E407-4FF1-9894-16C0AEA33786}" type="datetimeFigureOut">
              <a:rPr lang="en-IN" smtClean="0"/>
              <a:t>10-06-2026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7EF351-819F-4DFE-8775-1F94AA407C8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264001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B5831C-E407-4FF1-9894-16C0AEA33786}" type="datetimeFigureOut">
              <a:rPr lang="en-IN" smtClean="0"/>
              <a:t>10-06-2026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7EF351-819F-4DFE-8775-1F94AA407C8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18968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B5831C-E407-4FF1-9894-16C0AEA33786}" type="datetimeFigureOut">
              <a:rPr lang="en-IN" smtClean="0"/>
              <a:t>10-06-2026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7EF351-819F-4DFE-8775-1F94AA407C8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956206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41148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95582" y="746759"/>
            <a:ext cx="6510618" cy="5471925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411480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B5831C-E407-4FF1-9894-16C0AEA33786}" type="datetimeFigureOut">
              <a:rPr lang="en-IN" smtClean="0"/>
              <a:t>10-06-2026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7EF351-819F-4DFE-8775-1F94AA407C8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14818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687324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861238" y="751241"/>
            <a:ext cx="3644962" cy="546744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687324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B5831C-E407-4FF1-9894-16C0AEA33786}" type="datetimeFigureOut">
              <a:rPr lang="en-IN" smtClean="0"/>
              <a:t>10-06-2026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7EF351-819F-4DFE-8775-1F94AA407C8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306085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77" y="4697360"/>
            <a:ext cx="10822034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1727" y="941439"/>
            <a:ext cx="10821840" cy="3478161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516715"/>
            <a:ext cx="10820400" cy="701969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B5831C-E407-4FF1-9894-16C0AEA33786}" type="datetimeFigureOut">
              <a:rPr lang="en-IN" smtClean="0"/>
              <a:t>10-06-2026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7EF351-819F-4DFE-8775-1F94AA407C8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763392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2"/>
            <a:ext cx="1082040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9133"/>
            <a:ext cx="10130516" cy="99906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BCB5831C-E407-4FF1-9894-16C0AEA33786}" type="datetimeFigureOut">
              <a:rPr lang="en-IN" smtClean="0"/>
              <a:t>10-06-2026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CE7EF351-819F-4DFE-8775-1F94AA407C8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1542532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67" y="753533"/>
            <a:ext cx="10151533" cy="2604495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303865" y="3365556"/>
            <a:ext cx="9592736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959862"/>
            <a:ext cx="10151533" cy="679871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BCB5831C-E407-4FF1-9894-16C0AEA33786}" type="datetimeFigureOut">
              <a:rPr lang="en-IN" smtClean="0"/>
              <a:t>10-06-2026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CE7EF351-819F-4DFE-8775-1F94AA407C8A}" type="slidenum">
              <a:rPr lang="en-IN" smtClean="0"/>
              <a:t>‹#›</a:t>
            </a:fld>
            <a:endParaRPr lang="en-IN"/>
          </a:p>
        </p:txBody>
      </p:sp>
      <p:sp>
        <p:nvSpPr>
          <p:cNvPr id="9" name="TextBox 8"/>
          <p:cNvSpPr txBox="1"/>
          <p:nvPr/>
        </p:nvSpPr>
        <p:spPr>
          <a:xfrm>
            <a:off x="476250" y="93345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84230" y="270129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19156596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95" y="1124701"/>
            <a:ext cx="10146186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8315"/>
            <a:ext cx="10144654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78883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BCB5831C-E407-4FF1-9894-16C0AEA33786}" type="datetimeFigureOut">
              <a:rPr lang="en-IN" smtClean="0"/>
              <a:t>10-06-2026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8883"/>
            <a:ext cx="6991492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CE7EF351-819F-4DFE-8775-1F94AA407C8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100094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895600" y="761999"/>
            <a:ext cx="8610599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0" y="2202080"/>
            <a:ext cx="3456432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799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68800" y="2201333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366858" y="2904067"/>
            <a:ext cx="3456432" cy="331461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51800" y="2192866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8051801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B5831C-E407-4FF1-9894-16C0AEA33786}" type="datetimeFigureOut">
              <a:rPr lang="en-IN" smtClean="0"/>
              <a:t>10-06-2026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7EF351-819F-4DFE-8775-1F94AA407C8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1026450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599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8618" y="4191000"/>
            <a:ext cx="3451582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8618" y="2362200"/>
            <a:ext cx="3451582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8618" y="4873764"/>
            <a:ext cx="3451582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74263" y="4191000"/>
            <a:ext cx="3448935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374263" y="2362200"/>
            <a:ext cx="3448936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374264" y="4873763"/>
            <a:ext cx="344893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49731" y="4191000"/>
            <a:ext cx="3456469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49855" y="2362200"/>
            <a:ext cx="3447878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8049731" y="4873761"/>
            <a:ext cx="345244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B5831C-E407-4FF1-9894-16C0AEA33786}" type="datetimeFigureOut">
              <a:rPr lang="en-IN" smtClean="0"/>
              <a:t>10-06-2026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7EF351-819F-4DFE-8775-1F94AA407C8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795593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194559"/>
            <a:ext cx="10820400" cy="40241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B5831C-E407-4FF1-9894-16C0AEA33786}" type="datetimeFigureOut">
              <a:rPr lang="en-IN" smtClean="0"/>
              <a:t>10-06-2026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7EF351-819F-4DFE-8775-1F94AA407C8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4756497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48800" y="745066"/>
            <a:ext cx="2057400" cy="3903133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4466" y="745067"/>
            <a:ext cx="8204201" cy="390313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79941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BCB5831C-E407-4FF1-9894-16C0AEA33786}" type="datetimeFigureOut">
              <a:rPr lang="en-IN" smtClean="0"/>
              <a:t>10-06-2026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0"/>
            <a:ext cx="6991492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CE7EF351-819F-4DFE-8775-1F94AA407C8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22103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B5831C-E407-4FF1-9894-16C0AEA33786}" type="datetimeFigureOut">
              <a:rPr lang="en-IN" smtClean="0"/>
              <a:t>10-06-2026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E7EF351-819F-4DFE-8775-1F94AA407C8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620982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5" r:id="rId1"/>
    <p:sldLayoutId id="2147483716" r:id="rId2"/>
    <p:sldLayoutId id="2147483717" r:id="rId3"/>
    <p:sldLayoutId id="2147483718" r:id="rId4"/>
    <p:sldLayoutId id="2147483719" r:id="rId5"/>
    <p:sldLayoutId id="2147483720" r:id="rId6"/>
    <p:sldLayoutId id="2147483721" r:id="rId7"/>
    <p:sldLayoutId id="2147483722" r:id="rId8"/>
    <p:sldLayoutId id="2147483723" r:id="rId9"/>
    <p:sldLayoutId id="2147483724" r:id="rId10"/>
    <p:sldLayoutId id="2147483725" r:id="rId11"/>
    <p:sldLayoutId id="2147483726" r:id="rId12"/>
    <p:sldLayoutId id="2147483727" r:id="rId13"/>
    <p:sldLayoutId id="2147483728" r:id="rId14"/>
    <p:sldLayoutId id="2147483729" r:id="rId15"/>
    <p:sldLayoutId id="2147483730" r:id="rId16"/>
    <p:sldLayoutId id="2147483731" r:id="rId1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D25E55-CFBA-51BA-55FD-B8B89B72BF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94114" y="736605"/>
            <a:ext cx="9448800" cy="1825096"/>
          </a:xfrm>
        </p:spPr>
        <p:txBody>
          <a:bodyPr>
            <a:normAutofit fontScale="90000"/>
          </a:bodyPr>
          <a:lstStyle/>
          <a:p>
            <a:r>
              <a:rPr lang="en-US" dirty="0" err="1"/>
              <a:t>BELLABeAT</a:t>
            </a:r>
            <a:r>
              <a:rPr lang="en-US" dirty="0"/>
              <a:t> SMART DEVICE ANALYSIS(STARVA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FITNESS</a:t>
            </a:r>
            <a:r>
              <a:rPr lang="en-US" dirty="0"/>
              <a:t>)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9804A6F-2FAE-BA38-59E4-6021D6BFA0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733800" y="3632200"/>
            <a:ext cx="7282544" cy="1745343"/>
          </a:xfrm>
        </p:spPr>
        <p:txBody>
          <a:bodyPr>
            <a:normAutofit fontScale="55000" lnSpcReduction="20000"/>
          </a:bodyPr>
          <a:lstStyle/>
          <a:p>
            <a:pPr algn="r"/>
            <a:r>
              <a:rPr lang="en-US" sz="3100" dirty="0">
                <a:latin typeface="Arial" panose="020B0604020202020204" pitchFamily="34" charset="0"/>
                <a:cs typeface="Arial" panose="020B0604020202020204" pitchFamily="34" charset="0"/>
              </a:rPr>
              <a:t>Name : Challa Harika</a:t>
            </a:r>
          </a:p>
          <a:p>
            <a:pPr algn="r"/>
            <a:r>
              <a:rPr lang="en-US" sz="3100" dirty="0">
                <a:latin typeface="Arial" panose="020B0604020202020204" pitchFamily="34" charset="0"/>
                <a:cs typeface="Arial" panose="020B0604020202020204" pitchFamily="34" charset="0"/>
              </a:rPr>
              <a:t>Batch : DA/BA Batch April 2026</a:t>
            </a:r>
          </a:p>
          <a:p>
            <a:pPr algn="r"/>
            <a:r>
              <a:rPr lang="en-US" sz="3100" dirty="0">
                <a:latin typeface="Arial" panose="020B0604020202020204" pitchFamily="34" charset="0"/>
                <a:cs typeface="Arial" panose="020B0604020202020204" pitchFamily="34" charset="0"/>
              </a:rPr>
              <a:t>Tools Used: Excel, SQLITE, </a:t>
            </a:r>
            <a:r>
              <a:rPr lang="en-US" sz="3100" dirty="0" err="1">
                <a:latin typeface="Arial" panose="020B0604020202020204" pitchFamily="34" charset="0"/>
                <a:cs typeface="Arial" panose="020B0604020202020204" pitchFamily="34" charset="0"/>
              </a:rPr>
              <a:t>Jupyter</a:t>
            </a:r>
            <a:r>
              <a:rPr lang="en-US" sz="3100" dirty="0">
                <a:latin typeface="Arial" panose="020B0604020202020204" pitchFamily="34" charset="0"/>
                <a:cs typeface="Arial" panose="020B0604020202020204" pitchFamily="34" charset="0"/>
              </a:rPr>
              <a:t> Notebook, Power BI </a:t>
            </a:r>
          </a:p>
          <a:p>
            <a:pPr algn="r"/>
            <a:r>
              <a:rPr lang="en-US" sz="3100" dirty="0">
                <a:latin typeface="Arial" panose="020B0604020202020204" pitchFamily="34" charset="0"/>
                <a:cs typeface="Arial" panose="020B0604020202020204" pitchFamily="34" charset="0"/>
              </a:rPr>
              <a:t>Skills Used: SQL, Python, EDA</a:t>
            </a:r>
          </a:p>
          <a:p>
            <a:endParaRPr lang="en-US" dirty="0"/>
          </a:p>
          <a:p>
            <a:r>
              <a:rPr lang="en-US" dirty="0"/>
              <a:t>          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154646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82631B-66B0-B898-F7AD-9CB0C01246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557" y="2990540"/>
            <a:ext cx="10554185" cy="3341914"/>
          </a:xfrm>
        </p:spPr>
        <p:txBody>
          <a:bodyPr>
            <a:normAutofit fontScale="90000"/>
          </a:bodyPr>
          <a:lstStyle/>
          <a:p>
            <a:pPr algn="l"/>
            <a:r>
              <a:rPr lang="en-US" sz="1800" b="1" cap="none" dirty="0">
                <a:latin typeface="Arial" panose="020B0604020202020204" pitchFamily="34" charset="0"/>
                <a:cs typeface="Arial" panose="020B0604020202020204" pitchFamily="34" charset="0"/>
              </a:rPr>
              <a:t>OBJECTIVE: </a:t>
            </a:r>
            <a:r>
              <a:rPr lang="en-US" sz="1800" cap="none" dirty="0">
                <a:latin typeface="Arial" panose="020B0604020202020204" pitchFamily="34" charset="0"/>
                <a:cs typeface="Arial" panose="020B0604020202020204" pitchFamily="34" charset="0"/>
              </a:rPr>
              <a:t>Analyze </a:t>
            </a:r>
            <a:r>
              <a:rPr lang="en-US" sz="1800" cap="none" dirty="0" err="1">
                <a:latin typeface="Arial" panose="020B0604020202020204" pitchFamily="34" charset="0"/>
                <a:cs typeface="Arial" panose="020B0604020202020204" pitchFamily="34" charset="0"/>
              </a:rPr>
              <a:t>fitbit</a:t>
            </a:r>
            <a:r>
              <a:rPr lang="en-US" sz="1800" cap="none" dirty="0">
                <a:latin typeface="Arial" panose="020B0604020202020204" pitchFamily="34" charset="0"/>
                <a:cs typeface="Arial" panose="020B0604020202020204" pitchFamily="34" charset="0"/>
              </a:rPr>
              <a:t> smart device data to uncover how users engage with health tracking features across activity, sleep, and wellness metrics — and identify opportunities to strengthen </a:t>
            </a:r>
            <a:r>
              <a:rPr lang="en-US" sz="1800" cap="none" dirty="0" err="1">
                <a:latin typeface="Arial" panose="020B0604020202020204" pitchFamily="34" charset="0"/>
                <a:cs typeface="Arial" panose="020B0604020202020204" pitchFamily="34" charset="0"/>
              </a:rPr>
              <a:t>bellabeat's</a:t>
            </a:r>
            <a:r>
              <a:rPr lang="en-US" sz="1800" cap="none" dirty="0">
                <a:latin typeface="Arial" panose="020B0604020202020204" pitchFamily="34" charset="0"/>
                <a:cs typeface="Arial" panose="020B0604020202020204" pitchFamily="34" charset="0"/>
              </a:rPr>
              <a:t> marketing strategy for women's smart wellness products.</a:t>
            </a:r>
            <a:br>
              <a:rPr lang="en-US" sz="1800" cap="none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800" b="1" dirty="0" err="1">
                <a:latin typeface="Arial" panose="020B0604020202020204" pitchFamily="34" charset="0"/>
                <a:cs typeface="Arial" panose="020B0604020202020204" pitchFamily="34" charset="0"/>
              </a:rPr>
              <a:t>DataSET’S</a:t>
            </a: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 USED : </a:t>
            </a:r>
            <a:b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600" cap="none" dirty="0" err="1">
                <a:latin typeface="Arial" panose="020B0604020202020204" pitchFamily="34" charset="0"/>
                <a:cs typeface="Arial" panose="020B0604020202020204" pitchFamily="34" charset="0"/>
              </a:rPr>
              <a:t>dailyactivity_merged</a:t>
            </a:r>
            <a:r>
              <a:rPr lang="en-US" sz="1600" cap="none" dirty="0">
                <a:latin typeface="Arial" panose="020B0604020202020204" pitchFamily="34" charset="0"/>
                <a:cs typeface="Arial" panose="020B0604020202020204" pitchFamily="34" charset="0"/>
              </a:rPr>
              <a:t>; </a:t>
            </a:r>
            <a:br>
              <a:rPr lang="en-US" sz="1600" cap="none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600" cap="none" dirty="0" err="1">
                <a:latin typeface="Arial" panose="020B0604020202020204" pitchFamily="34" charset="0"/>
                <a:cs typeface="Arial" panose="020B0604020202020204" pitchFamily="34" charset="0"/>
              </a:rPr>
              <a:t>sleepDay_merged</a:t>
            </a:r>
            <a:r>
              <a:rPr lang="en-US" sz="1600" cap="none" dirty="0">
                <a:latin typeface="Arial" panose="020B0604020202020204" pitchFamily="34" charset="0"/>
                <a:cs typeface="Arial" panose="020B0604020202020204" pitchFamily="34" charset="0"/>
              </a:rPr>
              <a:t>; </a:t>
            </a:r>
            <a:br>
              <a:rPr lang="en-US" sz="1600" cap="none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600" cap="none" dirty="0" err="1">
                <a:latin typeface="Arial" panose="020B0604020202020204" pitchFamily="34" charset="0"/>
                <a:cs typeface="Arial" panose="020B0604020202020204" pitchFamily="34" charset="0"/>
              </a:rPr>
              <a:t>hourlySteps_merged</a:t>
            </a:r>
            <a:r>
              <a:rPr lang="en-US" sz="1600" cap="none" dirty="0">
                <a:latin typeface="Arial" panose="020B0604020202020204" pitchFamily="34" charset="0"/>
                <a:cs typeface="Arial" panose="020B0604020202020204" pitchFamily="34" charset="0"/>
              </a:rPr>
              <a:t>; </a:t>
            </a:r>
            <a:br>
              <a:rPr lang="en-US" sz="1600" cap="none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600" cap="none" dirty="0" err="1">
                <a:latin typeface="Arial" panose="020B0604020202020204" pitchFamily="34" charset="0"/>
                <a:cs typeface="Arial" panose="020B0604020202020204" pitchFamily="34" charset="0"/>
              </a:rPr>
              <a:t>heartrate_seconds_merged</a:t>
            </a:r>
            <a:r>
              <a:rPr lang="en-US" sz="1600" cap="none" dirty="0">
                <a:latin typeface="Arial" panose="020B0604020202020204" pitchFamily="34" charset="0"/>
                <a:cs typeface="Arial" panose="020B0604020202020204" pitchFamily="34" charset="0"/>
              </a:rPr>
              <a:t>; </a:t>
            </a:r>
            <a:br>
              <a:rPr lang="en-US" sz="1600" cap="none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600" cap="none" dirty="0" err="1">
                <a:latin typeface="Arial" panose="020B0604020202020204" pitchFamily="34" charset="0"/>
                <a:cs typeface="Arial" panose="020B0604020202020204" pitchFamily="34" charset="0"/>
              </a:rPr>
              <a:t>weightLogInfo_merged</a:t>
            </a:r>
            <a:r>
              <a:rPr lang="en-US" sz="1600" cap="none" dirty="0">
                <a:latin typeface="Arial" panose="020B0604020202020204" pitchFamily="34" charset="0"/>
                <a:cs typeface="Arial" panose="020B0604020202020204" pitchFamily="34" charset="0"/>
              </a:rPr>
              <a:t>;</a:t>
            </a:r>
            <a:br>
              <a:rPr lang="en-US" sz="1600" cap="none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US" sz="1600" cap="none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000" b="1" cap="none" dirty="0">
                <a:latin typeface="Arial" panose="020B0604020202020204" pitchFamily="34" charset="0"/>
                <a:cs typeface="Arial" panose="020B0604020202020204" pitchFamily="34" charset="0"/>
              </a:rPr>
              <a:t>Data Cleaning and Data transformation performed using SQL &amp; Python :</a:t>
            </a:r>
            <a:br>
              <a:rPr lang="en-US" sz="2000" b="1" cap="none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US" sz="2000" b="1" cap="none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600" b="1" cap="none" dirty="0">
                <a:latin typeface="Arial" panose="020B0604020202020204" pitchFamily="34" charset="0"/>
                <a:cs typeface="Arial" panose="020B0604020202020204" pitchFamily="34" charset="0"/>
              </a:rPr>
              <a:t>1. Null value check</a:t>
            </a:r>
            <a:br>
              <a:rPr lang="en-US" sz="1600" cap="none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600" cap="none" dirty="0">
                <a:latin typeface="Arial" panose="020B0604020202020204" pitchFamily="34" charset="0"/>
                <a:cs typeface="Arial" panose="020B0604020202020204" pitchFamily="34" charset="0"/>
              </a:rPr>
              <a:t>checked all columns across 5 tables for missing values using COUNT(*) - count(column) in SQL. Identified 65 null values in fat column of </a:t>
            </a:r>
            <a:r>
              <a:rPr lang="en-US" sz="1600" cap="none" dirty="0" err="1">
                <a:latin typeface="Arial" panose="020B0604020202020204" pitchFamily="34" charset="0"/>
                <a:cs typeface="Arial" panose="020B0604020202020204" pitchFamily="34" charset="0"/>
              </a:rPr>
              <a:t>weightloginfo</a:t>
            </a:r>
            <a:r>
              <a:rPr lang="en-US" sz="1600" cap="none" dirty="0">
                <a:latin typeface="Arial" panose="020B0604020202020204" pitchFamily="34" charset="0"/>
                <a:cs typeface="Arial" panose="020B0604020202020204" pitchFamily="34" charset="0"/>
              </a:rPr>
              <a:t> — excluded from analysis due to 97% null rate.</a:t>
            </a:r>
            <a:br>
              <a:rPr lang="en-US" sz="1600" cap="none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US" sz="1600" cap="none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600" cap="none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cap="none" dirty="0">
                <a:latin typeface="Arial" panose="020B0604020202020204" pitchFamily="34" charset="0"/>
                <a:cs typeface="Arial" panose="020B0604020202020204" pitchFamily="34" charset="0"/>
              </a:rPr>
              <a:t>2. Duplicate removal</a:t>
            </a:r>
            <a:br>
              <a:rPr lang="en-US" sz="1600" cap="none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600" cap="none" dirty="0">
                <a:latin typeface="Arial" panose="020B0604020202020204" pitchFamily="34" charset="0"/>
                <a:cs typeface="Arial" panose="020B0604020202020204" pitchFamily="34" charset="0"/>
              </a:rPr>
              <a:t>found and removed 3 duplicate records in </a:t>
            </a:r>
            <a:r>
              <a:rPr lang="en-US" sz="1600" cap="none" dirty="0" err="1">
                <a:latin typeface="Arial" panose="020B0604020202020204" pitchFamily="34" charset="0"/>
                <a:cs typeface="Arial" panose="020B0604020202020204" pitchFamily="34" charset="0"/>
              </a:rPr>
              <a:t>sleepday_merged</a:t>
            </a:r>
            <a:r>
              <a:rPr lang="en-US" sz="1600" cap="none" dirty="0">
                <a:latin typeface="Arial" panose="020B0604020202020204" pitchFamily="34" charset="0"/>
                <a:cs typeface="Arial" panose="020B0604020202020204" pitchFamily="34" charset="0"/>
              </a:rPr>
              <a:t> using SELECT DISTINCT — created </a:t>
            </a:r>
            <a:r>
              <a:rPr lang="en-US" sz="1600" cap="none" dirty="0" err="1">
                <a:latin typeface="Arial" panose="020B0604020202020204" pitchFamily="34" charset="0"/>
                <a:cs typeface="Arial" panose="020B0604020202020204" pitchFamily="34" charset="0"/>
              </a:rPr>
              <a:t>sleepday_cleaned</a:t>
            </a:r>
            <a:r>
              <a:rPr lang="en-US" sz="1600" cap="none" dirty="0">
                <a:latin typeface="Arial" panose="020B0604020202020204" pitchFamily="34" charset="0"/>
                <a:cs typeface="Arial" panose="020B0604020202020204" pitchFamily="34" charset="0"/>
              </a:rPr>
              <a:t> table</a:t>
            </a:r>
            <a:r>
              <a:rPr lang="en-US" sz="2000" dirty="0"/>
              <a:t>.</a:t>
            </a:r>
            <a:br>
              <a:rPr lang="en-US" sz="2000" dirty="0"/>
            </a:br>
            <a:br>
              <a:rPr lang="en-US" sz="2000" dirty="0"/>
            </a:br>
            <a:r>
              <a:rPr lang="en-US" sz="1600" b="1" cap="none" dirty="0">
                <a:latin typeface="Arial" panose="020B0604020202020204" pitchFamily="34" charset="0"/>
                <a:cs typeface="Arial" panose="020B0604020202020204" pitchFamily="34" charset="0"/>
              </a:rPr>
              <a:t>3. Date standardization</a:t>
            </a:r>
            <a:br>
              <a:rPr lang="en-US" sz="1600" cap="none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600" cap="none" dirty="0">
                <a:latin typeface="Arial" panose="020B0604020202020204" pitchFamily="34" charset="0"/>
                <a:cs typeface="Arial" panose="020B0604020202020204" pitchFamily="34" charset="0"/>
              </a:rPr>
              <a:t>converted all date columns from M/D/YYYY and M/D/YYYY H:MM:SS AM/PM format to YYYY-MM-DD format using SUBSTR() and PRINTF() functions in </a:t>
            </a:r>
            <a:r>
              <a:rPr lang="en-US" sz="1600" cap="none" dirty="0" err="1">
                <a:latin typeface="Arial" panose="020B0604020202020204" pitchFamily="34" charset="0"/>
                <a:cs typeface="Arial" panose="020B0604020202020204" pitchFamily="34" charset="0"/>
              </a:rPr>
              <a:t>sqlite</a:t>
            </a:r>
            <a:r>
              <a:rPr lang="en-US" sz="1600" cap="none" dirty="0">
                <a:latin typeface="Arial" panose="020B0604020202020204" pitchFamily="34" charset="0"/>
                <a:cs typeface="Arial" panose="020B0604020202020204" pitchFamily="34" charset="0"/>
              </a:rPr>
              <a:t> across all 5 tables.</a:t>
            </a:r>
            <a:br>
              <a:rPr lang="en-US" sz="1600" cap="none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US" sz="1600" cap="none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600" cap="none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cap="none" dirty="0">
                <a:latin typeface="Arial" panose="020B0604020202020204" pitchFamily="34" charset="0"/>
                <a:cs typeface="Arial" panose="020B0604020202020204" pitchFamily="34" charset="0"/>
              </a:rPr>
              <a:t>4. Outlier detection &amp; removal</a:t>
            </a:r>
            <a:br>
              <a:rPr lang="en-US" sz="1600" cap="none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600" cap="none" dirty="0">
                <a:latin typeface="Arial" panose="020B0604020202020204" pitchFamily="34" charset="0"/>
                <a:cs typeface="Arial" panose="020B0604020202020204" pitchFamily="34" charset="0"/>
              </a:rPr>
              <a:t>flagged and removed rows where:</a:t>
            </a:r>
            <a:br>
              <a:rPr lang="en-US" sz="1600" cap="none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600" cap="none" dirty="0" err="1">
                <a:latin typeface="Arial" panose="020B0604020202020204" pitchFamily="34" charset="0"/>
                <a:cs typeface="Arial" panose="020B0604020202020204" pitchFamily="34" charset="0"/>
              </a:rPr>
              <a:t>totalsteps</a:t>
            </a:r>
            <a:r>
              <a:rPr lang="en-US" sz="1600" cap="none" dirty="0">
                <a:latin typeface="Arial" panose="020B0604020202020204" pitchFamily="34" charset="0"/>
                <a:cs typeface="Arial" panose="020B0604020202020204" pitchFamily="34" charset="0"/>
              </a:rPr>
              <a:t> = 0 — device not worn</a:t>
            </a:r>
            <a:br>
              <a:rPr lang="en-US" sz="1600" cap="none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600" cap="none" dirty="0" err="1">
                <a:latin typeface="Arial" panose="020B0604020202020204" pitchFamily="34" charset="0"/>
                <a:cs typeface="Arial" panose="020B0604020202020204" pitchFamily="34" charset="0"/>
              </a:rPr>
              <a:t>sedentaryminutes</a:t>
            </a:r>
            <a:r>
              <a:rPr lang="en-US" sz="1600" cap="none" dirty="0">
                <a:latin typeface="Arial" panose="020B0604020202020204" pitchFamily="34" charset="0"/>
                <a:cs typeface="Arial" panose="020B0604020202020204" pitchFamily="34" charset="0"/>
              </a:rPr>
              <a:t> &gt; 1440 — exceeds 24 hours (impossible)</a:t>
            </a:r>
            <a:br>
              <a:rPr lang="en-US" sz="2000" dirty="0"/>
            </a:br>
            <a:br>
              <a:rPr lang="en-US" sz="2000" dirty="0"/>
            </a:br>
            <a:br>
              <a:rPr lang="en-US" sz="2000" dirty="0"/>
            </a:br>
            <a:br>
              <a:rPr lang="en-US" sz="2000" dirty="0"/>
            </a:br>
            <a:br>
              <a:rPr lang="en-US" sz="2000" b="1" cap="none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US" sz="1600" cap="none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US" sz="1600" cap="none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US" sz="1600" cap="none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US" sz="1600" cap="none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US" sz="1600" cap="none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US" sz="1600" cap="none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IN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277072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67BDE50-7C4C-655F-80FD-DD16E27F83AE}"/>
              </a:ext>
            </a:extLst>
          </p:cNvPr>
          <p:cNvSpPr txBox="1"/>
          <p:nvPr/>
        </p:nvSpPr>
        <p:spPr>
          <a:xfrm>
            <a:off x="527957" y="206828"/>
            <a:ext cx="11136086" cy="72943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5. Irrelevant Column Removal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Excluded Fat column from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weightLogInfo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due to 97% null values. Excluded redundant tables (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dailyCalories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dailySteps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dailyIntensities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) already covered inside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dailyActivity_merged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IN" sz="1600" b="1" dirty="0">
                <a:latin typeface="Arial" panose="020B0604020202020204" pitchFamily="34" charset="0"/>
                <a:cs typeface="Arial" panose="020B0604020202020204" pitchFamily="34" charset="0"/>
              </a:rPr>
              <a:t>Data Transformation Steps</a:t>
            </a:r>
            <a:endParaRPr lang="en-US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IN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1. Table Merging (JOIN)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Joined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dailyActivity_cleaned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with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sleepDay_final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on Id +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ActivityDate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using LEFT JOIN — creating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merged_daily_activity_sleep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as the primary analysis table.</a:t>
            </a:r>
          </a:p>
          <a:p>
            <a:endParaRPr lang="en-IN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IN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1400" b="1" dirty="0">
                <a:latin typeface="Arial" panose="020B0604020202020204" pitchFamily="34" charset="0"/>
                <a:cs typeface="Arial" panose="020B0604020202020204" pitchFamily="34" charset="0"/>
              </a:rPr>
              <a:t>2. Calculated Columns Created in SQL</a:t>
            </a:r>
            <a:endParaRPr lang="en-IN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 sz="1400" dirty="0" err="1">
                <a:latin typeface="Arial" panose="020B0604020202020204" pitchFamily="34" charset="0"/>
                <a:cs typeface="Arial" panose="020B0604020202020204" pitchFamily="34" charset="0"/>
              </a:rPr>
              <a:t>TotalActiveMinutes</a:t>
            </a: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 = </a:t>
            </a:r>
            <a:r>
              <a:rPr lang="en-IN" sz="1400" dirty="0" err="1">
                <a:latin typeface="Arial" panose="020B0604020202020204" pitchFamily="34" charset="0"/>
                <a:cs typeface="Arial" panose="020B0604020202020204" pitchFamily="34" charset="0"/>
              </a:rPr>
              <a:t>LightlyActive</a:t>
            </a: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 + </a:t>
            </a:r>
            <a:r>
              <a:rPr lang="en-IN" sz="1400" dirty="0" err="1">
                <a:latin typeface="Arial" panose="020B0604020202020204" pitchFamily="34" charset="0"/>
                <a:cs typeface="Arial" panose="020B0604020202020204" pitchFamily="34" charset="0"/>
              </a:rPr>
              <a:t>FairlyActive</a:t>
            </a: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 + </a:t>
            </a:r>
            <a:r>
              <a:rPr lang="en-IN" sz="1400" dirty="0" err="1">
                <a:latin typeface="Arial" panose="020B0604020202020204" pitchFamily="34" charset="0"/>
                <a:cs typeface="Arial" panose="020B0604020202020204" pitchFamily="34" charset="0"/>
              </a:rPr>
              <a:t>VeryActiveMinutes</a:t>
            </a:r>
            <a:endParaRPr lang="en-IN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 sz="1400" dirty="0" err="1">
                <a:latin typeface="Arial" panose="020B0604020202020204" pitchFamily="34" charset="0"/>
                <a:cs typeface="Arial" panose="020B0604020202020204" pitchFamily="34" charset="0"/>
              </a:rPr>
              <a:t>SleepDeficitMinutes</a:t>
            </a: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 = 480 − </a:t>
            </a:r>
            <a:r>
              <a:rPr lang="en-IN" sz="1400" dirty="0" err="1">
                <a:latin typeface="Arial" panose="020B0604020202020204" pitchFamily="34" charset="0"/>
                <a:cs typeface="Arial" panose="020B0604020202020204" pitchFamily="34" charset="0"/>
              </a:rPr>
              <a:t>TotalMinutesAsleep</a:t>
            </a:r>
            <a:endParaRPr lang="en-IN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 sz="1400" dirty="0" err="1">
                <a:latin typeface="Arial" panose="020B0604020202020204" pitchFamily="34" charset="0"/>
                <a:cs typeface="Arial" panose="020B0604020202020204" pitchFamily="34" charset="0"/>
              </a:rPr>
              <a:t>ActivityCategory</a:t>
            </a: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 = CASE WHEN logic based on CDC guidelines</a:t>
            </a:r>
          </a:p>
          <a:p>
            <a:endParaRPr lang="en-IN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 sz="1400" b="1" dirty="0">
                <a:latin typeface="Arial" panose="020B0604020202020204" pitchFamily="34" charset="0"/>
                <a:cs typeface="Arial" panose="020B0604020202020204" pitchFamily="34" charset="0"/>
              </a:rPr>
              <a:t>3. Date &amp; Time Extraction in Python</a:t>
            </a:r>
            <a:endParaRPr lang="en-IN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Converted </a:t>
            </a:r>
            <a:r>
              <a:rPr lang="en-IN" sz="1400" dirty="0" err="1">
                <a:latin typeface="Arial" panose="020B0604020202020204" pitchFamily="34" charset="0"/>
                <a:cs typeface="Arial" panose="020B0604020202020204" pitchFamily="34" charset="0"/>
              </a:rPr>
              <a:t>ActivityDate</a:t>
            </a: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 to datetime using </a:t>
            </a:r>
            <a:r>
              <a:rPr lang="en-IN" sz="1400" dirty="0" err="1">
                <a:latin typeface="Arial" panose="020B0604020202020204" pitchFamily="34" charset="0"/>
                <a:cs typeface="Arial" panose="020B0604020202020204" pitchFamily="34" charset="0"/>
              </a:rPr>
              <a:t>pd.to_datetime</a:t>
            </a: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()</a:t>
            </a:r>
          </a:p>
          <a:p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Extracted Hour from </a:t>
            </a:r>
            <a:r>
              <a:rPr lang="en-IN" sz="1400" dirty="0" err="1">
                <a:latin typeface="Arial" panose="020B0604020202020204" pitchFamily="34" charset="0"/>
                <a:cs typeface="Arial" panose="020B0604020202020204" pitchFamily="34" charset="0"/>
              </a:rPr>
              <a:t>ActivityDateTime</a:t>
            </a: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 for hourly analysis</a:t>
            </a:r>
          </a:p>
          <a:p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Created </a:t>
            </a:r>
            <a:r>
              <a:rPr lang="en-IN" sz="1400" dirty="0" err="1">
                <a:latin typeface="Arial" panose="020B0604020202020204" pitchFamily="34" charset="0"/>
                <a:cs typeface="Arial" panose="020B0604020202020204" pitchFamily="34" charset="0"/>
              </a:rPr>
              <a:t>DayType</a:t>
            </a: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 column — Weekday / Weekend</a:t>
            </a:r>
          </a:p>
          <a:p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Created </a:t>
            </a:r>
            <a:r>
              <a:rPr lang="en-IN" sz="1400" dirty="0" err="1">
                <a:latin typeface="Arial" panose="020B0604020202020204" pitchFamily="34" charset="0"/>
                <a:cs typeface="Arial" panose="020B0604020202020204" pitchFamily="34" charset="0"/>
              </a:rPr>
              <a:t>SleepHours</a:t>
            </a: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 = </a:t>
            </a:r>
            <a:r>
              <a:rPr lang="en-IN" sz="1400" dirty="0" err="1">
                <a:latin typeface="Arial" panose="020B0604020202020204" pitchFamily="34" charset="0"/>
                <a:cs typeface="Arial" panose="020B0604020202020204" pitchFamily="34" charset="0"/>
              </a:rPr>
              <a:t>TotalMinutesAsleep</a:t>
            </a: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 / 60</a:t>
            </a:r>
          </a:p>
          <a:p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Created </a:t>
            </a:r>
            <a:r>
              <a:rPr lang="en-IN" sz="1400" dirty="0" err="1">
                <a:latin typeface="Arial" panose="020B0604020202020204" pitchFamily="34" charset="0"/>
                <a:cs typeface="Arial" panose="020B0604020202020204" pitchFamily="34" charset="0"/>
              </a:rPr>
              <a:t>SedentaryHours</a:t>
            </a: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 = </a:t>
            </a:r>
            <a:r>
              <a:rPr lang="en-IN" sz="1400" dirty="0" err="1">
                <a:latin typeface="Arial" panose="020B0604020202020204" pitchFamily="34" charset="0"/>
                <a:cs typeface="Arial" panose="020B0604020202020204" pitchFamily="34" charset="0"/>
              </a:rPr>
              <a:t>SedentaryMinutes</a:t>
            </a: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 / 60</a:t>
            </a:r>
          </a:p>
          <a:p>
            <a:endParaRPr lang="en-IN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4. </a:t>
            </a:r>
            <a:r>
              <a:rPr lang="en-IN" sz="1400" b="1" dirty="0">
                <a:latin typeface="Arial" panose="020B0604020202020204" pitchFamily="34" charset="0"/>
                <a:cs typeface="Arial" panose="020B0604020202020204" pitchFamily="34" charset="0"/>
              </a:rPr>
              <a:t>Heart Rate Zone Classification in Python</a:t>
            </a:r>
            <a:endParaRPr lang="en-IN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Created </a:t>
            </a:r>
            <a:r>
              <a:rPr lang="en-IN" sz="1400" dirty="0" err="1">
                <a:latin typeface="Arial" panose="020B0604020202020204" pitchFamily="34" charset="0"/>
                <a:cs typeface="Arial" panose="020B0604020202020204" pitchFamily="34" charset="0"/>
              </a:rPr>
              <a:t>HRZone</a:t>
            </a: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 column categorizing each reading:</a:t>
            </a:r>
          </a:p>
          <a:p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Resting &lt; 60 BPM</a:t>
            </a:r>
          </a:p>
          <a:p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Light 60–100 BPM</a:t>
            </a:r>
          </a:p>
          <a:p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Moderate 100–140 BPM</a:t>
            </a:r>
          </a:p>
          <a:p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Hard 140–170 BPM</a:t>
            </a:r>
          </a:p>
          <a:p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Maximum &gt; 170 BPM</a:t>
            </a:r>
          </a:p>
          <a:p>
            <a:endParaRPr lang="en-IN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IN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IN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031048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6B506B9-35D6-DBDF-E70A-6519EBE001E4}"/>
              </a:ext>
            </a:extLst>
          </p:cNvPr>
          <p:cNvSpPr txBox="1"/>
          <p:nvPr/>
        </p:nvSpPr>
        <p:spPr>
          <a:xfrm>
            <a:off x="620486" y="326571"/>
            <a:ext cx="10798628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5. BMI Category Classification in Python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Created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BMICategory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column:</a:t>
            </a:r>
          </a:p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Underweight &lt; 18.5</a:t>
            </a:r>
          </a:p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Normal 18.5–24.9</a:t>
            </a:r>
          </a:p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Overweight 25–29.9</a:t>
            </a:r>
          </a:p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Obese ≥ 30</a:t>
            </a:r>
          </a:p>
          <a:p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6.</a:t>
            </a: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 Engagement Segmentation in DAX (Power BI)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Created Engagement Segment calculated column:</a:t>
            </a:r>
          </a:p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High Engagement ≥ 25 days worn</a:t>
            </a:r>
          </a:p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Medium Engagement 15–24 days</a:t>
            </a:r>
          </a:p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Low Engagement &lt; 15 days</a:t>
            </a:r>
          </a:p>
          <a:p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7. Tracking Behavior Classification in DAX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Created Tracking Behavior column:</a:t>
            </a:r>
          </a:p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Tracks Both — activity + sleep logged</a:t>
            </a:r>
          </a:p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Activity Only — sleep not logged</a:t>
            </a:r>
          </a:p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Sleep Only — activity not logged</a:t>
            </a:r>
          </a:p>
          <a:p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15093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6042B75-546B-A915-525A-A6702CF37977}"/>
              </a:ext>
            </a:extLst>
          </p:cNvPr>
          <p:cNvSpPr txBox="1"/>
          <p:nvPr/>
        </p:nvSpPr>
        <p:spPr>
          <a:xfrm>
            <a:off x="707571" y="620486"/>
            <a:ext cx="1024345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latin typeface="Arial" panose="020B0604020202020204" pitchFamily="34" charset="0"/>
                <a:cs typeface="Arial" panose="020B0604020202020204" pitchFamily="34" charset="0"/>
              </a:rPr>
              <a:t>   Business Insights </a:t>
            </a:r>
            <a:endParaRPr lang="en-IN" sz="4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F4E303C-DFFF-4FBC-A477-A2096FDACDEE}"/>
              </a:ext>
            </a:extLst>
          </p:cNvPr>
          <p:cNvSpPr txBox="1"/>
          <p:nvPr/>
        </p:nvSpPr>
        <p:spPr>
          <a:xfrm>
            <a:off x="511629" y="1382485"/>
            <a:ext cx="10972800" cy="54784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b="1" dirty="0">
                <a:latin typeface="Arial" panose="020B0604020202020204" pitchFamily="34" charset="0"/>
                <a:cs typeface="Arial" panose="020B0604020202020204" pitchFamily="34" charset="0"/>
              </a:rPr>
              <a:t>Activity &amp; Movement:</a:t>
            </a:r>
          </a:p>
          <a:p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1. What percentage of users meet the CDC recommended 10,000 steps per day?</a:t>
            </a:r>
          </a:p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A. Only </a:t>
            </a: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35.11%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of days recorded meet the 10,000step goal. This means </a:t>
            </a: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65% of users consistently  fall short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of the CDC daily activity benchmark. Average daily steps across all users is </a:t>
            </a: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8,320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— leaving a gap of 1,680 steps per day.</a:t>
            </a:r>
          </a:p>
          <a:p>
            <a:pPr marL="342900" indent="-342900">
              <a:buAutoNum type="arabicPeriod"/>
            </a:pPr>
            <a:endParaRPr lang="en-IN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 2. 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How are users distributed across activity categories?</a:t>
            </a:r>
            <a:endParaRPr lang="en-IN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A. 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Activity distribution from Python EDA shows:</a:t>
            </a:r>
          </a:p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Lightly Active: </a:t>
            </a: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58.3%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— largest segment</a:t>
            </a:r>
          </a:p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Very Active: </a:t>
            </a: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29.2%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Fairly Active: </a:t>
            </a: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8.6%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Sedentary: </a:t>
            </a: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3.9%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Power BI confirms similar distribution: Lightly Active </a:t>
            </a: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58.29%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, Sedentary </a:t>
            </a: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3.94%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. The overwhelming majority of users fall in the lightly active category — not meeting recommended activity intensity levels.</a:t>
            </a:r>
          </a:p>
          <a:p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3. What is the average daily sedentary time?</a:t>
            </a:r>
          </a:p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A. Users average </a:t>
            </a: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15.93 sedentary hours per day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— nearly double the WHO recommended maximum of 8 hours. The sedentary hours histogram from Python confirms the distribution peaks between 10–20 hours with average at </a:t>
            </a: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15.9 hours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. This is the most alarming health finding in the dataset.</a:t>
            </a: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981922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47D0C97-650D-5C7D-9AAD-D067B5F4ECDB}"/>
              </a:ext>
            </a:extLst>
          </p:cNvPr>
          <p:cNvSpPr txBox="1"/>
          <p:nvPr/>
        </p:nvSpPr>
        <p:spPr>
          <a:xfrm>
            <a:off x="1186544" y="250372"/>
            <a:ext cx="9481457" cy="73866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4. Do users who burn more calories also take more steps?</a:t>
            </a:r>
          </a:p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A. Yes. The steps vs calories scatter plot shows a </a:t>
            </a: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moderate-strong positive correlation of 0.56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. The trend line clearly slopes upward — confirming more steps consistently leads to more calories burned. This validates device accuracy and is a strong marketing proof point for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Bellabeat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342900" indent="-342900">
              <a:buAutoNum type="alphaUcPeriod"/>
            </a:pP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5. </a:t>
            </a: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Which days of the week show highest and lowest activity?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A: From the Power BI bar chart:</a:t>
            </a:r>
          </a:p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Highest: </a:t>
            </a: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Tuesday and Saturday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at ~8,900 steps</a:t>
            </a:r>
          </a:p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Lowest: </a:t>
            </a: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Sunday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at ~7,600 steps</a:t>
            </a:r>
          </a:p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In python Weekday vs weekend comparison shows virtually no difference — </a:t>
            </a: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Weekday: 8,328 steps vs Weekend: 8,295 steps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— only a 33 step gap. Users maintain consistent activity regardless of day type.</a:t>
            </a:r>
          </a:p>
          <a:p>
            <a:pPr algn="ctr"/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Sleep &amp; Recovery</a:t>
            </a:r>
          </a:p>
          <a:p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6. Are users getting the recommended 7–9 hours of sleep?</a:t>
            </a:r>
          </a:p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A. Average sleep duration is </a:t>
            </a: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7.0 hours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(from Python EDA — use this corrected value). </a:t>
            </a: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44.15%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of logged nights fall below the recommended 7 hours. The sleep histogram shows the distribution peaks right at 7 hours — meaning users are borderline and frequently dip below the minimum. Only </a:t>
            </a: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55.85%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of days meet the sleep goal.</a:t>
            </a:r>
          </a:p>
          <a:p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7. </a:t>
            </a: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What is the average sleep deficit across all users?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Average nightly sleep deficit is </a:t>
            </a: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1.01 hours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(from Power BI marketing page). Users consistently fall short by approximately 60 minutes every night. The sleep deficit trend line in Power BI shows fluctuation between 4–6 hours deficit daily — confirming chronic under-sleeping across the study period.</a:t>
            </a:r>
          </a:p>
          <a:p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IN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971413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0A1C0B9-99BE-71B1-9AED-EC844365F7F8}"/>
              </a:ext>
            </a:extLst>
          </p:cNvPr>
          <p:cNvSpPr txBox="1"/>
          <p:nvPr/>
        </p:nvSpPr>
        <p:spPr>
          <a:xfrm>
            <a:off x="544286" y="359228"/>
            <a:ext cx="11266714" cy="56630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8. Do more active users sleep better than sedentary users?</a:t>
            </a:r>
          </a:p>
          <a:p>
            <a:pPr marL="342900" indent="-342900">
              <a:buAutoNum type="alphaUcPeriod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Surprisingly </a:t>
            </a: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no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. The scatter chart "Does More Activity Lead to Better Sleep?" shows a </a:t>
            </a: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negative trend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— users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whotake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more steps actually sleep slightly less. The bar chart "Do Active Users Sleep Better?" shows lightly active users recording the most sleep hours — suggesting very active users may sacrifice sleep for exercise time.</a:t>
            </a:r>
          </a:p>
          <a:p>
            <a:pPr marL="342900" indent="-342900">
              <a:buAutoNum type="alphaUcPeriod"/>
            </a:pP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9. How much time do users spend in bed without actually sleeping?</a:t>
            </a:r>
          </a:p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A. Users spend an average of </a:t>
            </a: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39.31 minutes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in bed without sleeping. This indicates poor sleep efficiency — users are lying awake nearly 40 minutes per night. The "Time in Bed Without Sleeping" chart shows one user spending up to 309 minutes awake in bed — a significant outlier worth flagging.</a:t>
            </a:r>
          </a:p>
          <a:p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10. Do users sleep more on weekends than weekdays?</a:t>
            </a:r>
          </a:p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The data does not show a significant weekend sleep increase. Both weekday and weekend sleep patterns are broadly similar based on the available data. This contradicts the common "social jet lag" assumption — suggesting these users maintain relatively consistent sleep schedules throughout the week.</a:t>
            </a:r>
          </a:p>
          <a:p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IN" sz="2400" b="1" dirty="0">
                <a:latin typeface="Arial" panose="020B0604020202020204" pitchFamily="34" charset="0"/>
                <a:cs typeface="Arial" panose="020B0604020202020204" pitchFamily="34" charset="0"/>
              </a:rPr>
              <a:t>Device Engagement &amp; Usage</a:t>
            </a:r>
          </a:p>
          <a:p>
            <a:endParaRPr lang="en-IN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11. 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How many days per month do users actually wear the device?</a:t>
            </a:r>
          </a:p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A: Users wore the device an average of </a:t>
            </a: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26.15 days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out of 31 days — achieving an </a:t>
            </a: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84.36% device wear rate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. The "How Many Days Per Month Do Users Wear Device?" chart confirms most users cluster at 30–31 days worn — showing very strong habitual usage.</a:t>
            </a:r>
          </a:p>
          <a:p>
            <a:endParaRPr lang="en-IN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871677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99CC976-537A-0D86-102F-040B4FB07A17}"/>
              </a:ext>
            </a:extLst>
          </p:cNvPr>
          <p:cNvSpPr txBox="1"/>
          <p:nvPr/>
        </p:nvSpPr>
        <p:spPr>
          <a:xfrm>
            <a:off x="348342" y="304801"/>
            <a:ext cx="11549744" cy="68941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12. What percentage of users are high vs low engagement?</a:t>
            </a:r>
          </a:p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A: From the engagement donut chart:</a:t>
            </a:r>
          </a:p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High Engagement (25+ days): </a:t>
            </a: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63.64%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— 21 users</a:t>
            </a:r>
          </a:p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Medium Engagement (15–24 days): </a:t>
            </a: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33.33%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— 11 users</a:t>
            </a:r>
          </a:p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Low Engagement (&lt;15 days): </a:t>
            </a: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3.03%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— 1 user</a:t>
            </a:r>
          </a:p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The vast majority of users are highly engaged with the device — only 1 user out of 33 falls in the low engagement category.</a:t>
            </a:r>
          </a:p>
          <a:p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13. Does device usage drop off over the study period?</a:t>
            </a:r>
          </a:p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Yes. The "Device Usage Drop Off Over Study Period" line chart shows a </a:t>
            </a: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clear declining trend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from approximately 33 daily active users in April to around 25 by mid-May. The rolling 7-day average (dotted line) confirms a consistent downward trajectory — suggesting engagement naturally declines over time even among initially committed users.</a:t>
            </a:r>
          </a:p>
          <a:p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14. </a:t>
            </a: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Are there users who track activity but not sleep?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Yes — this is the most significant engagement gap. </a:t>
            </a: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52.49% of users track activity only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without logging sleep. Only </a:t>
            </a: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47.51% track both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activity and sleep. This means more than half the user base is missing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Bellabeat's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core sleep tracking differentiator entirely.</a:t>
            </a:r>
          </a:p>
          <a:p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IN" sz="2400" b="1" dirty="0">
                <a:latin typeface="Arial" panose="020B0604020202020204" pitchFamily="34" charset="0"/>
                <a:cs typeface="Arial" panose="020B0604020202020204" pitchFamily="34" charset="0"/>
              </a:rPr>
              <a:t>Health &amp; Wellness</a:t>
            </a:r>
          </a:p>
          <a:p>
            <a:endParaRPr lang="en-IN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15. </a:t>
            </a: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What is the average BMI across users who logged weight?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A: Average BMI is </a:t>
            </a: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25.19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— just above the normal range threshold of 24.9. This places the average user in the borderline overweight category. Only 8 out of 30 users logged weight data — limiting the generalizability of this finding.</a:t>
            </a:r>
          </a:p>
          <a:p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670842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02B8A2F-9FED-35B9-5DFB-860B99870915}"/>
              </a:ext>
            </a:extLst>
          </p:cNvPr>
          <p:cNvSpPr txBox="1"/>
          <p:nvPr/>
        </p:nvSpPr>
        <p:spPr>
          <a:xfrm>
            <a:off x="522514" y="555171"/>
            <a:ext cx="10678886" cy="62786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16. </a:t>
            </a: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What proportion of users fall in overweight or obese BMI range?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A: From the BMI donut chart and Python histogram:</a:t>
            </a:r>
          </a:p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Normal BMI: </a:t>
            </a: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50.75%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— 34 entries</a:t>
            </a:r>
          </a:p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Overweight: </a:t>
            </a: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47.76%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— 32 entries</a:t>
            </a:r>
          </a:p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Obese: </a:t>
            </a: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1.49%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— 1 entry</a:t>
            </a:r>
          </a:p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Nearly half of weight log entries fall in the overweight range — suggesting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Bellabeat's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users are actively monitoring weight as a health concern.</a:t>
            </a:r>
          </a:p>
          <a:p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17. Do users who manually log weight engage more with the device?</a:t>
            </a:r>
          </a:p>
          <a:p>
            <a:r>
              <a:rPr lang="en-US" sz="1600" dirty="0"/>
              <a:t>A: From the "Manual Loggers vs Smart Scale Engagement" chart:</a:t>
            </a:r>
          </a:p>
          <a:p>
            <a:r>
              <a:rPr lang="en-US" sz="1600" dirty="0"/>
              <a:t>Manual entries: </a:t>
            </a:r>
            <a:r>
              <a:rPr lang="en-US" sz="1600" b="1" dirty="0"/>
              <a:t>41 entries</a:t>
            </a:r>
            <a:r>
              <a:rPr lang="en-US" sz="1600" dirty="0"/>
              <a:t> — majority</a:t>
            </a:r>
          </a:p>
          <a:p>
            <a:r>
              <a:rPr lang="en-US" sz="1600" dirty="0"/>
              <a:t>Smart Scale entries: </a:t>
            </a:r>
            <a:r>
              <a:rPr lang="en-US" sz="1600" b="1" dirty="0"/>
              <a:t>26 entries</a:t>
            </a:r>
            <a:endParaRPr lang="en-US" sz="1600" dirty="0"/>
          </a:p>
          <a:p>
            <a:r>
              <a:rPr lang="en-US" sz="1600" dirty="0"/>
              <a:t>Manual loggers account for </a:t>
            </a:r>
            <a:r>
              <a:rPr lang="en-US" sz="1600" b="1" dirty="0"/>
              <a:t>52.49%</a:t>
            </a:r>
            <a:r>
              <a:rPr lang="en-US" sz="1600" dirty="0"/>
              <a:t> of all weight entries. This suggests users who actively engage with manual logging are more health-conscious overall — but smart scale users likely have better data completeness since logging is automated.</a:t>
            </a:r>
          </a:p>
          <a:p>
            <a:endParaRPr lang="en-US" sz="1600" dirty="0"/>
          </a:p>
          <a:p>
            <a:r>
              <a:rPr lang="en-US" sz="1600" dirty="0"/>
              <a:t>18. 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What is the average heart rate during peak activity hours?</a:t>
            </a:r>
          </a:p>
          <a:p>
            <a:r>
              <a:rPr lang="en-US" sz="1600" dirty="0"/>
              <a:t>A: From the "Average Heart Rate During Peak Hours" bar chart, HR averages between </a:t>
            </a:r>
            <a:r>
              <a:rPr lang="en-US" sz="1600" b="1" dirty="0"/>
              <a:t>79–86 BPM</a:t>
            </a:r>
            <a:r>
              <a:rPr lang="en-US" sz="1600" dirty="0"/>
              <a:t> during peak hours (5pm–7pm). The heart rate line chart confirms the daily pattern clearly:</a:t>
            </a:r>
          </a:p>
          <a:p>
            <a:r>
              <a:rPr lang="en-US" sz="1600" dirty="0"/>
              <a:t>Lowest: </a:t>
            </a:r>
            <a:r>
              <a:rPr lang="en-US" sz="1600" b="1" dirty="0"/>
              <a:t>60 BPM at 4am</a:t>
            </a:r>
            <a:r>
              <a:rPr lang="en-US" sz="1600" dirty="0"/>
              <a:t> — deep sleep/rest</a:t>
            </a:r>
          </a:p>
          <a:p>
            <a:r>
              <a:rPr lang="en-US" sz="1600" dirty="0"/>
              <a:t>Highest: </a:t>
            </a:r>
            <a:r>
              <a:rPr lang="en-US" sz="1600" b="1" dirty="0"/>
              <a:t>86 BPM at 6pm</a:t>
            </a:r>
            <a:r>
              <a:rPr lang="en-US" sz="1600" dirty="0"/>
              <a:t> — peak activity window</a:t>
            </a:r>
          </a:p>
          <a:p>
            <a:r>
              <a:rPr lang="en-US" sz="1600" dirty="0"/>
              <a:t>Overall avg: </a:t>
            </a:r>
            <a:r>
              <a:rPr lang="en-US" sz="1600" b="1" dirty="0"/>
              <a:t>75.20 BPM</a:t>
            </a:r>
            <a:r>
              <a:rPr lang="en-US" sz="1600" dirty="0"/>
              <a:t> — normal resting to light activity range</a:t>
            </a:r>
          </a:p>
          <a:p>
            <a:endParaRPr lang="en-US" sz="1600" dirty="0"/>
          </a:p>
          <a:p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058191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C5442DD-F94A-9670-6147-85117ECB02CD}"/>
              </a:ext>
            </a:extLst>
          </p:cNvPr>
          <p:cNvSpPr txBox="1"/>
          <p:nvPr/>
        </p:nvSpPr>
        <p:spPr>
          <a:xfrm>
            <a:off x="729343" y="370114"/>
            <a:ext cx="10515600" cy="73866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19. How much time do users spend in each heart rate zone?</a:t>
            </a:r>
          </a:p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A. From the HR zones bar chart:</a:t>
            </a:r>
          </a:p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Light zone (60–100 BPM): </a:t>
            </a: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~1.8 million readings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— dominant zone</a:t>
            </a:r>
          </a:p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Resting zone (&lt;60 BPM): </a:t>
            </a: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~375,000 readings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Moderate zone (100–140 BPM): </a:t>
            </a: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~250,000 readings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Hard zone (140–170 BPM): </a:t>
            </a: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~30,000 readings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Maximum zone (&gt;170 BPM): </a:t>
            </a: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minimal readings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Users spend the overwhelming majority of time in the Light heart rate zone — confirming they are lightly active rather than intensively training.</a:t>
            </a:r>
          </a:p>
          <a:p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IN" sz="2400" b="1" dirty="0">
                <a:latin typeface="Arial" panose="020B0604020202020204" pitchFamily="34" charset="0"/>
                <a:cs typeface="Arial" panose="020B0604020202020204" pitchFamily="34" charset="0"/>
              </a:rPr>
              <a:t>Marketing Strategy</a:t>
            </a:r>
          </a:p>
          <a:p>
            <a:endParaRPr lang="en-IN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20. </a:t>
            </a: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When is the best time to send push notifications?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A.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From the peak activity heatmap the two clearest windows are:</a:t>
            </a:r>
          </a:p>
          <a:p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Saturday 12pm–1pm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— darkest cell in entire heatmap — highest activity</a:t>
            </a:r>
          </a:p>
          <a:p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Wednesday 5pm–6pm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— highest weekday peak</a:t>
            </a:r>
          </a:p>
          <a:p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Monday 6pm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— strong evening spike</a:t>
            </a:r>
          </a:p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Best notification windows: </a:t>
            </a: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12pm–1pm on Saturdays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and </a:t>
            </a: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5pm–7pm on weekdays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21. Which user segment should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Bellabeat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target first?</a:t>
            </a:r>
          </a:p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A: </a:t>
            </a: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Lightly Active users at 58.29%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are the primary target segment. They represent the largest group, are already engaged with the device, and are closest to reaching activity goals — needing only an average of </a:t>
            </a: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1,680 additional steps per day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to meet CDC benchmarks. The "Steps Gap vs CDC Benchmark" chart shows Sedentary users average only 1,900 steps while Lightly Active average 6,200 — making Lightly Active users the highest conversion opportunity.</a:t>
            </a:r>
          </a:p>
          <a:p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IN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47333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342595D-22DF-5187-8C3A-E562DFF7B57D}"/>
              </a:ext>
            </a:extLst>
          </p:cNvPr>
          <p:cNvSpPr txBox="1"/>
          <p:nvPr/>
        </p:nvSpPr>
        <p:spPr>
          <a:xfrm>
            <a:off x="500742" y="289679"/>
            <a:ext cx="11553726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22. Should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Bellabeat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market primarily as a fitness tracker or sleep tracker?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A: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Sleep tracker positioning is stronger.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The data shows: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Steps goal met: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35.11%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of days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Sleep goal met: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55.85%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of days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However sleep deficit of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1.01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hrs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per night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and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44.15% of nights under 7 hours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indicates users struggle significantly with sleep quality. Combined with the negative steps-sleep correlation — active users sleep less —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Bellabeat's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strongest message is: </a:t>
            </a:r>
            <a:r>
              <a:rPr lang="en-US" i="1" dirty="0">
                <a:latin typeface="Arial" panose="020B0604020202020204" pitchFamily="34" charset="0"/>
                <a:cs typeface="Arial" panose="020B0604020202020204" pitchFamily="34" charset="0"/>
              </a:rPr>
              <a:t>"You're already moving. Now let us help you recover better.“</a:t>
            </a:r>
          </a:p>
          <a:p>
            <a:endParaRPr lang="en-US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IN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D816098-5DB7-6BA9-3B77-773B1DF4A6A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05999906"/>
              </p:ext>
            </p:extLst>
          </p:nvPr>
        </p:nvGraphicFramePr>
        <p:xfrm>
          <a:off x="669072" y="3152001"/>
          <a:ext cx="9555532" cy="1341120"/>
        </p:xfrm>
        <a:graphic>
          <a:graphicData uri="http://schemas.openxmlformats.org/drawingml/2006/table">
            <a:tbl>
              <a:tblPr/>
              <a:tblGrid>
                <a:gridCol w="1230009">
                  <a:extLst>
                    <a:ext uri="{9D8B030D-6E8A-4147-A177-3AD203B41FA5}">
                      <a16:colId xmlns:a16="http://schemas.microsoft.com/office/drawing/2014/main" val="821732397"/>
                    </a:ext>
                  </a:extLst>
                </a:gridCol>
                <a:gridCol w="2701683">
                  <a:extLst>
                    <a:ext uri="{9D8B030D-6E8A-4147-A177-3AD203B41FA5}">
                      <a16:colId xmlns:a16="http://schemas.microsoft.com/office/drawing/2014/main" val="2400460010"/>
                    </a:ext>
                  </a:extLst>
                </a:gridCol>
                <a:gridCol w="5623840">
                  <a:extLst>
                    <a:ext uri="{9D8B030D-6E8A-4147-A177-3AD203B41FA5}">
                      <a16:colId xmlns:a16="http://schemas.microsoft.com/office/drawing/2014/main" val="288591731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Priority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Feature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Evidence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289465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1st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Automated sleep detection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52.49% track activity only — sleep tracking gap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997649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2nd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Smart activity nudges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65% miss step goal — need reminders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580855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3rd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Streak gamification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Device drop-off visible in usage trend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44477474"/>
                  </a:ext>
                </a:extLst>
              </a:tr>
            </a:tbl>
          </a:graphicData>
        </a:graphic>
      </p:graphicFrame>
      <p:sp>
        <p:nvSpPr>
          <p:cNvPr id="4" name="Rectangle 1">
            <a:extLst>
              <a:ext uri="{FF2B5EF4-FFF2-40B4-BE49-F238E27FC236}">
                <a16:creationId xmlns:a16="http://schemas.microsoft.com/office/drawing/2014/main" id="{8C1D0072-A8FD-5DF8-0A56-50EDAB5288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0741" y="2446120"/>
            <a:ext cx="9892195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23. What product feature would drive highest engagement improvement?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Three features ranked by impact: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5D7A25A-C44F-E588-02CF-5053C02E142E}"/>
              </a:ext>
            </a:extLst>
          </p:cNvPr>
          <p:cNvSpPr txBox="1"/>
          <p:nvPr/>
        </p:nvSpPr>
        <p:spPr>
          <a:xfrm>
            <a:off x="500740" y="4635138"/>
            <a:ext cx="11397345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24</a:t>
            </a: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Is there a relationship between physical activity and sleep?</a:t>
            </a:r>
          </a:p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A: Yes — but it is </a:t>
            </a: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negative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. The steps vs sleep scatter plot shows a clear downward trend line — more steps correlates with slightly less sleep. The "Does More Activity Lead to Better Sleep?" scatter in Power BI confirms this. This is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Bellabeat's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most powerful marketing insight: </a:t>
            </a:r>
            <a:r>
              <a:rPr lang="en-US" sz="1600" i="1" dirty="0">
                <a:latin typeface="Arial" panose="020B0604020202020204" pitchFamily="34" charset="0"/>
                <a:cs typeface="Arial" panose="020B0604020202020204" pitchFamily="34" charset="0"/>
              </a:rPr>
              <a:t>"More active users are sleeping less — they are trading recovery for exercise. </a:t>
            </a:r>
            <a:r>
              <a:rPr lang="en-US" sz="1600" i="1" dirty="0" err="1">
                <a:latin typeface="Arial" panose="020B0604020202020204" pitchFamily="34" charset="0"/>
                <a:cs typeface="Arial" panose="020B0604020202020204" pitchFamily="34" charset="0"/>
              </a:rPr>
              <a:t>Bellabeat</a:t>
            </a:r>
            <a:r>
              <a:rPr lang="en-US" sz="1600" i="1" dirty="0">
                <a:latin typeface="Arial" panose="020B0604020202020204" pitchFamily="34" charset="0"/>
                <a:cs typeface="Arial" panose="020B0604020202020204" pitchFamily="34" charset="0"/>
              </a:rPr>
              <a:t> helps you balance both — track your activity AND protect your sleep."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8072242"/>
      </p:ext>
    </p:extLst>
  </p:cSld>
  <p:clrMapOvr>
    <a:masterClrMapping/>
  </p:clrMapOvr>
</p:sld>
</file>

<file path=ppt/theme/theme1.xml><?xml version="1.0" encoding="utf-8"?>
<a:theme xmlns:a="http://schemas.openxmlformats.org/drawingml/2006/main" name="Vapor Trail">
  <a:themeElements>
    <a:clrScheme name="Vapor Trail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DF2E28"/>
      </a:accent1>
      <a:accent2>
        <a:srgbClr val="FE801A"/>
      </a:accent2>
      <a:accent3>
        <a:srgbClr val="E9BF35"/>
      </a:accent3>
      <a:accent4>
        <a:srgbClr val="81BB42"/>
      </a:accent4>
      <a:accent5>
        <a:srgbClr val="32C7A9"/>
      </a:accent5>
      <a:accent6>
        <a:srgbClr val="4A9BDC"/>
      </a:accent6>
      <a:hlink>
        <a:srgbClr val="F0532B"/>
      </a:hlink>
      <a:folHlink>
        <a:srgbClr val="F38B53"/>
      </a:folHlink>
    </a:clrScheme>
    <a:fontScheme name="Vapor Trail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Vapor Trail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8F31A783-2159-4870-BC29-2BA7D038EA4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220</TotalTime>
  <Words>2329</Words>
  <Application>Microsoft Office PowerPoint</Application>
  <PresentationFormat>Widescreen</PresentationFormat>
  <Paragraphs>185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Century Gothic</vt:lpstr>
      <vt:lpstr>Vapor Trail</vt:lpstr>
      <vt:lpstr>BELLABeAT SMART DEVICE ANALYSIS(STARVA FITNESS)</vt:lpstr>
      <vt:lpstr>OBJECTIVE: Analyze fitbit smart device data to uncover how users engage with health tracking features across activity, sleep, and wellness metrics — and identify opportunities to strengthen bellabeat's marketing strategy for women's smart wellness products.   DataSET’S USED :   dailyactivity_merged;  sleepDay_merged;  hourlySteps_merged;  heartrate_seconds_merged;  weightLogInfo_merged;  Data Cleaning and Data transformation performed using SQL &amp; Python :  1. Null value check checked all columns across 5 tables for missing values using COUNT(*) - count(column) in SQL. Identified 65 null values in fat column of weightloginfo — excluded from analysis due to 97% null rate.   2. Duplicate removal found and removed 3 duplicate records in sleepday_merged using SELECT DISTINCT — created sleepday_cleaned table.  3. Date standardization converted all date columns from M/D/YYYY and M/D/YYYY H:MM:SS AM/PM format to YYYY-MM-DD format using SUBSTR() and PRINTF() functions in sqlite across all 5 tables.   4. Outlier detection &amp; removal flagged and removed rows where: totalsteps = 0 — device not worn sedentaryminutes &gt; 1440 — exceeds 24 hours (impossible)          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Harika Challa</dc:creator>
  <cp:lastModifiedBy>Harika Challa</cp:lastModifiedBy>
  <cp:revision>1</cp:revision>
  <dcterms:created xsi:type="dcterms:W3CDTF">2026-06-09T14:43:31Z</dcterms:created>
  <dcterms:modified xsi:type="dcterms:W3CDTF">2026-06-10T05:54:23Z</dcterms:modified>
</cp:coreProperties>
</file>