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sldIdLst>
    <p:sldId id="256" r:id="rId2"/>
    <p:sldId id="257" r:id="rId3"/>
    <p:sldId id="258" r:id="rId4"/>
    <p:sldId id="261" r:id="rId5"/>
    <p:sldId id="259" r:id="rId6"/>
    <p:sldId id="264" r:id="rId7"/>
    <p:sldId id="265" r:id="rId8"/>
    <p:sldId id="262"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9508E3-6929-4315-8AF5-BCCA7A0E69B0}" v="9" dt="2026-08-28T16:04:52.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2" autoAdjust="0"/>
    <p:restoredTop sz="94660"/>
  </p:normalViewPr>
  <p:slideViewPr>
    <p:cSldViewPr snapToGrid="0">
      <p:cViewPr varScale="1">
        <p:scale>
          <a:sx n="59" d="100"/>
          <a:sy n="59" d="100"/>
        </p:scale>
        <p:origin x="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a Challa" userId="135cdfd11f38c2ac" providerId="LiveId" clId="{D76684D5-5A26-45C6-AD39-980DC061D39F}"/>
    <pc:docChg chg="custSel addSld delSld modSld sldOrd">
      <pc:chgData name="Harika Challa" userId="135cdfd11f38c2ac" providerId="LiveId" clId="{D76684D5-5A26-45C6-AD39-980DC061D39F}" dt="2026-08-28T16:13:10.809" v="254" actId="2696"/>
      <pc:docMkLst>
        <pc:docMk/>
      </pc:docMkLst>
      <pc:sldChg chg="modSp mod">
        <pc:chgData name="Harika Challa" userId="135cdfd11f38c2ac" providerId="LiveId" clId="{D76684D5-5A26-45C6-AD39-980DC061D39F}" dt="2026-08-28T13:32:23.173" v="40" actId="20577"/>
        <pc:sldMkLst>
          <pc:docMk/>
          <pc:sldMk cId="3303419678" sldId="256"/>
        </pc:sldMkLst>
        <pc:spChg chg="mod">
          <ac:chgData name="Harika Challa" userId="135cdfd11f38c2ac" providerId="LiveId" clId="{D76684D5-5A26-45C6-AD39-980DC061D39F}" dt="2026-08-28T13:32:23.173" v="40" actId="20577"/>
          <ac:spMkLst>
            <pc:docMk/>
            <pc:sldMk cId="3303419678" sldId="256"/>
            <ac:spMk id="4" creationId="{93C11714-5032-14A6-F879-7C673693A526}"/>
          </ac:spMkLst>
        </pc:spChg>
      </pc:sldChg>
      <pc:sldChg chg="addSp modSp new mod">
        <pc:chgData name="Harika Challa" userId="135cdfd11f38c2ac" providerId="LiveId" clId="{D76684D5-5A26-45C6-AD39-980DC061D39F}" dt="2026-08-28T15:29:24.334" v="125" actId="255"/>
        <pc:sldMkLst>
          <pc:docMk/>
          <pc:sldMk cId="2048891928" sldId="257"/>
        </pc:sldMkLst>
        <pc:spChg chg="add mod">
          <ac:chgData name="Harika Challa" userId="135cdfd11f38c2ac" providerId="LiveId" clId="{D76684D5-5A26-45C6-AD39-980DC061D39F}" dt="2026-08-28T15:29:24.334" v="125" actId="255"/>
          <ac:spMkLst>
            <pc:docMk/>
            <pc:sldMk cId="2048891928" sldId="257"/>
            <ac:spMk id="3" creationId="{105A7407-BFB6-EC3E-54D4-B89D43115B0A}"/>
          </ac:spMkLst>
        </pc:spChg>
      </pc:sldChg>
      <pc:sldChg chg="addSp modSp new mod">
        <pc:chgData name="Harika Challa" userId="135cdfd11f38c2ac" providerId="LiveId" clId="{D76684D5-5A26-45C6-AD39-980DC061D39F}" dt="2026-08-28T15:57:07.421" v="162" actId="255"/>
        <pc:sldMkLst>
          <pc:docMk/>
          <pc:sldMk cId="3092268495" sldId="258"/>
        </pc:sldMkLst>
        <pc:spChg chg="add mod">
          <ac:chgData name="Harika Challa" userId="135cdfd11f38c2ac" providerId="LiveId" clId="{D76684D5-5A26-45C6-AD39-980DC061D39F}" dt="2026-08-28T15:56:50.286" v="159" actId="255"/>
          <ac:spMkLst>
            <pc:docMk/>
            <pc:sldMk cId="3092268495" sldId="258"/>
            <ac:spMk id="3" creationId="{63A26621-1797-A687-DBD6-CFE6852C5BDF}"/>
          </ac:spMkLst>
        </pc:spChg>
        <pc:spChg chg="add mod">
          <ac:chgData name="Harika Challa" userId="135cdfd11f38c2ac" providerId="LiveId" clId="{D76684D5-5A26-45C6-AD39-980DC061D39F}" dt="2026-08-28T15:57:07.421" v="162" actId="255"/>
          <ac:spMkLst>
            <pc:docMk/>
            <pc:sldMk cId="3092268495" sldId="258"/>
            <ac:spMk id="4" creationId="{7C3E66EE-0DE5-8411-698D-6C9BF7882253}"/>
          </ac:spMkLst>
        </pc:spChg>
        <pc:spChg chg="add mod">
          <ac:chgData name="Harika Challa" userId="135cdfd11f38c2ac" providerId="LiveId" clId="{D76684D5-5A26-45C6-AD39-980DC061D39F}" dt="2026-08-28T15:56:55.569" v="160" actId="255"/>
          <ac:spMkLst>
            <pc:docMk/>
            <pc:sldMk cId="3092268495" sldId="258"/>
            <ac:spMk id="5" creationId="{91334D9B-2B27-C807-2B6E-3C6989548BA3}"/>
          </ac:spMkLst>
        </pc:spChg>
      </pc:sldChg>
      <pc:sldChg chg="addSp modSp new mod ord">
        <pc:chgData name="Harika Challa" userId="135cdfd11f38c2ac" providerId="LiveId" clId="{D76684D5-5A26-45C6-AD39-980DC061D39F}" dt="2026-08-28T16:05:54.534" v="242"/>
        <pc:sldMkLst>
          <pc:docMk/>
          <pc:sldMk cId="4256252144" sldId="259"/>
        </pc:sldMkLst>
        <pc:spChg chg="add mod">
          <ac:chgData name="Harika Challa" userId="135cdfd11f38c2ac" providerId="LiveId" clId="{D76684D5-5A26-45C6-AD39-980DC061D39F}" dt="2026-08-28T13:45:24.122" v="104" actId="1076"/>
          <ac:spMkLst>
            <pc:docMk/>
            <pc:sldMk cId="4256252144" sldId="259"/>
            <ac:spMk id="3" creationId="{B7E2FCE3-E427-BB9D-A7E7-55AA6BA1040A}"/>
          </ac:spMkLst>
        </pc:spChg>
        <pc:picChg chg="add mod">
          <ac:chgData name="Harika Challa" userId="135cdfd11f38c2ac" providerId="LiveId" clId="{D76684D5-5A26-45C6-AD39-980DC061D39F}" dt="2026-08-28T13:45:27.517" v="105" actId="1076"/>
          <ac:picMkLst>
            <pc:docMk/>
            <pc:sldMk cId="4256252144" sldId="259"/>
            <ac:picMk id="5" creationId="{15173AD4-94BC-AE98-1C7D-AD76FEDE80D4}"/>
          </ac:picMkLst>
        </pc:picChg>
      </pc:sldChg>
      <pc:sldChg chg="new del">
        <pc:chgData name="Harika Challa" userId="135cdfd11f38c2ac" providerId="LiveId" clId="{D76684D5-5A26-45C6-AD39-980DC061D39F}" dt="2026-08-28T16:13:10.809" v="254" actId="2696"/>
        <pc:sldMkLst>
          <pc:docMk/>
          <pc:sldMk cId="3567366851" sldId="260"/>
        </pc:sldMkLst>
      </pc:sldChg>
      <pc:sldChg chg="addSp modSp new mod">
        <pc:chgData name="Harika Challa" userId="135cdfd11f38c2ac" providerId="LiveId" clId="{D76684D5-5A26-45C6-AD39-980DC061D39F}" dt="2026-08-28T15:59:27.286" v="180" actId="113"/>
        <pc:sldMkLst>
          <pc:docMk/>
          <pc:sldMk cId="1436045565" sldId="261"/>
        </pc:sldMkLst>
        <pc:spChg chg="add mod">
          <ac:chgData name="Harika Challa" userId="135cdfd11f38c2ac" providerId="LiveId" clId="{D76684D5-5A26-45C6-AD39-980DC061D39F}" dt="2026-08-28T15:59:27.286" v="180" actId="113"/>
          <ac:spMkLst>
            <pc:docMk/>
            <pc:sldMk cId="1436045565" sldId="261"/>
            <ac:spMk id="3" creationId="{882DE4F8-0E46-EF67-C1C1-5269B209C486}"/>
          </ac:spMkLst>
        </pc:spChg>
        <pc:spChg chg="add mod">
          <ac:chgData name="Harika Challa" userId="135cdfd11f38c2ac" providerId="LiveId" clId="{D76684D5-5A26-45C6-AD39-980DC061D39F}" dt="2026-08-28T15:58:31.638" v="172" actId="20577"/>
          <ac:spMkLst>
            <pc:docMk/>
            <pc:sldMk cId="1436045565" sldId="261"/>
            <ac:spMk id="5" creationId="{E5E168E2-43A8-19DE-12AD-8FA63C209469}"/>
          </ac:spMkLst>
        </pc:spChg>
        <pc:spChg chg="add mod">
          <ac:chgData name="Harika Challa" userId="135cdfd11f38c2ac" providerId="LiveId" clId="{D76684D5-5A26-45C6-AD39-980DC061D39F}" dt="2026-08-28T15:59:18.693" v="179" actId="255"/>
          <ac:spMkLst>
            <pc:docMk/>
            <pc:sldMk cId="1436045565" sldId="261"/>
            <ac:spMk id="7" creationId="{81DBC1EE-7909-2EFF-EB5A-1B5C7601BB48}"/>
          </ac:spMkLst>
        </pc:spChg>
      </pc:sldChg>
      <pc:sldChg chg="addSp modSp new mod">
        <pc:chgData name="Harika Challa" userId="135cdfd11f38c2ac" providerId="LiveId" clId="{D76684D5-5A26-45C6-AD39-980DC061D39F}" dt="2026-08-28T16:01:10.660" v="210" actId="14100"/>
        <pc:sldMkLst>
          <pc:docMk/>
          <pc:sldMk cId="1303624330" sldId="262"/>
        </pc:sldMkLst>
        <pc:spChg chg="add mod">
          <ac:chgData name="Harika Challa" userId="135cdfd11f38c2ac" providerId="LiveId" clId="{D76684D5-5A26-45C6-AD39-980DC061D39F}" dt="2026-08-28T16:01:10.660" v="210" actId="14100"/>
          <ac:spMkLst>
            <pc:docMk/>
            <pc:sldMk cId="1303624330" sldId="262"/>
            <ac:spMk id="3" creationId="{03401CD5-AE5C-F0C5-90D2-CABE1CCB4484}"/>
          </ac:spMkLst>
        </pc:spChg>
      </pc:sldChg>
      <pc:sldChg chg="addSp modSp new mod">
        <pc:chgData name="Harika Challa" userId="135cdfd11f38c2ac" providerId="LiveId" clId="{D76684D5-5A26-45C6-AD39-980DC061D39F}" dt="2026-08-28T16:05:02.917" v="240" actId="2711"/>
        <pc:sldMkLst>
          <pc:docMk/>
          <pc:sldMk cId="21783995" sldId="263"/>
        </pc:sldMkLst>
        <pc:spChg chg="add mod">
          <ac:chgData name="Harika Challa" userId="135cdfd11f38c2ac" providerId="LiveId" clId="{D76684D5-5A26-45C6-AD39-980DC061D39F}" dt="2026-08-28T16:05:02.917" v="240" actId="2711"/>
          <ac:spMkLst>
            <pc:docMk/>
            <pc:sldMk cId="21783995" sldId="263"/>
            <ac:spMk id="3" creationId="{7F6F970A-9925-5210-0F2C-6A6C678CFE48}"/>
          </ac:spMkLst>
        </pc:spChg>
      </pc:sldChg>
      <pc:sldChg chg="addSp modSp new mod">
        <pc:chgData name="Harika Challa" userId="135cdfd11f38c2ac" providerId="LiveId" clId="{D76684D5-5A26-45C6-AD39-980DC061D39F}" dt="2026-08-28T16:12:13.542" v="249" actId="14100"/>
        <pc:sldMkLst>
          <pc:docMk/>
          <pc:sldMk cId="2661538632" sldId="264"/>
        </pc:sldMkLst>
        <pc:picChg chg="add mod">
          <ac:chgData name="Harika Challa" userId="135cdfd11f38c2ac" providerId="LiveId" clId="{D76684D5-5A26-45C6-AD39-980DC061D39F}" dt="2026-08-28T16:12:13.542" v="249" actId="14100"/>
          <ac:picMkLst>
            <pc:docMk/>
            <pc:sldMk cId="2661538632" sldId="264"/>
            <ac:picMk id="3" creationId="{ABF5DE4B-B300-1F94-0476-F4D280CA1F63}"/>
          </ac:picMkLst>
        </pc:picChg>
      </pc:sldChg>
      <pc:sldChg chg="addSp modSp new mod">
        <pc:chgData name="Harika Challa" userId="135cdfd11f38c2ac" providerId="LiveId" clId="{D76684D5-5A26-45C6-AD39-980DC061D39F}" dt="2026-08-28T16:12:48.364" v="253" actId="14100"/>
        <pc:sldMkLst>
          <pc:docMk/>
          <pc:sldMk cId="3358522421" sldId="265"/>
        </pc:sldMkLst>
        <pc:picChg chg="add mod">
          <ac:chgData name="Harika Challa" userId="135cdfd11f38c2ac" providerId="LiveId" clId="{D76684D5-5A26-45C6-AD39-980DC061D39F}" dt="2026-08-28T16:12:48.364" v="253" actId="14100"/>
          <ac:picMkLst>
            <pc:docMk/>
            <pc:sldMk cId="3358522421" sldId="265"/>
            <ac:picMk id="3" creationId="{D8F1A824-0E22-E2E4-BE03-0640006A344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3374871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1532240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1733141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E90F0A-63BA-4F54-8BC9-F52D222747EA}" type="datetimeFigureOut">
              <a:rPr lang="en-IN" smtClean="0"/>
              <a:t>28-08-2026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178901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E90F0A-63BA-4F54-8BC9-F52D222747EA}" type="datetimeFigureOut">
              <a:rPr lang="en-IN" smtClean="0"/>
              <a:t>28-08-2026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1997898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3E90F0A-63BA-4F54-8BC9-F52D222747EA}" type="datetimeFigureOut">
              <a:rPr lang="en-IN" smtClean="0"/>
              <a:t>28-08-2026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2637151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E90F0A-63BA-4F54-8BC9-F52D222747EA}" type="datetimeFigureOut">
              <a:rPr lang="en-IN" smtClean="0"/>
              <a:t>28-08-2026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44315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E90F0A-63BA-4F54-8BC9-F52D222747EA}" type="datetimeFigureOut">
              <a:rPr lang="en-IN" smtClean="0"/>
              <a:t>28-08-2026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307873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C3E90F0A-63BA-4F54-8BC9-F52D222747EA}" type="datetimeFigureOut">
              <a:rPr lang="en-IN" smtClean="0"/>
              <a:t>28-08-2026</a:t>
            </a:fld>
            <a:endParaRPr lang="en-IN"/>
          </a:p>
        </p:txBody>
      </p:sp>
      <p:sp>
        <p:nvSpPr>
          <p:cNvPr id="6" name="Footer Placeholder 5"/>
          <p:cNvSpPr>
            <a:spLocks noGrp="1"/>
          </p:cNvSpPr>
          <p:nvPr>
            <p:ph type="ftr" sz="quarter" idx="11"/>
          </p:nvPr>
        </p:nvSpPr>
        <p:spPr>
          <a:xfrm>
            <a:off x="1141412" y="5883275"/>
            <a:ext cx="5105400" cy="365125"/>
          </a:xfrm>
        </p:spPr>
        <p:txBody>
          <a:bodyPr/>
          <a:lstStyle/>
          <a:p>
            <a:endParaRPr lang="en-IN"/>
          </a:p>
        </p:txBody>
      </p:sp>
      <p:sp>
        <p:nvSpPr>
          <p:cNvPr id="7" name="Slide Number Placeholder 6"/>
          <p:cNvSpPr>
            <a:spLocks noGrp="1"/>
          </p:cNvSpPr>
          <p:nvPr>
            <p:ph type="sldNum" sz="quarter" idx="12"/>
          </p:nvPr>
        </p:nvSpPr>
        <p:spPr>
          <a:xfrm>
            <a:off x="10742612" y="5883275"/>
            <a:ext cx="322567" cy="365125"/>
          </a:xfrm>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2810382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E90F0A-63BA-4F54-8BC9-F52D222747EA}" type="datetimeFigureOut">
              <a:rPr lang="en-IN" smtClean="0"/>
              <a:t>28-08-2026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1552800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2515104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75306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4150690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2215453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3735989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31374967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E90F0A-63BA-4F54-8BC9-F52D222747EA}" type="datetimeFigureOut">
              <a:rPr lang="en-IN" smtClean="0"/>
              <a:t>28-08-2026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626101-ADA8-4DC0-8EA7-2814F7923F76}" type="slidenum">
              <a:rPr lang="en-IN" smtClean="0"/>
              <a:t>‹#›</a:t>
            </a:fld>
            <a:endParaRPr lang="en-IN"/>
          </a:p>
        </p:txBody>
      </p:sp>
    </p:spTree>
    <p:extLst>
      <p:ext uri="{BB962C8B-B14F-4D97-AF65-F5344CB8AC3E}">
        <p14:creationId xmlns:p14="http://schemas.microsoft.com/office/powerpoint/2010/main" val="235980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C3E90F0A-63BA-4F54-8BC9-F52D222747EA}" type="datetimeFigureOut">
              <a:rPr lang="en-IN" smtClean="0"/>
              <a:t>28-08-2026</a:t>
            </a:fld>
            <a:endParaRPr lang="en-IN"/>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N"/>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9D626101-ADA8-4DC0-8EA7-2814F7923F76}" type="slidenum">
              <a:rPr lang="en-IN" smtClean="0"/>
              <a:t>‹#›</a:t>
            </a:fld>
            <a:endParaRPr lang="en-IN"/>
          </a:p>
        </p:txBody>
      </p:sp>
    </p:spTree>
    <p:extLst>
      <p:ext uri="{BB962C8B-B14F-4D97-AF65-F5344CB8AC3E}">
        <p14:creationId xmlns:p14="http://schemas.microsoft.com/office/powerpoint/2010/main" val="1267055511"/>
      </p:ext>
    </p:extLst>
  </p:cSld>
  <p:clrMap bg1="dk1" tx1="lt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C2BE8-0AD6-7087-6EA9-D45A0F156D96}"/>
              </a:ext>
            </a:extLst>
          </p:cNvPr>
          <p:cNvSpPr>
            <a:spLocks noGrp="1"/>
          </p:cNvSpPr>
          <p:nvPr>
            <p:ph type="ctrTitle"/>
          </p:nvPr>
        </p:nvSpPr>
        <p:spPr>
          <a:xfrm>
            <a:off x="1885211" y="266700"/>
            <a:ext cx="8676222" cy="2514600"/>
          </a:xfrm>
        </p:spPr>
        <p:txBody>
          <a:bodyPr/>
          <a:lstStyle/>
          <a:p>
            <a:r>
              <a:rPr lang="en-IN" b="1" dirty="0">
                <a:latin typeface="Arial" panose="020B0604020202020204" pitchFamily="34" charset="0"/>
                <a:cs typeface="Arial" panose="020B0604020202020204" pitchFamily="34" charset="0"/>
              </a:rPr>
              <a:t>Mutual Fund Performance And Risk Analytics Dashboard</a:t>
            </a:r>
          </a:p>
        </p:txBody>
      </p:sp>
      <p:sp>
        <p:nvSpPr>
          <p:cNvPr id="3" name="Subtitle 2">
            <a:extLst>
              <a:ext uri="{FF2B5EF4-FFF2-40B4-BE49-F238E27FC236}">
                <a16:creationId xmlns:a16="http://schemas.microsoft.com/office/drawing/2014/main" id="{7BD6FD42-6940-D47D-7790-6CACDA1B2ADE}"/>
              </a:ext>
            </a:extLst>
          </p:cNvPr>
          <p:cNvSpPr>
            <a:spLocks noGrp="1"/>
          </p:cNvSpPr>
          <p:nvPr>
            <p:ph type="subTitle" idx="1"/>
          </p:nvPr>
        </p:nvSpPr>
        <p:spPr>
          <a:xfrm>
            <a:off x="1970931" y="2890777"/>
            <a:ext cx="8676222" cy="1185924"/>
          </a:xfrm>
        </p:spPr>
        <p:txBody>
          <a:bodyPr/>
          <a:lstStyle/>
          <a:p>
            <a:br>
              <a:rPr lang="en-IN" dirty="0">
                <a:latin typeface="Arial" panose="020B0604020202020204" pitchFamily="34" charset="0"/>
                <a:cs typeface="Arial" panose="020B0604020202020204" pitchFamily="34" charset="0"/>
              </a:rPr>
            </a:br>
            <a:r>
              <a:rPr lang="en-IN" i="1" dirty="0">
                <a:latin typeface="Arial" panose="020B0604020202020204" pitchFamily="34" charset="0"/>
                <a:cs typeface="Arial" panose="020B0604020202020204" pitchFamily="34" charset="0"/>
              </a:rPr>
              <a:t>Analysing AUM, Returns, Risk, Cost &amp; Fund Performance using Power BI</a:t>
            </a:r>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3C11714-5032-14A6-F879-7C673693A526}"/>
              </a:ext>
            </a:extLst>
          </p:cNvPr>
          <p:cNvSpPr txBox="1"/>
          <p:nvPr/>
        </p:nvSpPr>
        <p:spPr>
          <a:xfrm>
            <a:off x="8795658" y="4593771"/>
            <a:ext cx="2873828" cy="1200329"/>
          </a:xfrm>
          <a:prstGeom prst="rect">
            <a:avLst/>
          </a:prstGeom>
          <a:noFill/>
        </p:spPr>
        <p:txBody>
          <a:bodyPr wrap="square" rtlCol="0">
            <a:spAutoFit/>
          </a:bodyPr>
          <a:lstStyle/>
          <a:p>
            <a:r>
              <a:rPr lang="en-IN" dirty="0">
                <a:latin typeface="Arial" panose="020B0604020202020204" pitchFamily="34" charset="0"/>
                <a:cs typeface="Arial" panose="020B0604020202020204" pitchFamily="34" charset="0"/>
              </a:rPr>
              <a:t>Name : Challa Harika</a:t>
            </a:r>
          </a:p>
          <a:p>
            <a:r>
              <a:rPr lang="en-IN" dirty="0">
                <a:latin typeface="Arial" panose="020B0604020202020204" pitchFamily="34" charset="0"/>
                <a:cs typeface="Arial" panose="020B0604020202020204" pitchFamily="34" charset="0"/>
              </a:rPr>
              <a:t>Batch : DA/BA Batch</a:t>
            </a:r>
          </a:p>
          <a:p>
            <a:r>
              <a:rPr lang="en-IN" dirty="0">
                <a:latin typeface="Arial" panose="020B0604020202020204" pitchFamily="34" charset="0"/>
                <a:cs typeface="Arial" panose="020B0604020202020204" pitchFamily="34" charset="0"/>
              </a:rPr>
              <a:t>Code : Python, Power BI, DAX, Excel</a:t>
            </a:r>
          </a:p>
        </p:txBody>
      </p:sp>
    </p:spTree>
    <p:extLst>
      <p:ext uri="{BB962C8B-B14F-4D97-AF65-F5344CB8AC3E}">
        <p14:creationId xmlns:p14="http://schemas.microsoft.com/office/powerpoint/2010/main" val="3303419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5A7407-BFB6-EC3E-54D4-B89D43115B0A}"/>
              </a:ext>
            </a:extLst>
          </p:cNvPr>
          <p:cNvSpPr txBox="1"/>
          <p:nvPr/>
        </p:nvSpPr>
        <p:spPr>
          <a:xfrm>
            <a:off x="239486" y="326573"/>
            <a:ext cx="11353800" cy="6524863"/>
          </a:xfrm>
          <a:prstGeom prst="rect">
            <a:avLst/>
          </a:prstGeom>
          <a:noFill/>
        </p:spPr>
        <p:txBody>
          <a:bodyPr wrap="square">
            <a:spAutoFit/>
          </a:bodyPr>
          <a:lstStyle/>
          <a:p>
            <a:pPr>
              <a:buNone/>
            </a:pPr>
            <a:r>
              <a:rPr lang="en-IN" sz="2400" b="1" dirty="0">
                <a:latin typeface="Arial" panose="020B0604020202020204" pitchFamily="34" charset="0"/>
                <a:cs typeface="Arial" panose="020B0604020202020204" pitchFamily="34" charset="0"/>
              </a:rPr>
              <a:t>Business Problem : </a:t>
            </a:r>
          </a:p>
          <a:p>
            <a:pPr>
              <a:buNone/>
            </a:pPr>
            <a:r>
              <a:rPr lang="en-IN" sz="2400" dirty="0">
                <a:latin typeface="Arial" panose="020B0604020202020204" pitchFamily="34" charset="0"/>
                <a:cs typeface="Arial" panose="020B0604020202020204" pitchFamily="34" charset="0"/>
              </a:rPr>
              <a:t>Investors and fund management teams need to evaluate mutual funds across multiple dimensions such as </a:t>
            </a:r>
            <a:r>
              <a:rPr lang="en-IN" sz="2400" b="1" dirty="0">
                <a:latin typeface="Arial" panose="020B0604020202020204" pitchFamily="34" charset="0"/>
                <a:cs typeface="Arial" panose="020B0604020202020204" pitchFamily="34" charset="0"/>
              </a:rPr>
              <a:t>AUM, returns, risk, expense ratio and risk-adjusted performance</a:t>
            </a:r>
            <a:r>
              <a:rPr lang="en-IN" sz="2400" dirty="0">
                <a:latin typeface="Arial" panose="020B0604020202020204" pitchFamily="34" charset="0"/>
                <a:cs typeface="Arial" panose="020B0604020202020204" pitchFamily="34" charset="0"/>
              </a:rPr>
              <a:t>. Looking at individual metrics makes it difficult to identify strong-performing categories, AMCs, managers and schemes.</a:t>
            </a:r>
          </a:p>
          <a:p>
            <a:pPr>
              <a:buNone/>
            </a:pPr>
            <a:endParaRPr lang="en-IN" sz="2400"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Business Objective</a:t>
            </a:r>
          </a:p>
          <a:p>
            <a:r>
              <a:rPr lang="en-IN" sz="2400" dirty="0">
                <a:latin typeface="Arial" panose="020B0604020202020204" pitchFamily="34" charset="0"/>
                <a:cs typeface="Arial" panose="020B0604020202020204" pitchFamily="34" charset="0"/>
              </a:rPr>
              <a:t>The main objective is to evaluate mutual funds using multiple performance and risk factors and build an interactive Power BI dashboard that supports fund comparison, ranking and decision-making.</a:t>
            </a:r>
          </a:p>
          <a:p>
            <a:endParaRPr lang="en-IN" sz="2400" dirty="0">
              <a:latin typeface="Arial" panose="020B0604020202020204" pitchFamily="34" charset="0"/>
              <a:cs typeface="Arial" panose="020B0604020202020204" pitchFamily="34" charset="0"/>
            </a:endParaRPr>
          </a:p>
          <a:p>
            <a:r>
              <a:rPr lang="en-IN" sz="2400" b="1" dirty="0">
                <a:latin typeface="Arial" panose="020B0604020202020204" pitchFamily="34" charset="0"/>
                <a:cs typeface="Arial" panose="020B0604020202020204" pitchFamily="34" charset="0"/>
              </a:rPr>
              <a:t>Problem Statement</a:t>
            </a:r>
          </a:p>
          <a:p>
            <a:r>
              <a:rPr lang="en-IN" sz="2400" dirty="0">
                <a:latin typeface="Arial" panose="020B0604020202020204" pitchFamily="34" charset="0"/>
                <a:cs typeface="Arial" panose="020B0604020202020204" pitchFamily="34" charset="0"/>
              </a:rPr>
              <a:t>Investors have hundreds of mutual fund schemes to choose from, making it difficult to compare them across multiple factors such as return, risk, cost and performance. The project addresses this problem through a structured analytical approach.</a:t>
            </a:r>
          </a:p>
          <a:p>
            <a:endParaRPr lang="en-IN" sz="1600" dirty="0">
              <a:latin typeface="Arial" panose="020B0604020202020204" pitchFamily="34" charset="0"/>
              <a:cs typeface="Arial" panose="020B0604020202020204" pitchFamily="34" charset="0"/>
            </a:endParaRPr>
          </a:p>
          <a:p>
            <a:pPr>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8891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A26621-1797-A687-DBD6-CFE6852C5BDF}"/>
              </a:ext>
            </a:extLst>
          </p:cNvPr>
          <p:cNvSpPr txBox="1"/>
          <p:nvPr/>
        </p:nvSpPr>
        <p:spPr>
          <a:xfrm>
            <a:off x="653144" y="290298"/>
            <a:ext cx="3820885" cy="4708981"/>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Dataset :</a:t>
            </a:r>
          </a:p>
          <a:p>
            <a:pPr marL="285750" indent="-285750">
              <a:buFont typeface="Arial" panose="020B0604020202020204" pitchFamily="34" charset="0"/>
              <a:buChar char="•"/>
            </a:pPr>
            <a:r>
              <a:rPr lang="en-IN" sz="2000" dirty="0">
                <a:latin typeface="Arial" panose="020B0604020202020204" pitchFamily="34" charset="0"/>
                <a:cs typeface="Arial" panose="020B0604020202020204" pitchFamily="34" charset="0"/>
              </a:rPr>
              <a:t> Fund/Scheme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Category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Sub-category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AMC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Fund Manager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AUM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1Y Return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3Y Return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5Y Return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Expense Ratio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Sharpe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Sortino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Risk Level </a:t>
            </a:r>
          </a:p>
          <a:p>
            <a:pPr marL="342900" lvl="0" indent="-342900">
              <a:buFont typeface="Arial" panose="020B0604020202020204" pitchFamily="34" charset="0"/>
              <a:buChar char="•"/>
            </a:pPr>
            <a:r>
              <a:rPr lang="en-IN" sz="2000" dirty="0">
                <a:latin typeface="Arial" panose="020B0604020202020204" pitchFamily="34" charset="0"/>
                <a:cs typeface="Arial" panose="020B0604020202020204" pitchFamily="34" charset="0"/>
              </a:rPr>
              <a:t>Rating</a:t>
            </a:r>
          </a:p>
        </p:txBody>
      </p:sp>
      <p:sp>
        <p:nvSpPr>
          <p:cNvPr id="5" name="TextBox 4">
            <a:extLst>
              <a:ext uri="{FF2B5EF4-FFF2-40B4-BE49-F238E27FC236}">
                <a16:creationId xmlns:a16="http://schemas.microsoft.com/office/drawing/2014/main" id="{91334D9B-2B27-C807-2B6E-3C6989548BA3}"/>
              </a:ext>
            </a:extLst>
          </p:cNvPr>
          <p:cNvSpPr txBox="1"/>
          <p:nvPr/>
        </p:nvSpPr>
        <p:spPr>
          <a:xfrm>
            <a:off x="5334002" y="290298"/>
            <a:ext cx="6096000" cy="1938992"/>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KPIs</a:t>
            </a:r>
          </a:p>
          <a:p>
            <a:pPr marL="342900" lvl="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Average Expense Ratio:</a:t>
            </a:r>
            <a:r>
              <a:rPr lang="en-IN" sz="2000" dirty="0">
                <a:latin typeface="Arial" panose="020B0604020202020204" pitchFamily="34" charset="0"/>
                <a:cs typeface="Arial" panose="020B0604020202020204" pitchFamily="34" charset="0"/>
              </a:rPr>
              <a:t> 0.75% </a:t>
            </a:r>
          </a:p>
          <a:p>
            <a:pPr marL="342900" lvl="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Average 3Y Return:</a:t>
            </a:r>
            <a:r>
              <a:rPr lang="en-IN" sz="2000" dirty="0">
                <a:latin typeface="Arial" panose="020B0604020202020204" pitchFamily="34" charset="0"/>
                <a:cs typeface="Arial" panose="020B0604020202020204" pitchFamily="34" charset="0"/>
              </a:rPr>
              <a:t> 18.72% </a:t>
            </a:r>
          </a:p>
          <a:p>
            <a:pPr marL="342900" lvl="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Average Sharpe:</a:t>
            </a:r>
            <a:r>
              <a:rPr lang="en-IN" sz="2000" dirty="0">
                <a:latin typeface="Arial" panose="020B0604020202020204" pitchFamily="34" charset="0"/>
                <a:cs typeface="Arial" panose="020B0604020202020204" pitchFamily="34" charset="0"/>
              </a:rPr>
              <a:t> 1.25 </a:t>
            </a:r>
          </a:p>
          <a:p>
            <a:pPr marL="342900" lvl="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Average Sortino:</a:t>
            </a:r>
            <a:r>
              <a:rPr lang="en-IN" sz="2000" dirty="0">
                <a:latin typeface="Arial" panose="020B0604020202020204" pitchFamily="34" charset="0"/>
                <a:cs typeface="Arial" panose="020B0604020202020204" pitchFamily="34" charset="0"/>
              </a:rPr>
              <a:t> 2.77 </a:t>
            </a:r>
          </a:p>
          <a:p>
            <a:pPr marL="342900" lvl="0" indent="-342900">
              <a:buFont typeface="Arial" panose="020B0604020202020204" pitchFamily="34" charset="0"/>
              <a:buChar char="•"/>
            </a:pPr>
            <a:r>
              <a:rPr lang="en-IN" sz="2000" b="1" dirty="0">
                <a:latin typeface="Arial" panose="020B0604020202020204" pitchFamily="34" charset="0"/>
                <a:cs typeface="Arial" panose="020B0604020202020204" pitchFamily="34" charset="0"/>
              </a:rPr>
              <a:t>Average Risk Level:</a:t>
            </a:r>
            <a:r>
              <a:rPr lang="en-IN" sz="2000" dirty="0">
                <a:latin typeface="Arial" panose="020B0604020202020204" pitchFamily="34" charset="0"/>
                <a:cs typeface="Arial" panose="020B0604020202020204" pitchFamily="34" charset="0"/>
              </a:rPr>
              <a:t> 4.50</a:t>
            </a:r>
          </a:p>
        </p:txBody>
      </p:sp>
      <p:sp>
        <p:nvSpPr>
          <p:cNvPr id="4" name="TextBox 3">
            <a:extLst>
              <a:ext uri="{FF2B5EF4-FFF2-40B4-BE49-F238E27FC236}">
                <a16:creationId xmlns:a16="http://schemas.microsoft.com/office/drawing/2014/main" id="{7C3E66EE-0DE5-8411-698D-6C9BF7882253}"/>
              </a:ext>
            </a:extLst>
          </p:cNvPr>
          <p:cNvSpPr txBox="1"/>
          <p:nvPr/>
        </p:nvSpPr>
        <p:spPr>
          <a:xfrm>
            <a:off x="653144" y="5259691"/>
            <a:ext cx="10700658" cy="1015663"/>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rPr>
              <a:t>The dataset contains 814 mutual fund schemes and 20 variables. It includes fund information, AUM, expense ratio, fund age, risk metrics such as Sharpe and Sortino, ratings, categories, AMCs, and 1-year, 3-year and 5-year returns.</a:t>
            </a:r>
          </a:p>
        </p:txBody>
      </p:sp>
    </p:spTree>
    <p:extLst>
      <p:ext uri="{BB962C8B-B14F-4D97-AF65-F5344CB8AC3E}">
        <p14:creationId xmlns:p14="http://schemas.microsoft.com/office/powerpoint/2010/main" val="3092268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2DE4F8-0E46-EF67-C1C1-5269B209C486}"/>
              </a:ext>
            </a:extLst>
          </p:cNvPr>
          <p:cNvSpPr txBox="1"/>
          <p:nvPr/>
        </p:nvSpPr>
        <p:spPr>
          <a:xfrm>
            <a:off x="347241" y="289367"/>
            <a:ext cx="11239017" cy="1908215"/>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Project Approach:</a:t>
            </a:r>
          </a:p>
          <a:p>
            <a:pPr>
              <a:buNone/>
            </a:pPr>
            <a:endParaRPr lang="en-IN" sz="2000" b="1" dirty="0">
              <a:latin typeface="Arial" panose="020B0604020202020204" pitchFamily="34" charset="0"/>
              <a:cs typeface="Arial" panose="020B0604020202020204" pitchFamily="34" charset="0"/>
            </a:endParaRPr>
          </a:p>
          <a:p>
            <a:pPr>
              <a:buNone/>
            </a:pPr>
            <a:r>
              <a:rPr lang="en-IN" sz="2000" dirty="0">
                <a:latin typeface="Arial" panose="020B0604020202020204" pitchFamily="34" charset="0"/>
                <a:cs typeface="Arial" panose="020B0604020202020204" pitchFamily="34" charset="0"/>
              </a:rPr>
              <a:t>Business Understanding → Data Understanding → Data Cleaning → Python EDA → Excel Validation → Power BI Transformation → DAX → Data </a:t>
            </a:r>
            <a:r>
              <a:rPr lang="en-IN" sz="2000" dirty="0" err="1">
                <a:latin typeface="Arial" panose="020B0604020202020204" pitchFamily="34" charset="0"/>
                <a:cs typeface="Arial" panose="020B0604020202020204" pitchFamily="34" charset="0"/>
              </a:rPr>
              <a:t>Modeling</a:t>
            </a:r>
            <a:r>
              <a:rPr lang="en-IN" sz="2000" dirty="0">
                <a:latin typeface="Arial" panose="020B0604020202020204" pitchFamily="34" charset="0"/>
                <a:cs typeface="Arial" panose="020B0604020202020204" pitchFamily="34" charset="0"/>
              </a:rPr>
              <a:t> → Dashboard → Insights → Recommendations</a:t>
            </a:r>
          </a:p>
          <a:p>
            <a:pPr>
              <a:buNone/>
            </a:pPr>
            <a:endParaRPr lang="en-IN" dirty="0"/>
          </a:p>
        </p:txBody>
      </p:sp>
      <p:sp>
        <p:nvSpPr>
          <p:cNvPr id="5" name="TextBox 4">
            <a:extLst>
              <a:ext uri="{FF2B5EF4-FFF2-40B4-BE49-F238E27FC236}">
                <a16:creationId xmlns:a16="http://schemas.microsoft.com/office/drawing/2014/main" id="{E5E168E2-43A8-19DE-12AD-8FA63C209469}"/>
              </a:ext>
            </a:extLst>
          </p:cNvPr>
          <p:cNvSpPr txBox="1"/>
          <p:nvPr/>
        </p:nvSpPr>
        <p:spPr>
          <a:xfrm>
            <a:off x="347240" y="2398067"/>
            <a:ext cx="11239017" cy="1631216"/>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Data Cleaning &amp; EDA:</a:t>
            </a:r>
          </a:p>
          <a:p>
            <a:pPr>
              <a:buNone/>
            </a:pPr>
            <a:endParaRPr lang="en-IN" sz="2000" b="1" dirty="0">
              <a:latin typeface="Arial" panose="020B0604020202020204" pitchFamily="34" charset="0"/>
              <a:cs typeface="Arial" panose="020B0604020202020204" pitchFamily="34" charset="0"/>
            </a:endParaRPr>
          </a:p>
          <a:p>
            <a:pPr>
              <a:buNone/>
            </a:pPr>
            <a:r>
              <a:rPr lang="en-IN" sz="2000" dirty="0">
                <a:latin typeface="Arial" panose="020B0604020202020204" pitchFamily="34" charset="0"/>
                <a:cs typeface="Arial" panose="020B0604020202020204" pitchFamily="34" charset="0"/>
              </a:rPr>
              <a:t>During data preparation, I checked data types, duplicates, missing values, invalid values and distributions. In Python, I performed exploratory analysis to understand risk, returns, categories, expense ratios and relationships between variables.</a:t>
            </a:r>
          </a:p>
        </p:txBody>
      </p:sp>
      <p:sp>
        <p:nvSpPr>
          <p:cNvPr id="7" name="TextBox 6">
            <a:extLst>
              <a:ext uri="{FF2B5EF4-FFF2-40B4-BE49-F238E27FC236}">
                <a16:creationId xmlns:a16="http://schemas.microsoft.com/office/drawing/2014/main" id="{81DBC1EE-7909-2EFF-EB5A-1B5C7601BB48}"/>
              </a:ext>
            </a:extLst>
          </p:cNvPr>
          <p:cNvSpPr txBox="1"/>
          <p:nvPr/>
        </p:nvSpPr>
        <p:spPr>
          <a:xfrm>
            <a:off x="347240" y="4274880"/>
            <a:ext cx="10995674" cy="1569660"/>
          </a:xfrm>
          <a:prstGeom prst="rect">
            <a:avLst/>
          </a:prstGeom>
          <a:noFill/>
        </p:spPr>
        <p:txBody>
          <a:bodyPr wrap="square">
            <a:spAutoFit/>
          </a:bodyPr>
          <a:lstStyle/>
          <a:p>
            <a:r>
              <a:rPr lang="en-IN" b="1" dirty="0">
                <a:latin typeface="Arial" panose="020B0604020202020204" pitchFamily="34" charset="0"/>
                <a:cs typeface="Arial" panose="020B0604020202020204" pitchFamily="34" charset="0"/>
              </a:rPr>
              <a:t>Dashboard / KPI Overview:</a:t>
            </a:r>
          </a:p>
          <a:p>
            <a:endParaRPr lang="en-IN" b="1"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After preparing the data, I developed KPIs and DAX measures to evaluate the mutual fund universe. The dashboard allows users to interactively </a:t>
            </a:r>
            <a:r>
              <a:rPr lang="en-IN" sz="2000" dirty="0" err="1">
                <a:latin typeface="Arial" panose="020B0604020202020204" pitchFamily="34" charset="0"/>
                <a:cs typeface="Arial" panose="020B0604020202020204" pitchFamily="34" charset="0"/>
              </a:rPr>
              <a:t>analyze</a:t>
            </a:r>
            <a:r>
              <a:rPr lang="en-IN" sz="2000" dirty="0">
                <a:latin typeface="Arial" panose="020B0604020202020204" pitchFamily="34" charset="0"/>
                <a:cs typeface="Arial" panose="020B0604020202020204" pitchFamily="34" charset="0"/>
              </a:rPr>
              <a:t> fund performance, AUM, risk, cost, ratings and rankings.</a:t>
            </a:r>
            <a:endParaRPr lang="en-IN"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6045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E2FCE3-E427-BB9D-A7E7-55AA6BA1040A}"/>
              </a:ext>
            </a:extLst>
          </p:cNvPr>
          <p:cNvSpPr txBox="1"/>
          <p:nvPr/>
        </p:nvSpPr>
        <p:spPr>
          <a:xfrm>
            <a:off x="3156857" y="326964"/>
            <a:ext cx="6096000" cy="400110"/>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Dashboard Overview</a:t>
            </a:r>
          </a:p>
        </p:txBody>
      </p:sp>
      <p:pic>
        <p:nvPicPr>
          <p:cNvPr id="5" name="Picture 4">
            <a:extLst>
              <a:ext uri="{FF2B5EF4-FFF2-40B4-BE49-F238E27FC236}">
                <a16:creationId xmlns:a16="http://schemas.microsoft.com/office/drawing/2014/main" id="{15173AD4-94BC-AE98-1C7D-AD76FEDE80D4}"/>
              </a:ext>
            </a:extLst>
          </p:cNvPr>
          <p:cNvPicPr>
            <a:picLocks noChangeAspect="1"/>
          </p:cNvPicPr>
          <p:nvPr/>
        </p:nvPicPr>
        <p:blipFill>
          <a:blip r:embed="rId2"/>
          <a:stretch>
            <a:fillRect/>
          </a:stretch>
        </p:blipFill>
        <p:spPr>
          <a:xfrm>
            <a:off x="292009" y="902113"/>
            <a:ext cx="11607981" cy="5628923"/>
          </a:xfrm>
          <a:prstGeom prst="rect">
            <a:avLst/>
          </a:prstGeom>
        </p:spPr>
      </p:pic>
    </p:spTree>
    <p:extLst>
      <p:ext uri="{BB962C8B-B14F-4D97-AF65-F5344CB8AC3E}">
        <p14:creationId xmlns:p14="http://schemas.microsoft.com/office/powerpoint/2010/main" val="425625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F5DE4B-B300-1F94-0476-F4D280CA1F63}"/>
              </a:ext>
            </a:extLst>
          </p:cNvPr>
          <p:cNvPicPr>
            <a:picLocks noChangeAspect="1"/>
          </p:cNvPicPr>
          <p:nvPr/>
        </p:nvPicPr>
        <p:blipFill>
          <a:blip r:embed="rId2"/>
          <a:stretch>
            <a:fillRect/>
          </a:stretch>
        </p:blipFill>
        <p:spPr>
          <a:xfrm>
            <a:off x="249561" y="239487"/>
            <a:ext cx="11757382" cy="6237514"/>
          </a:xfrm>
          <a:prstGeom prst="rect">
            <a:avLst/>
          </a:prstGeom>
        </p:spPr>
      </p:pic>
    </p:spTree>
    <p:extLst>
      <p:ext uri="{BB962C8B-B14F-4D97-AF65-F5344CB8AC3E}">
        <p14:creationId xmlns:p14="http://schemas.microsoft.com/office/powerpoint/2010/main" val="2661538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F1A824-0E22-E2E4-BE03-0640006A3441}"/>
              </a:ext>
            </a:extLst>
          </p:cNvPr>
          <p:cNvPicPr>
            <a:picLocks noChangeAspect="1"/>
          </p:cNvPicPr>
          <p:nvPr/>
        </p:nvPicPr>
        <p:blipFill>
          <a:blip r:embed="rId2"/>
          <a:stretch>
            <a:fillRect/>
          </a:stretch>
        </p:blipFill>
        <p:spPr>
          <a:xfrm>
            <a:off x="179436" y="185058"/>
            <a:ext cx="11881935" cy="6514646"/>
          </a:xfrm>
          <a:prstGeom prst="rect">
            <a:avLst/>
          </a:prstGeom>
        </p:spPr>
      </p:pic>
    </p:spTree>
    <p:extLst>
      <p:ext uri="{BB962C8B-B14F-4D97-AF65-F5344CB8AC3E}">
        <p14:creationId xmlns:p14="http://schemas.microsoft.com/office/powerpoint/2010/main" val="3358522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401CD5-AE5C-F0C5-90D2-CABE1CCB4484}"/>
              </a:ext>
            </a:extLst>
          </p:cNvPr>
          <p:cNvSpPr txBox="1"/>
          <p:nvPr/>
        </p:nvSpPr>
        <p:spPr>
          <a:xfrm>
            <a:off x="272142" y="151179"/>
            <a:ext cx="11636829" cy="6555641"/>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Key Business Insights :</a:t>
            </a:r>
          </a:p>
          <a:p>
            <a:pPr>
              <a:buNone/>
            </a:pPr>
            <a:endParaRPr lang="en-IN" sz="2000" b="1" dirty="0">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Insight 1 — Category Performance</a:t>
            </a:r>
          </a:p>
          <a:p>
            <a:pPr>
              <a:buNone/>
            </a:pPr>
            <a:r>
              <a:rPr lang="en-IN" sz="2000" dirty="0">
                <a:latin typeface="Arial" panose="020B0604020202020204" pitchFamily="34" charset="0"/>
                <a:cs typeface="Arial" panose="020B0604020202020204" pitchFamily="34" charset="0"/>
              </a:rPr>
              <a:t>Equity showed the strongest historical long-term performance, with an average 3-year return of approximately 29.74%, compared with 6.23% for Debt.</a:t>
            </a:r>
          </a:p>
          <a:p>
            <a:pPr>
              <a:buNone/>
            </a:pPr>
            <a:endParaRPr lang="en-IN" sz="2000" dirty="0">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Insight 2 — AUM</a:t>
            </a:r>
          </a:p>
          <a:p>
            <a:pPr>
              <a:buNone/>
            </a:pPr>
            <a:r>
              <a:rPr lang="en-IN" sz="2000" dirty="0">
                <a:latin typeface="Arial" panose="020B0604020202020204" pitchFamily="34" charset="0"/>
                <a:cs typeface="Arial" panose="020B0604020202020204" pitchFamily="34" charset="0"/>
              </a:rPr>
              <a:t>Equity also had the highest AUM, followed by Debt, indicating that these two categories account for a significant portion of assets in the dataset.</a:t>
            </a:r>
          </a:p>
          <a:p>
            <a:pPr>
              <a:buNone/>
            </a:pPr>
            <a:endParaRPr lang="en-IN" sz="2000" dirty="0">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Insight 3 — Risk vs Return</a:t>
            </a:r>
          </a:p>
          <a:p>
            <a:pPr>
              <a:buNone/>
            </a:pPr>
            <a:r>
              <a:rPr lang="en-IN" sz="2000" dirty="0">
                <a:latin typeface="Arial" panose="020B0604020202020204" pitchFamily="34" charset="0"/>
                <a:cs typeface="Arial" panose="020B0604020202020204" pitchFamily="34" charset="0"/>
              </a:rPr>
              <a:t>The analysis showed that higher returns are generally associated with higher volatility, highlighting the importance of evaluating risk along with returns.</a:t>
            </a:r>
          </a:p>
          <a:p>
            <a:pPr>
              <a:buNone/>
            </a:pPr>
            <a:endParaRPr lang="en-IN" sz="2000" dirty="0">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Insight 4 — Expense Ratio</a:t>
            </a:r>
          </a:p>
          <a:p>
            <a:pPr>
              <a:buNone/>
            </a:pPr>
            <a:r>
              <a:rPr lang="en-IN" sz="2000" dirty="0">
                <a:latin typeface="Arial" panose="020B0604020202020204" pitchFamily="34" charset="0"/>
                <a:cs typeface="Arial" panose="020B0604020202020204" pitchFamily="34" charset="0"/>
              </a:rPr>
              <a:t>Debt had the lowest average expense ratio at approximately 0.36%, while Equity had a higher average expense ratio of approximately 1.05%.</a:t>
            </a:r>
          </a:p>
          <a:p>
            <a:pPr>
              <a:buNone/>
            </a:pPr>
            <a:endParaRPr lang="en-IN" sz="2000" dirty="0">
              <a:latin typeface="Arial" panose="020B0604020202020204" pitchFamily="34" charset="0"/>
              <a:cs typeface="Arial" panose="020B0604020202020204" pitchFamily="34" charset="0"/>
            </a:endParaRPr>
          </a:p>
          <a:p>
            <a:pPr>
              <a:buNone/>
            </a:pPr>
            <a:r>
              <a:rPr lang="en-IN" sz="2000" b="1" dirty="0">
                <a:latin typeface="Arial" panose="020B0604020202020204" pitchFamily="34" charset="0"/>
                <a:cs typeface="Arial" panose="020B0604020202020204" pitchFamily="34" charset="0"/>
              </a:rPr>
              <a:t>Insight 5 — Risk Concentration</a:t>
            </a:r>
          </a:p>
          <a:p>
            <a:pPr>
              <a:buNone/>
            </a:pPr>
            <a:r>
              <a:rPr lang="en-IN" sz="2000" dirty="0">
                <a:latin typeface="Arial" panose="020B0604020202020204" pitchFamily="34" charset="0"/>
                <a:cs typeface="Arial" panose="020B0604020202020204" pitchFamily="34" charset="0"/>
              </a:rPr>
              <a:t>Risk Level 6 contained 418 funds, showing that the dataset is heavily concentrated toward the highest risk level.</a:t>
            </a:r>
          </a:p>
        </p:txBody>
      </p:sp>
    </p:spTree>
    <p:extLst>
      <p:ext uri="{BB962C8B-B14F-4D97-AF65-F5344CB8AC3E}">
        <p14:creationId xmlns:p14="http://schemas.microsoft.com/office/powerpoint/2010/main" val="1303624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6F970A-9925-5210-0F2C-6A6C678CFE48}"/>
              </a:ext>
            </a:extLst>
          </p:cNvPr>
          <p:cNvSpPr txBox="1"/>
          <p:nvPr/>
        </p:nvSpPr>
        <p:spPr>
          <a:xfrm>
            <a:off x="293913" y="250372"/>
            <a:ext cx="11549743" cy="6247864"/>
          </a:xfrm>
          <a:prstGeom prst="rect">
            <a:avLst/>
          </a:prstGeom>
          <a:noFill/>
        </p:spPr>
        <p:txBody>
          <a:bodyPr wrap="square">
            <a:spAutoFit/>
          </a:bodyPr>
          <a:lstStyle/>
          <a:p>
            <a:pPr>
              <a:buNone/>
            </a:pPr>
            <a:r>
              <a:rPr lang="en-IN" sz="2000" b="1" dirty="0">
                <a:latin typeface="Arial" panose="020B0604020202020204" pitchFamily="34" charset="0"/>
                <a:cs typeface="Arial" panose="020B0604020202020204" pitchFamily="34" charset="0"/>
              </a:rPr>
              <a:t>Business Impact:</a:t>
            </a:r>
          </a:p>
          <a:p>
            <a:pPr>
              <a:buNone/>
            </a:pPr>
            <a:endParaRPr lang="en-IN" sz="2000" b="1" dirty="0">
              <a:latin typeface="Arial" panose="020B0604020202020204" pitchFamily="34" charset="0"/>
              <a:cs typeface="Arial" panose="020B0604020202020204" pitchFamily="34" charset="0"/>
            </a:endParaRPr>
          </a:p>
          <a:p>
            <a:pPr>
              <a:buNone/>
            </a:pPr>
            <a:r>
              <a:rPr lang="en-IN" sz="2000" dirty="0">
                <a:latin typeface="Arial" panose="020B0604020202020204" pitchFamily="34" charset="0"/>
                <a:cs typeface="Arial" panose="020B0604020202020204" pitchFamily="34" charset="0"/>
              </a:rPr>
              <a:t>These insights can help investment analysts compare categories, identify strong-performing funds, evaluate risk-adjusted performance, understand cost differences and shortlist funds using multiple factors rather than relying only on historical returns.</a:t>
            </a:r>
          </a:p>
          <a:p>
            <a:pPr>
              <a:buNone/>
            </a:pPr>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Recommendations:</a:t>
            </a:r>
          </a:p>
          <a:p>
            <a:endParaRPr lang="en-IN" sz="2000" b="1"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I recommend using a multi-factor evaluation approach. Instead of selecting funds based only on returns, the client should consider returns, volatility, Sharpe and Sortino ratios, expense ratio, rating and AUM together.</a:t>
            </a:r>
          </a:p>
          <a:p>
            <a:r>
              <a:rPr lang="en-IN" sz="2000" dirty="0">
                <a:latin typeface="Arial" panose="020B0604020202020204" pitchFamily="34" charset="0"/>
                <a:cs typeface="Arial" panose="020B0604020202020204" pitchFamily="34" charset="0"/>
              </a:rPr>
              <a:t>The Fund Score and ranking can then be used as a screening mechanism to identify funds for further analysis.</a:t>
            </a:r>
          </a:p>
          <a:p>
            <a:pPr>
              <a:buNone/>
            </a:pPr>
            <a:endParaRPr lang="en-IN" sz="2000" dirty="0">
              <a:latin typeface="Arial" panose="020B0604020202020204" pitchFamily="34" charset="0"/>
              <a:cs typeface="Arial" panose="020B0604020202020204" pitchFamily="34" charset="0"/>
            </a:endParaRPr>
          </a:p>
          <a:p>
            <a:r>
              <a:rPr lang="en-IN" sz="2000" b="1" dirty="0">
                <a:latin typeface="Arial" panose="020B0604020202020204" pitchFamily="34" charset="0"/>
                <a:cs typeface="Arial" panose="020B0604020202020204" pitchFamily="34" charset="0"/>
              </a:rPr>
              <a:t>Conclusion</a:t>
            </a:r>
          </a:p>
          <a:p>
            <a:r>
              <a:rPr lang="en-IN" sz="2000" dirty="0">
                <a:latin typeface="Arial" panose="020B0604020202020204" pitchFamily="34" charset="0"/>
                <a:cs typeface="Arial" panose="020B0604020202020204" pitchFamily="34" charset="0"/>
              </a:rPr>
              <a:t>Overall, the project successfully transformed mutual fund data into actionable insights. The analysis shows that Equity had the strongest historical long-term performance, but higher returns were generally associated with higher risk. Therefore, a balanced evaluation of return, risk, cost and risk-adjusted performance provides a more reliable approach to fund comparison.</a:t>
            </a:r>
          </a:p>
          <a:p>
            <a:pPr>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39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179</TotalTime>
  <Words>687</Words>
  <Application>Microsoft Office PowerPoint</Application>
  <PresentationFormat>Widescreen</PresentationFormat>
  <Paragraphs>72</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Century Gothic</vt:lpstr>
      <vt:lpstr>Mesh</vt:lpstr>
      <vt:lpstr>Mutual Fund Performance And Risk Analytics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Harika Challa</dc:creator>
  <cp:lastModifiedBy>Harika Challa</cp:lastModifiedBy>
  <cp:revision>1</cp:revision>
  <dcterms:created xsi:type="dcterms:W3CDTF">2026-08-28T12:50:42Z</dcterms:created>
  <dcterms:modified xsi:type="dcterms:W3CDTF">2026-08-28T16:13:13Z</dcterms:modified>
</cp:coreProperties>
</file>