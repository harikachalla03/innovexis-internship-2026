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FE3EBA-9585-4777-A89B-0391B1A85993}" v="51" dt="2026-05-03T20:12:40.6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132"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ika Challa" userId="135cdfd11f38c2ac" providerId="LiveId" clId="{D76684D5-5A26-45C6-AD39-980DC061D39F}"/>
    <pc:docChg chg="undo custSel addSld modSld">
      <pc:chgData name="Harika Challa" userId="135cdfd11f38c2ac" providerId="LiveId" clId="{D76684D5-5A26-45C6-AD39-980DC061D39F}" dt="2026-05-03T20:12:51.677" v="1358" actId="20577"/>
      <pc:docMkLst>
        <pc:docMk/>
      </pc:docMkLst>
      <pc:sldChg chg="addSp delSp modSp mod">
        <pc:chgData name="Harika Challa" userId="135cdfd11f38c2ac" providerId="LiveId" clId="{D76684D5-5A26-45C6-AD39-980DC061D39F}" dt="2026-05-03T20:06:40.274" v="1334" actId="20577"/>
        <pc:sldMkLst>
          <pc:docMk/>
          <pc:sldMk cId="669565336" sldId="257"/>
        </pc:sldMkLst>
        <pc:spChg chg="del">
          <ac:chgData name="Harika Challa" userId="135cdfd11f38c2ac" providerId="LiveId" clId="{D76684D5-5A26-45C6-AD39-980DC061D39F}" dt="2026-05-03T17:26:43.416" v="85" actId="21"/>
          <ac:spMkLst>
            <pc:docMk/>
            <pc:sldMk cId="669565336" sldId="257"/>
            <ac:spMk id="2" creationId="{1ECC906C-3DD7-296F-0D56-1B1E6139A8C6}"/>
          </ac:spMkLst>
        </pc:spChg>
        <pc:spChg chg="del mod">
          <ac:chgData name="Harika Challa" userId="135cdfd11f38c2ac" providerId="LiveId" clId="{D76684D5-5A26-45C6-AD39-980DC061D39F}" dt="2026-05-03T17:26:38.723" v="84" actId="21"/>
          <ac:spMkLst>
            <pc:docMk/>
            <pc:sldMk cId="669565336" sldId="257"/>
            <ac:spMk id="4" creationId="{9078151B-DBC8-A778-1694-82C9E3906ECF}"/>
          </ac:spMkLst>
        </pc:spChg>
        <pc:spChg chg="add mod">
          <ac:chgData name="Harika Challa" userId="135cdfd11f38c2ac" providerId="LiveId" clId="{D76684D5-5A26-45C6-AD39-980DC061D39F}" dt="2026-05-03T20:06:40.274" v="1334" actId="20577"/>
          <ac:spMkLst>
            <pc:docMk/>
            <pc:sldMk cId="669565336" sldId="257"/>
            <ac:spMk id="6" creationId="{BA313DEC-7441-B787-7D87-8DBCA533C6EE}"/>
          </ac:spMkLst>
        </pc:spChg>
      </pc:sldChg>
      <pc:sldChg chg="addSp delSp modSp new mod">
        <pc:chgData name="Harika Challa" userId="135cdfd11f38c2ac" providerId="LiveId" clId="{D76684D5-5A26-45C6-AD39-980DC061D39F}" dt="2026-05-03T18:43:57.583" v="1036" actId="20577"/>
        <pc:sldMkLst>
          <pc:docMk/>
          <pc:sldMk cId="1120537050" sldId="258"/>
        </pc:sldMkLst>
        <pc:spChg chg="add del mod">
          <ac:chgData name="Harika Challa" userId="135cdfd11f38c2ac" providerId="LiveId" clId="{D76684D5-5A26-45C6-AD39-980DC061D39F}" dt="2026-05-03T17:27:29.499" v="97"/>
          <ac:spMkLst>
            <pc:docMk/>
            <pc:sldMk cId="1120537050" sldId="258"/>
            <ac:spMk id="2" creationId="{1E517B7D-549C-F783-856F-E1FB4DDB72FB}"/>
          </ac:spMkLst>
        </pc:spChg>
        <pc:spChg chg="add mod">
          <ac:chgData name="Harika Challa" userId="135cdfd11f38c2ac" providerId="LiveId" clId="{D76684D5-5A26-45C6-AD39-980DC061D39F}" dt="2026-05-03T18:43:57.583" v="1036" actId="20577"/>
          <ac:spMkLst>
            <pc:docMk/>
            <pc:sldMk cId="1120537050" sldId="258"/>
            <ac:spMk id="3" creationId="{1ECC906C-3DD7-296F-0D56-1B1E6139A8C6}"/>
          </ac:spMkLst>
        </pc:spChg>
        <pc:spChg chg="add">
          <ac:chgData name="Harika Challa" userId="135cdfd11f38c2ac" providerId="LiveId" clId="{D76684D5-5A26-45C6-AD39-980DC061D39F}" dt="2026-05-03T17:31:29.764" v="190"/>
          <ac:spMkLst>
            <pc:docMk/>
            <pc:sldMk cId="1120537050" sldId="258"/>
            <ac:spMk id="4" creationId="{BCB05801-49EF-182D-38B1-3D5BC16B4E98}"/>
          </ac:spMkLst>
        </pc:spChg>
        <pc:spChg chg="add del mod">
          <ac:chgData name="Harika Challa" userId="135cdfd11f38c2ac" providerId="LiveId" clId="{D76684D5-5A26-45C6-AD39-980DC061D39F}" dt="2026-05-03T17:33:54.724" v="238" actId="21"/>
          <ac:spMkLst>
            <pc:docMk/>
            <pc:sldMk cId="1120537050" sldId="258"/>
            <ac:spMk id="5" creationId="{8ED6BE13-A27D-E140-6DFC-18930870A2C3}"/>
          </ac:spMkLst>
        </pc:spChg>
        <pc:spChg chg="add">
          <ac:chgData name="Harika Challa" userId="135cdfd11f38c2ac" providerId="LiveId" clId="{D76684D5-5A26-45C6-AD39-980DC061D39F}" dt="2026-05-03T18:07:37.097" v="929"/>
          <ac:spMkLst>
            <pc:docMk/>
            <pc:sldMk cId="1120537050" sldId="258"/>
            <ac:spMk id="6" creationId="{F3EEA55B-9333-B5B4-C56D-83A5612CE586}"/>
          </ac:spMkLst>
        </pc:spChg>
        <pc:spChg chg="add">
          <ac:chgData name="Harika Challa" userId="135cdfd11f38c2ac" providerId="LiveId" clId="{D76684D5-5A26-45C6-AD39-980DC061D39F}" dt="2026-05-03T18:08:08.028" v="931"/>
          <ac:spMkLst>
            <pc:docMk/>
            <pc:sldMk cId="1120537050" sldId="258"/>
            <ac:spMk id="7" creationId="{F39BD84C-6F46-A4A5-ECDB-DC09DD55C990}"/>
          </ac:spMkLst>
        </pc:spChg>
      </pc:sldChg>
      <pc:sldChg chg="addSp modSp new mod">
        <pc:chgData name="Harika Challa" userId="135cdfd11f38c2ac" providerId="LiveId" clId="{D76684D5-5A26-45C6-AD39-980DC061D39F}" dt="2026-05-03T19:50:15.790" v="1233" actId="20577"/>
        <pc:sldMkLst>
          <pc:docMk/>
          <pc:sldMk cId="695070630" sldId="259"/>
        </pc:sldMkLst>
        <pc:spChg chg="add mod">
          <ac:chgData name="Harika Challa" userId="135cdfd11f38c2ac" providerId="LiveId" clId="{D76684D5-5A26-45C6-AD39-980DC061D39F}" dt="2026-05-03T19:50:15.790" v="1233" actId="20577"/>
          <ac:spMkLst>
            <pc:docMk/>
            <pc:sldMk cId="695070630" sldId="259"/>
            <ac:spMk id="2" creationId="{EEEFB536-661B-0793-3321-1C97C5D80049}"/>
          </ac:spMkLst>
        </pc:spChg>
      </pc:sldChg>
      <pc:sldChg chg="addSp delSp modSp new mod">
        <pc:chgData name="Harika Challa" userId="135cdfd11f38c2ac" providerId="LiveId" clId="{D76684D5-5A26-45C6-AD39-980DC061D39F}" dt="2026-05-03T20:12:51.677" v="1358" actId="20577"/>
        <pc:sldMkLst>
          <pc:docMk/>
          <pc:sldMk cId="4207443268" sldId="260"/>
        </pc:sldMkLst>
        <pc:spChg chg="add del mod">
          <ac:chgData name="Harika Challa" userId="135cdfd11f38c2ac" providerId="LiveId" clId="{D76684D5-5A26-45C6-AD39-980DC061D39F}" dt="2026-05-03T19:50:54.844" v="1240" actId="21"/>
          <ac:spMkLst>
            <pc:docMk/>
            <pc:sldMk cId="4207443268" sldId="260"/>
            <ac:spMk id="2" creationId="{2FA6CFCF-B309-5C8B-7F11-5AB392E075EB}"/>
          </ac:spMkLst>
        </pc:spChg>
        <pc:spChg chg="add del mod">
          <ac:chgData name="Harika Challa" userId="135cdfd11f38c2ac" providerId="LiveId" clId="{D76684D5-5A26-45C6-AD39-980DC061D39F}" dt="2026-05-03T20:02:24.838" v="1298"/>
          <ac:spMkLst>
            <pc:docMk/>
            <pc:sldMk cId="4207443268" sldId="260"/>
            <ac:spMk id="3" creationId="{C631E331-34F2-CC51-3D79-2F926B1274DD}"/>
          </ac:spMkLst>
        </pc:spChg>
        <pc:spChg chg="add mod">
          <ac:chgData name="Harika Challa" userId="135cdfd11f38c2ac" providerId="LiveId" clId="{D76684D5-5A26-45C6-AD39-980DC061D39F}" dt="2026-05-03T20:12:51.677" v="1358" actId="20577"/>
          <ac:spMkLst>
            <pc:docMk/>
            <pc:sldMk cId="4207443268" sldId="260"/>
            <ac:spMk id="4" creationId="{CCB7546E-6D44-D6A2-B0C3-FD886CBA865D}"/>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2960D6D-5FAE-4681-BF1B-A17AED63F39D}" type="datetimeFigureOut">
              <a:rPr lang="en-IN" smtClean="0"/>
              <a:t>03-05-2026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771284-6149-4402-B402-1D60C86051B2}" type="slidenum">
              <a:rPr lang="en-IN" smtClean="0"/>
              <a:t>‹#›</a:t>
            </a:fld>
            <a:endParaRPr lang="en-IN"/>
          </a:p>
        </p:txBody>
      </p:sp>
    </p:spTree>
    <p:extLst>
      <p:ext uri="{BB962C8B-B14F-4D97-AF65-F5344CB8AC3E}">
        <p14:creationId xmlns:p14="http://schemas.microsoft.com/office/powerpoint/2010/main" val="40953403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960D6D-5FAE-4681-BF1B-A17AED63F39D}" type="datetimeFigureOut">
              <a:rPr lang="en-IN" smtClean="0"/>
              <a:t>03-05-2026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771284-6149-4402-B402-1D60C86051B2}" type="slidenum">
              <a:rPr lang="en-IN" smtClean="0"/>
              <a:t>‹#›</a:t>
            </a:fld>
            <a:endParaRPr lang="en-IN"/>
          </a:p>
        </p:txBody>
      </p:sp>
    </p:spTree>
    <p:extLst>
      <p:ext uri="{BB962C8B-B14F-4D97-AF65-F5344CB8AC3E}">
        <p14:creationId xmlns:p14="http://schemas.microsoft.com/office/powerpoint/2010/main" val="12901485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2960D6D-5FAE-4681-BF1B-A17AED63F39D}" type="datetimeFigureOut">
              <a:rPr lang="en-IN" smtClean="0"/>
              <a:t>03-05-2026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771284-6149-4402-B402-1D60C86051B2}" type="slidenum">
              <a:rPr lang="en-IN" smtClean="0"/>
              <a:t>‹#›</a:t>
            </a:fld>
            <a:endParaRPr lang="en-IN"/>
          </a:p>
        </p:txBody>
      </p:sp>
    </p:spTree>
    <p:extLst>
      <p:ext uri="{BB962C8B-B14F-4D97-AF65-F5344CB8AC3E}">
        <p14:creationId xmlns:p14="http://schemas.microsoft.com/office/powerpoint/2010/main" val="27414837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2960D6D-5FAE-4681-BF1B-A17AED63F39D}" type="datetimeFigureOut">
              <a:rPr lang="en-IN" smtClean="0"/>
              <a:t>03-05-2026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771284-6149-4402-B402-1D60C86051B2}" type="slidenum">
              <a:rPr lang="en-IN" smtClean="0"/>
              <a:t>‹#›</a:t>
            </a:fld>
            <a:endParaRPr lang="en-IN"/>
          </a:p>
        </p:txBody>
      </p:sp>
    </p:spTree>
    <p:extLst>
      <p:ext uri="{BB962C8B-B14F-4D97-AF65-F5344CB8AC3E}">
        <p14:creationId xmlns:p14="http://schemas.microsoft.com/office/powerpoint/2010/main" val="3640427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2960D6D-5FAE-4681-BF1B-A17AED63F39D}" type="datetimeFigureOut">
              <a:rPr lang="en-IN" smtClean="0"/>
              <a:t>03-05-2026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9771284-6149-4402-B402-1D60C86051B2}" type="slidenum">
              <a:rPr lang="en-IN" smtClean="0"/>
              <a:t>‹#›</a:t>
            </a:fld>
            <a:endParaRPr lang="en-IN"/>
          </a:p>
        </p:txBody>
      </p:sp>
    </p:spTree>
    <p:extLst>
      <p:ext uri="{BB962C8B-B14F-4D97-AF65-F5344CB8AC3E}">
        <p14:creationId xmlns:p14="http://schemas.microsoft.com/office/powerpoint/2010/main" val="2641228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2960D6D-5FAE-4681-BF1B-A17AED63F39D}" type="datetimeFigureOut">
              <a:rPr lang="en-IN" smtClean="0"/>
              <a:t>03-05-2026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9771284-6149-4402-B402-1D60C86051B2}" type="slidenum">
              <a:rPr lang="en-IN" smtClean="0"/>
              <a:t>‹#›</a:t>
            </a:fld>
            <a:endParaRPr lang="en-IN"/>
          </a:p>
        </p:txBody>
      </p:sp>
    </p:spTree>
    <p:extLst>
      <p:ext uri="{BB962C8B-B14F-4D97-AF65-F5344CB8AC3E}">
        <p14:creationId xmlns:p14="http://schemas.microsoft.com/office/powerpoint/2010/main" val="35930673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E2960D6D-5FAE-4681-BF1B-A17AED63F39D}" type="datetimeFigureOut">
              <a:rPr lang="en-IN" smtClean="0"/>
              <a:t>03-05-2026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9771284-6149-4402-B402-1D60C86051B2}" type="slidenum">
              <a:rPr lang="en-IN" smtClean="0"/>
              <a:t>‹#›</a:t>
            </a:fld>
            <a:endParaRPr lang="en-IN"/>
          </a:p>
        </p:txBody>
      </p:sp>
    </p:spTree>
    <p:extLst>
      <p:ext uri="{BB962C8B-B14F-4D97-AF65-F5344CB8AC3E}">
        <p14:creationId xmlns:p14="http://schemas.microsoft.com/office/powerpoint/2010/main" val="41147666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2960D6D-5FAE-4681-BF1B-A17AED63F39D}" type="datetimeFigureOut">
              <a:rPr lang="en-IN" smtClean="0"/>
              <a:t>03-05-2026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771284-6149-4402-B402-1D60C86051B2}" type="slidenum">
              <a:rPr lang="en-IN" smtClean="0"/>
              <a:t>‹#›</a:t>
            </a:fld>
            <a:endParaRPr lang="en-IN"/>
          </a:p>
        </p:txBody>
      </p:sp>
    </p:spTree>
    <p:extLst>
      <p:ext uri="{BB962C8B-B14F-4D97-AF65-F5344CB8AC3E}">
        <p14:creationId xmlns:p14="http://schemas.microsoft.com/office/powerpoint/2010/main" val="8471334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2960D6D-5FAE-4681-BF1B-A17AED63F39D}" type="datetimeFigureOut">
              <a:rPr lang="en-IN" smtClean="0"/>
              <a:t>03-05-2026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771284-6149-4402-B402-1D60C86051B2}" type="slidenum">
              <a:rPr lang="en-IN" smtClean="0"/>
              <a:t>‹#›</a:t>
            </a:fld>
            <a:endParaRPr lang="en-IN"/>
          </a:p>
        </p:txBody>
      </p:sp>
    </p:spTree>
    <p:extLst>
      <p:ext uri="{BB962C8B-B14F-4D97-AF65-F5344CB8AC3E}">
        <p14:creationId xmlns:p14="http://schemas.microsoft.com/office/powerpoint/2010/main" val="12668255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2960D6D-5FAE-4681-BF1B-A17AED63F39D}" type="datetimeFigureOut">
              <a:rPr lang="en-IN" smtClean="0"/>
              <a:t>03-05-2026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771284-6149-4402-B402-1D60C86051B2}" type="slidenum">
              <a:rPr lang="en-IN" smtClean="0"/>
              <a:t>‹#›</a:t>
            </a:fld>
            <a:endParaRPr lang="en-IN"/>
          </a:p>
        </p:txBody>
      </p:sp>
    </p:spTree>
    <p:extLst>
      <p:ext uri="{BB962C8B-B14F-4D97-AF65-F5344CB8AC3E}">
        <p14:creationId xmlns:p14="http://schemas.microsoft.com/office/powerpoint/2010/main" val="5256666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2960D6D-5FAE-4681-BF1B-A17AED63F39D}" type="datetimeFigureOut">
              <a:rPr lang="en-IN" smtClean="0"/>
              <a:t>03-05-2026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771284-6149-4402-B402-1D60C86051B2}" type="slidenum">
              <a:rPr lang="en-IN" smtClean="0"/>
              <a:t>‹#›</a:t>
            </a:fld>
            <a:endParaRPr lang="en-IN"/>
          </a:p>
        </p:txBody>
      </p:sp>
    </p:spTree>
    <p:extLst>
      <p:ext uri="{BB962C8B-B14F-4D97-AF65-F5344CB8AC3E}">
        <p14:creationId xmlns:p14="http://schemas.microsoft.com/office/powerpoint/2010/main" val="9233903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2960D6D-5FAE-4681-BF1B-A17AED63F39D}" type="datetimeFigureOut">
              <a:rPr lang="en-IN" smtClean="0"/>
              <a:t>03-05-2026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771284-6149-4402-B402-1D60C86051B2}" type="slidenum">
              <a:rPr lang="en-IN" smtClean="0"/>
              <a:t>‹#›</a:t>
            </a:fld>
            <a:endParaRPr lang="en-IN"/>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4127822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2960D6D-5FAE-4681-BF1B-A17AED63F39D}" type="datetimeFigureOut">
              <a:rPr lang="en-IN" smtClean="0"/>
              <a:t>03-05-2026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771284-6149-4402-B402-1D60C86051B2}" type="slidenum">
              <a:rPr lang="en-IN" smtClean="0"/>
              <a:t>‹#›</a:t>
            </a:fld>
            <a:endParaRPr lang="en-IN"/>
          </a:p>
        </p:txBody>
      </p:sp>
    </p:spTree>
    <p:extLst>
      <p:ext uri="{BB962C8B-B14F-4D97-AF65-F5344CB8AC3E}">
        <p14:creationId xmlns:p14="http://schemas.microsoft.com/office/powerpoint/2010/main" val="27138786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E2960D6D-5FAE-4681-BF1B-A17AED63F39D}" type="datetimeFigureOut">
              <a:rPr lang="en-IN" smtClean="0"/>
              <a:t>03-05-2026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9771284-6149-4402-B402-1D60C86051B2}" type="slidenum">
              <a:rPr lang="en-IN" smtClean="0"/>
              <a:t>‹#›</a:t>
            </a:fld>
            <a:endParaRPr lang="en-IN"/>
          </a:p>
        </p:txBody>
      </p:sp>
    </p:spTree>
    <p:extLst>
      <p:ext uri="{BB962C8B-B14F-4D97-AF65-F5344CB8AC3E}">
        <p14:creationId xmlns:p14="http://schemas.microsoft.com/office/powerpoint/2010/main" val="33782871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E2960D6D-5FAE-4681-BF1B-A17AED63F39D}" type="datetimeFigureOut">
              <a:rPr lang="en-IN" smtClean="0"/>
              <a:t>03-05-2026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9771284-6149-4402-B402-1D60C86051B2}" type="slidenum">
              <a:rPr lang="en-IN" smtClean="0"/>
              <a:t>‹#›</a:t>
            </a:fld>
            <a:endParaRPr lang="en-IN"/>
          </a:p>
        </p:txBody>
      </p:sp>
    </p:spTree>
    <p:extLst>
      <p:ext uri="{BB962C8B-B14F-4D97-AF65-F5344CB8AC3E}">
        <p14:creationId xmlns:p14="http://schemas.microsoft.com/office/powerpoint/2010/main" val="23240507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960D6D-5FAE-4681-BF1B-A17AED63F39D}" type="datetimeFigureOut">
              <a:rPr lang="en-IN" smtClean="0"/>
              <a:t>03-05-2026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771284-6149-4402-B402-1D60C86051B2}" type="slidenum">
              <a:rPr lang="en-IN" smtClean="0"/>
              <a:t>‹#›</a:t>
            </a:fld>
            <a:endParaRPr lang="en-IN"/>
          </a:p>
        </p:txBody>
      </p:sp>
    </p:spTree>
    <p:extLst>
      <p:ext uri="{BB962C8B-B14F-4D97-AF65-F5344CB8AC3E}">
        <p14:creationId xmlns:p14="http://schemas.microsoft.com/office/powerpoint/2010/main" val="6893424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960D6D-5FAE-4681-BF1B-A17AED63F39D}" type="datetimeFigureOut">
              <a:rPr lang="en-IN" smtClean="0"/>
              <a:t>03-05-2026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771284-6149-4402-B402-1D60C86051B2}" type="slidenum">
              <a:rPr lang="en-IN" smtClean="0"/>
              <a:t>‹#›</a:t>
            </a:fld>
            <a:endParaRPr lang="en-IN"/>
          </a:p>
        </p:txBody>
      </p:sp>
    </p:spTree>
    <p:extLst>
      <p:ext uri="{BB962C8B-B14F-4D97-AF65-F5344CB8AC3E}">
        <p14:creationId xmlns:p14="http://schemas.microsoft.com/office/powerpoint/2010/main" val="34191589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E2960D6D-5FAE-4681-BF1B-A17AED63F39D}" type="datetimeFigureOut">
              <a:rPr lang="en-IN" smtClean="0"/>
              <a:t>03-05-2026</a:t>
            </a:fld>
            <a:endParaRPr lang="en-IN"/>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IN"/>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9771284-6149-4402-B402-1D60C86051B2}" type="slidenum">
              <a:rPr lang="en-IN" smtClean="0"/>
              <a:t>‹#›</a:t>
            </a:fld>
            <a:endParaRPr lang="en-IN"/>
          </a:p>
        </p:txBody>
      </p:sp>
    </p:spTree>
    <p:extLst>
      <p:ext uri="{BB962C8B-B14F-4D97-AF65-F5344CB8AC3E}">
        <p14:creationId xmlns:p14="http://schemas.microsoft.com/office/powerpoint/2010/main" val="5430912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4B92D-EBC0-D4BD-4DBD-97A725E1D0AB}"/>
              </a:ext>
            </a:extLst>
          </p:cNvPr>
          <p:cNvSpPr>
            <a:spLocks noGrp="1"/>
          </p:cNvSpPr>
          <p:nvPr>
            <p:ph type="ctrTitle"/>
          </p:nvPr>
        </p:nvSpPr>
        <p:spPr>
          <a:xfrm>
            <a:off x="1751012" y="1099458"/>
            <a:ext cx="8689976" cy="1589314"/>
          </a:xfrm>
        </p:spPr>
        <p:txBody>
          <a:bodyPr/>
          <a:lstStyle/>
          <a:p>
            <a:r>
              <a:rPr lang="en-US" dirty="0" err="1"/>
              <a:t>BirD</a:t>
            </a:r>
            <a:r>
              <a:rPr lang="en-US" dirty="0"/>
              <a:t> SPECIES OBSERVATION ANALYSIS</a:t>
            </a:r>
            <a:endParaRPr lang="en-IN" dirty="0"/>
          </a:p>
        </p:txBody>
      </p:sp>
      <p:sp>
        <p:nvSpPr>
          <p:cNvPr id="3" name="Subtitle 2">
            <a:extLst>
              <a:ext uri="{FF2B5EF4-FFF2-40B4-BE49-F238E27FC236}">
                <a16:creationId xmlns:a16="http://schemas.microsoft.com/office/drawing/2014/main" id="{2D97CE29-C484-B1C8-A5F2-89CA56623CA5}"/>
              </a:ext>
            </a:extLst>
          </p:cNvPr>
          <p:cNvSpPr>
            <a:spLocks noGrp="1"/>
          </p:cNvSpPr>
          <p:nvPr>
            <p:ph type="subTitle" idx="1"/>
          </p:nvPr>
        </p:nvSpPr>
        <p:spPr>
          <a:xfrm>
            <a:off x="6183085" y="3886200"/>
            <a:ext cx="4789715" cy="1502229"/>
          </a:xfrm>
        </p:spPr>
        <p:txBody>
          <a:bodyPr/>
          <a:lstStyle/>
          <a:p>
            <a:r>
              <a:rPr lang="en-US" dirty="0"/>
              <a:t>Name : Challa HARIKA</a:t>
            </a:r>
          </a:p>
          <a:p>
            <a:r>
              <a:rPr lang="en-US" dirty="0"/>
              <a:t>Tools Used : power BI, EXCEL</a:t>
            </a:r>
            <a:endParaRPr lang="en-IN" dirty="0"/>
          </a:p>
        </p:txBody>
      </p:sp>
    </p:spTree>
    <p:extLst>
      <p:ext uri="{BB962C8B-B14F-4D97-AF65-F5344CB8AC3E}">
        <p14:creationId xmlns:p14="http://schemas.microsoft.com/office/powerpoint/2010/main" val="3732097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A313DEC-7441-B787-7D87-8DBCA533C6EE}"/>
              </a:ext>
            </a:extLst>
          </p:cNvPr>
          <p:cNvSpPr txBox="1"/>
          <p:nvPr/>
        </p:nvSpPr>
        <p:spPr>
          <a:xfrm>
            <a:off x="1469570" y="827314"/>
            <a:ext cx="9176659" cy="7294305"/>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Project Explanation</a:t>
            </a:r>
          </a:p>
          <a:p>
            <a:r>
              <a:rPr lang="en-US" dirty="0">
                <a:latin typeface="Arial" panose="020B0604020202020204" pitchFamily="34" charset="0"/>
                <a:cs typeface="Arial" panose="020B0604020202020204" pitchFamily="34" charset="0"/>
              </a:rPr>
              <a:t>I analyzed bird observation data across forest and grassland habitats to study temporal, spatial, species, environmental, distance and behavior, Observer Trends, Conservation Trends and species-level patterns.</a:t>
            </a:r>
          </a:p>
          <a:p>
            <a:endParaRPr lang="en-US"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Business Problem</a:t>
            </a:r>
          </a:p>
          <a:p>
            <a:r>
              <a:rPr lang="en-US" dirty="0">
                <a:latin typeface="Arial" panose="020B0604020202020204" pitchFamily="34" charset="0"/>
                <a:cs typeface="Arial" panose="020B0604020202020204" pitchFamily="34" charset="0"/>
              </a:rPr>
              <a:t>I helped organizations understand biodiversity distribution and identify conservation priorities.</a:t>
            </a:r>
          </a:p>
          <a:p>
            <a:endParaRPr lang="en-US"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Key Insights</a:t>
            </a:r>
          </a:p>
          <a:p>
            <a:r>
              <a:rPr lang="en-US" dirty="0">
                <a:latin typeface="Arial" panose="020B0604020202020204" pitchFamily="34" charset="0"/>
                <a:cs typeface="Arial" panose="020B0604020202020204" pitchFamily="34" charset="0"/>
              </a:rPr>
              <a:t>Identified seasonal and time-based bird activity trends </a:t>
            </a:r>
          </a:p>
          <a:p>
            <a:r>
              <a:rPr lang="en-US" dirty="0">
                <a:latin typeface="Arial" panose="020B0604020202020204" pitchFamily="34" charset="0"/>
                <a:cs typeface="Arial" panose="020B0604020202020204" pitchFamily="34" charset="0"/>
              </a:rPr>
              <a:t>Discovered biodiversity hotspots across locations </a:t>
            </a:r>
          </a:p>
          <a:p>
            <a:r>
              <a:rPr lang="en-US" dirty="0">
                <a:latin typeface="Arial" panose="020B0604020202020204" pitchFamily="34" charset="0"/>
                <a:cs typeface="Arial" panose="020B0604020202020204" pitchFamily="34" charset="0"/>
              </a:rPr>
              <a:t>Analyzed environmental impact on bird behavior </a:t>
            </a:r>
          </a:p>
          <a:p>
            <a:r>
              <a:rPr lang="en-US" dirty="0">
                <a:latin typeface="Arial" panose="020B0604020202020204" pitchFamily="34" charset="0"/>
                <a:cs typeface="Arial" panose="020B0604020202020204" pitchFamily="34" charset="0"/>
              </a:rPr>
              <a:t>Detected rare and at-risk species for conservation focus </a:t>
            </a:r>
          </a:p>
          <a:p>
            <a:endParaRPr lang="en-US"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Business Impact</a:t>
            </a:r>
          </a:p>
          <a:p>
            <a:r>
              <a:rPr lang="en-US" dirty="0">
                <a:latin typeface="Arial" panose="020B0604020202020204" pitchFamily="34" charset="0"/>
                <a:cs typeface="Arial" panose="020B0604020202020204" pitchFamily="34" charset="0"/>
              </a:rPr>
              <a:t>This project supports wildlife conservation, land management, Eco-Tourism, Sustainable Agriculture, Policy Support, and Biodiversity Monitoring.</a:t>
            </a:r>
          </a:p>
          <a:p>
            <a:endParaRPr lang="en-US" b="1"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695653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1ECC906C-3DD7-296F-0D56-1B1E6139A8C6}"/>
                  </a:ext>
                </a:extLst>
              </p:cNvPr>
              <p:cNvSpPr txBox="1"/>
              <p:nvPr/>
            </p:nvSpPr>
            <p:spPr>
              <a:xfrm>
                <a:off x="1904998" y="805543"/>
                <a:ext cx="8828315" cy="784830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Key KPI’s : </a:t>
                </a:r>
                <a:r>
                  <a:rPr lang="en-US" dirty="0">
                    <a:latin typeface="Arial" panose="020B0604020202020204" pitchFamily="34" charset="0"/>
                    <a:cs typeface="Arial" panose="020B0604020202020204" pitchFamily="34" charset="0"/>
                  </a:rPr>
                  <a:t>Total Observations</a:t>
                </a:r>
              </a:p>
              <a:p>
                <a:r>
                  <a:rPr lang="en-US" dirty="0">
                    <a:latin typeface="Arial" panose="020B0604020202020204" pitchFamily="34" charset="0"/>
                    <a:cs typeface="Arial" panose="020B0604020202020204" pitchFamily="34" charset="0"/>
                  </a:rPr>
                  <a:t>                    Unique Species(Biodiversity)</a:t>
                </a:r>
              </a:p>
              <a:p>
                <a:r>
                  <a:rPr lang="en-US" dirty="0">
                    <a:latin typeface="Arial" panose="020B0604020202020204" pitchFamily="34" charset="0"/>
                    <a:cs typeface="Arial" panose="020B0604020202020204" pitchFamily="34" charset="0"/>
                  </a:rPr>
                  <a:t>                    Species Diversity Index</a:t>
                </a:r>
              </a:p>
              <a:p>
                <a:r>
                  <a:rPr lang="en-US" dirty="0">
                    <a:latin typeface="Arial" panose="020B0604020202020204" pitchFamily="34" charset="0"/>
                    <a:cs typeface="Arial" panose="020B0604020202020204" pitchFamily="34" charset="0"/>
                  </a:rPr>
                  <a:t>                    Detection Rate(%)</a:t>
                </a:r>
              </a:p>
              <a:p>
                <a:r>
                  <a:rPr lang="en-US" dirty="0">
                    <a:latin typeface="Arial" panose="020B0604020202020204" pitchFamily="34" charset="0"/>
                    <a:cs typeface="Arial" panose="020B0604020202020204" pitchFamily="34" charset="0"/>
                  </a:rPr>
                  <a:t>                    Flyover Rate(%)</a:t>
                </a:r>
              </a:p>
              <a:p>
                <a:r>
                  <a:rPr lang="en-US" dirty="0">
                    <a:latin typeface="Arial" panose="020B0604020202020204" pitchFamily="34" charset="0"/>
                    <a:cs typeface="Arial" panose="020B0604020202020204" pitchFamily="34" charset="0"/>
                  </a:rPr>
                  <a:t>                    At-Risk Species Count</a:t>
                </a:r>
              </a:p>
              <a:p>
                <a:endParaRPr lang="en-US"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Business Insights: </a:t>
                </a:r>
              </a:p>
              <a:p>
                <a:endParaRPr lang="en-US"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Seasonal Trends :</a:t>
                </a:r>
                <a:r>
                  <a:rPr lang="en-US" dirty="0">
                    <a:latin typeface="Arial" panose="020B0604020202020204" pitchFamily="34" charset="0"/>
                    <a:cs typeface="Arial" panose="020B0604020202020204" pitchFamily="34" charset="0"/>
                  </a:rPr>
                  <a:t>Bird activity peaks in May(</a:t>
                </a:r>
                <a:r>
                  <a:rPr lang="en-IN" dirty="0">
                    <a:latin typeface="Arial" panose="020B0604020202020204" pitchFamily="34" charset="0"/>
                    <a:cs typeface="Arial" panose="020B0604020202020204" pitchFamily="34" charset="0"/>
                  </a:rPr>
                  <a:t>Peak (1,486)</a:t>
                </a:r>
                <a:r>
                  <a:rPr lang="en-US" dirty="0">
                    <a:latin typeface="Arial" panose="020B0604020202020204" pitchFamily="34" charset="0"/>
                    <a:cs typeface="Arial" panose="020B0604020202020204" pitchFamily="34" charset="0"/>
                  </a:rPr>
                  <a:t>), indicating a seasonal high, followed by a moderate decline to rise in June(1,396). However, a noticeable rebound rise in mid-July(1,056) suggests short-term fluctuations, possibly influenced by local environmental conditions or migration behavior.</a:t>
                </a: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Peak season likely around </a:t>
                </a:r>
                <a:r>
                  <a:rPr lang="en-US" b="1" dirty="0">
                    <a:latin typeface="Arial" panose="020B0604020202020204" pitchFamily="34" charset="0"/>
                    <a:cs typeface="Arial" panose="020B0604020202020204" pitchFamily="34" charset="0"/>
                  </a:rPr>
                  <a:t>late summer / early monsoon transition.</a:t>
                </a:r>
              </a:p>
              <a:p>
                <a:pPr marL="285750" indent="-285750">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Spatial Insights: </a:t>
                </a:r>
                <a:r>
                  <a:rPr lang="en-US" dirty="0">
                    <a:latin typeface="Arial" panose="020B0604020202020204" pitchFamily="34" charset="0"/>
                    <a:cs typeface="Arial" panose="020B0604020202020204" pitchFamily="34" charset="0"/>
                  </a:rPr>
                  <a:t>Grasslands recorded higher bird observations (12.1K) compared to forests (9.7K). </a:t>
                </a:r>
                <a:r>
                  <a:rPr lang="en-IN" dirty="0">
                    <a:latin typeface="Arial" panose="020B0604020202020204" pitchFamily="34" charset="0"/>
                    <a:cs typeface="Arial" panose="020B0604020202020204" pitchFamily="34" charset="0"/>
                  </a:rPr>
                  <a:t>Calculation:</a:t>
                </a:r>
                <a14:m>
                  <m:oMath xmlns:m="http://schemas.openxmlformats.org/officeDocument/2006/math">
                    <m:d>
                      <m:dPr>
                        <m:ctrlPr>
                          <a:rPr lang="ar-AE"/>
                        </m:ctrlPr>
                      </m:dPr>
                      <m:e>
                        <m:r>
                          <a:rPr lang="ar-AE"/>
                          <m:t>12</m:t>
                        </m:r>
                        <m:r>
                          <a:rPr lang="ar-AE"/>
                          <m:t>.</m:t>
                        </m:r>
                        <m:r>
                          <a:rPr lang="ar-AE"/>
                          <m:t>1</m:t>
                        </m:r>
                        <m:r>
                          <a:rPr lang="ar-AE"/>
                          <m:t>−</m:t>
                        </m:r>
                        <m:r>
                          <a:rPr lang="ar-AE"/>
                          <m:t>9</m:t>
                        </m:r>
                        <m:r>
                          <a:rPr lang="ar-AE"/>
                          <m:t>.</m:t>
                        </m:r>
                        <m:r>
                          <a:rPr lang="ar-AE"/>
                          <m:t>7</m:t>
                        </m:r>
                      </m:e>
                    </m:d>
                    <m:r>
                      <a:rPr lang="ar-AE"/>
                      <m:t>/</m:t>
                    </m:r>
                    <m:r>
                      <a:rPr lang="ar-AE"/>
                      <m:t>9</m:t>
                    </m:r>
                    <m:r>
                      <a:rPr lang="ar-AE"/>
                      <m:t>.</m:t>
                    </m:r>
                    <m:r>
                      <a:rPr lang="ar-AE"/>
                      <m:t>7</m:t>
                    </m:r>
                    <m:r>
                      <a:rPr lang="ar-AE"/>
                      <m:t>≈</m:t>
                    </m:r>
                    <m:r>
                      <a:rPr lang="ar-AE"/>
                      <m:t>25</m:t>
                    </m:r>
                    <m:r>
                      <a:rPr lang="ar-AE"/>
                      <m:t>%</m:t>
                    </m:r>
                  </m:oMath>
                </a14:m>
                <a:endParaRPr lang="ar-AE"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Grasslands have approximately 25% higher bird observations than forests, indicating stronger bird activity in grassland ecosystems.</a:t>
                </a:r>
                <a:endParaRPr lang="en-US"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                    </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p:txBody>
          </p:sp>
        </mc:Choice>
        <mc:Fallback>
          <p:sp>
            <p:nvSpPr>
              <p:cNvPr id="3" name="TextBox 2">
                <a:extLst>
                  <a:ext uri="{FF2B5EF4-FFF2-40B4-BE49-F238E27FC236}">
                    <a16:creationId xmlns:a16="http://schemas.microsoft.com/office/drawing/2014/main" id="{1ECC906C-3DD7-296F-0D56-1B1E6139A8C6}"/>
                  </a:ext>
                </a:extLst>
              </p:cNvPr>
              <p:cNvSpPr txBox="1">
                <a:spLocks noRot="1" noChangeAspect="1" noMove="1" noResize="1" noEditPoints="1" noAdjustHandles="1" noChangeArrowheads="1" noChangeShapeType="1" noTextEdit="1"/>
              </p:cNvSpPr>
              <p:nvPr/>
            </p:nvSpPr>
            <p:spPr>
              <a:xfrm>
                <a:off x="1904998" y="805543"/>
                <a:ext cx="8828315" cy="7848302"/>
              </a:xfrm>
              <a:prstGeom prst="rect">
                <a:avLst/>
              </a:prstGeom>
              <a:blipFill>
                <a:blip r:embed="rId2"/>
                <a:stretch>
                  <a:fillRect l="-552" t="-388" r="-1104"/>
                </a:stretch>
              </a:blipFill>
            </p:spPr>
            <p:txBody>
              <a:bodyPr/>
              <a:lstStyle/>
              <a:p>
                <a:r>
                  <a:rPr lang="en-IN">
                    <a:noFill/>
                  </a:rPr>
                  <a:t> </a:t>
                </a:r>
              </a:p>
            </p:txBody>
          </p:sp>
        </mc:Fallback>
      </mc:AlternateContent>
    </p:spTree>
    <p:extLst>
      <p:ext uri="{BB962C8B-B14F-4D97-AF65-F5344CB8AC3E}">
        <p14:creationId xmlns:p14="http://schemas.microsoft.com/office/powerpoint/2010/main" val="11205370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EEFB536-661B-0793-3321-1C97C5D80049}"/>
              </a:ext>
            </a:extLst>
          </p:cNvPr>
          <p:cNvSpPr txBox="1"/>
          <p:nvPr/>
        </p:nvSpPr>
        <p:spPr>
          <a:xfrm>
            <a:off x="1186543" y="609600"/>
            <a:ext cx="9916886" cy="6186309"/>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Species Insights: </a:t>
            </a: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Top Species Insights: </a:t>
            </a:r>
            <a:r>
              <a:rPr lang="en-US" dirty="0">
                <a:latin typeface="Arial" panose="020B0604020202020204" pitchFamily="34" charset="0"/>
                <a:cs typeface="Arial" panose="020B0604020202020204" pitchFamily="34" charset="0"/>
              </a:rPr>
              <a:t>The top observed species are </a:t>
            </a:r>
            <a:r>
              <a:rPr lang="en-US" i="1" dirty="0">
                <a:latin typeface="Arial" panose="020B0604020202020204" pitchFamily="34" charset="0"/>
                <a:cs typeface="Arial" panose="020B0604020202020204" pitchFamily="34" charset="0"/>
              </a:rPr>
              <a:t>Vireo olivaceus</a:t>
            </a:r>
            <a:r>
              <a:rPr lang="en-US" dirty="0">
                <a:latin typeface="Arial" panose="020B0604020202020204" pitchFamily="34" charset="0"/>
                <a:cs typeface="Arial" panose="020B0604020202020204" pitchFamily="34" charset="0"/>
              </a:rPr>
              <a:t> (849), </a:t>
            </a:r>
            <a:r>
              <a:rPr lang="en-US" i="1" dirty="0">
                <a:latin typeface="Arial" panose="020B0604020202020204" pitchFamily="34" charset="0"/>
                <a:cs typeface="Arial" panose="020B0604020202020204" pitchFamily="34" charset="0"/>
              </a:rPr>
              <a:t>Zenaida macroura</a:t>
            </a:r>
            <a:r>
              <a:rPr lang="en-US" dirty="0">
                <a:latin typeface="Arial" panose="020B0604020202020204" pitchFamily="34" charset="0"/>
                <a:cs typeface="Arial" panose="020B0604020202020204" pitchFamily="34" charset="0"/>
              </a:rPr>
              <a:t> (606), and </a:t>
            </a:r>
            <a:r>
              <a:rPr lang="en-US" i="1" dirty="0">
                <a:latin typeface="Arial" panose="020B0604020202020204" pitchFamily="34" charset="0"/>
                <a:cs typeface="Arial" panose="020B0604020202020204" pitchFamily="34" charset="0"/>
              </a:rPr>
              <a:t>Turdus </a:t>
            </a:r>
            <a:r>
              <a:rPr lang="en-US" i="1" dirty="0" err="1">
                <a:latin typeface="Arial" panose="020B0604020202020204" pitchFamily="34" charset="0"/>
                <a:cs typeface="Arial" panose="020B0604020202020204" pitchFamily="34" charset="0"/>
              </a:rPr>
              <a:t>migratorius</a:t>
            </a:r>
            <a:r>
              <a:rPr lang="en-US" dirty="0">
                <a:latin typeface="Arial" panose="020B0604020202020204" pitchFamily="34" charset="0"/>
                <a:cs typeface="Arial" panose="020B0604020202020204" pitchFamily="34" charset="0"/>
              </a:rPr>
              <a:t> (573), contributing significantly to overall observations, indicating dominance of a few species in the ecosystem.</a:t>
            </a: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Rare Species Insights: </a:t>
            </a:r>
            <a:r>
              <a:rPr lang="en-US" dirty="0">
                <a:latin typeface="Arial" panose="020B0604020202020204" pitchFamily="34" charset="0"/>
                <a:cs typeface="Arial" panose="020B0604020202020204" pitchFamily="34" charset="0"/>
              </a:rPr>
              <a:t>Rare species such as </a:t>
            </a:r>
            <a:r>
              <a:rPr lang="en-US" i="1" dirty="0">
                <a:latin typeface="Arial" panose="020B0604020202020204" pitchFamily="34" charset="0"/>
                <a:cs typeface="Arial" panose="020B0604020202020204" pitchFamily="34" charset="0"/>
              </a:rPr>
              <a:t>Aix sponsa</a:t>
            </a:r>
            <a:r>
              <a:rPr lang="en-US" dirty="0">
                <a:latin typeface="Arial" panose="020B0604020202020204" pitchFamily="34" charset="0"/>
                <a:cs typeface="Arial" panose="020B0604020202020204" pitchFamily="34" charset="0"/>
              </a:rPr>
              <a:t> (5) and </a:t>
            </a:r>
            <a:r>
              <a:rPr lang="en-US" i="1" dirty="0">
                <a:latin typeface="Arial" panose="020B0604020202020204" pitchFamily="34" charset="0"/>
                <a:cs typeface="Arial" panose="020B0604020202020204" pitchFamily="34" charset="0"/>
              </a:rPr>
              <a:t>Accipiter </a:t>
            </a:r>
            <a:r>
              <a:rPr lang="en-US" i="1" dirty="0" err="1">
                <a:latin typeface="Arial" panose="020B0604020202020204" pitchFamily="34" charset="0"/>
                <a:cs typeface="Arial" panose="020B0604020202020204" pitchFamily="34" charset="0"/>
              </a:rPr>
              <a:t>cooperii</a:t>
            </a:r>
            <a:r>
              <a:rPr lang="en-US" dirty="0">
                <a:latin typeface="Arial" panose="020B0604020202020204" pitchFamily="34" charset="0"/>
                <a:cs typeface="Arial" panose="020B0604020202020204" pitchFamily="34" charset="0"/>
              </a:rPr>
              <a:t> (3) have very low observation counts, indicating limited presence or potential conservation concern.</a:t>
            </a: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Plot-level Insight: </a:t>
            </a:r>
            <a:r>
              <a:rPr lang="en-US" dirty="0">
                <a:latin typeface="Arial" panose="020B0604020202020204" pitchFamily="34" charset="0"/>
                <a:cs typeface="Arial" panose="020B0604020202020204" pitchFamily="34" charset="0"/>
              </a:rPr>
              <a:t>Plot ROCR-0172 recorded the highest species diversity with 17 species (13.49%), making it a key biodiversity hotspot.</a:t>
            </a:r>
          </a:p>
          <a:p>
            <a:pPr marL="285750" indent="-285750">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Environmental Insights:</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Bird observations are highest under moderate environmental conditions—specifically temperatures between 21°C and 25°C and humidity between 79% and 88%. Additionally, most birds are observed within 50-100 meters, indicating higher activity or visibility in stable weather conditions such as partly cloudy skies.</a:t>
            </a:r>
          </a:p>
          <a:p>
            <a:endParaRPr lang="en-US" b="1"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Distance &amp; </a:t>
            </a:r>
            <a:r>
              <a:rPr lang="en-IN" b="1" dirty="0" err="1">
                <a:latin typeface="Arial" panose="020B0604020202020204" pitchFamily="34" charset="0"/>
                <a:cs typeface="Arial" panose="020B0604020202020204" pitchFamily="34" charset="0"/>
              </a:rPr>
              <a:t>Behavior</a:t>
            </a:r>
            <a:r>
              <a:rPr lang="en-IN" b="1" dirty="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Bird observations are primarily concentrated within 0–100 meters, indicating localized activity. Additionally, Flyover activity is significantly higher in grasslands (1724) compared to forests (101), indicating substantially greater bird movement in open habitats.</a:t>
            </a:r>
            <a:r>
              <a:rPr lang="en-US" dirty="0"/>
              <a:t> </a:t>
            </a:r>
            <a:r>
              <a:rPr lang="en-US" dirty="0">
                <a:latin typeface="Arial" panose="020B0604020202020204" pitchFamily="34" charset="0"/>
                <a:cs typeface="Arial" panose="020B0604020202020204" pitchFamily="34" charset="0"/>
              </a:rPr>
              <a:t>Grasslands show over 15x higher flyover activity than forests, highlighting strong habitat-driven differences in bird movement behavior.</a:t>
            </a: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95070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CB7546E-6D44-D6A2-B0C3-FD886CBA865D}"/>
              </a:ext>
            </a:extLst>
          </p:cNvPr>
          <p:cNvSpPr txBox="1"/>
          <p:nvPr/>
        </p:nvSpPr>
        <p:spPr>
          <a:xfrm>
            <a:off x="903514" y="468086"/>
            <a:ext cx="10178142" cy="3970318"/>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Observer Insights : </a:t>
            </a:r>
            <a:r>
              <a:rPr lang="en-US" dirty="0">
                <a:latin typeface="Arial" panose="020B0604020202020204" pitchFamily="34" charset="0"/>
                <a:cs typeface="Arial" panose="020B0604020202020204" pitchFamily="34" charset="0"/>
              </a:rPr>
              <a:t>Elizabeth Oswald recorded the highest number of observations (301), followed by Kimberly Serno (249), indicating a noticeable variation in observation contribution across individuals.</a:t>
            </a:r>
          </a:p>
          <a:p>
            <a:endParaRPr lang="en-US" b="1"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Conservation Insights: </a:t>
            </a:r>
            <a:r>
              <a:rPr lang="en-US" dirty="0">
                <a:latin typeface="Arial" panose="020B0604020202020204" pitchFamily="34" charset="0"/>
                <a:cs typeface="Arial" panose="020B0604020202020204" pitchFamily="34" charset="0"/>
              </a:rPr>
              <a:t>The analysis identified 8 at-risk species (6% of total), with several species flagged under both national and regional conservation programs. These species are distributed across forest and grassland habitats, with forests showing slightly higher concentration. Low observation counts indicate rarity, emphasizing the need for targeted conservation and monitoring efforts.”</a:t>
            </a:r>
          </a:p>
          <a:p>
            <a:endParaRPr lang="en-US" b="1"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Summary : </a:t>
            </a:r>
            <a:r>
              <a:rPr lang="en-US" dirty="0">
                <a:latin typeface="Arial" panose="020B0604020202020204" pitchFamily="34" charset="0"/>
                <a:cs typeface="Arial" panose="020B0604020202020204" pitchFamily="34" charset="0"/>
              </a:rPr>
              <a:t>Bird activity is highest in grasslands under moderate environmental conditions, with most observations occurring within short-to-moderate distances. While a few species dominate the dataset, several at-risk species primarily in </a:t>
            </a:r>
            <a:r>
              <a:rPr lang="en-US">
                <a:latin typeface="Arial" panose="020B0604020202020204" pitchFamily="34" charset="0"/>
                <a:cs typeface="Arial" panose="020B0604020202020204" pitchFamily="34" charset="0"/>
              </a:rPr>
              <a:t>forest habitats highlight </a:t>
            </a:r>
            <a:r>
              <a:rPr lang="en-US" dirty="0">
                <a:latin typeface="Arial" panose="020B0604020202020204" pitchFamily="34" charset="0"/>
                <a:cs typeface="Arial" panose="020B0604020202020204" pitchFamily="34" charset="0"/>
              </a:rPr>
              <a:t>the need for targeted conservation and balanced data collection.</a:t>
            </a:r>
            <a:endParaRPr lang="en-IN"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07443268"/>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TM04033925[[fn=Droplet]]</Template>
  <TotalTime>216</TotalTime>
  <Words>613</Words>
  <Application>Microsoft Office PowerPoint</Application>
  <PresentationFormat>Widescreen</PresentationFormat>
  <Paragraphs>61</Paragraphs>
  <Slides>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Tw Cen MT</vt:lpstr>
      <vt:lpstr>Droplet</vt:lpstr>
      <vt:lpstr>BirD SPECIES OBSERVATION ANALYSIS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Harika Challa</dc:creator>
  <cp:lastModifiedBy>Harika Challa</cp:lastModifiedBy>
  <cp:revision>1</cp:revision>
  <dcterms:created xsi:type="dcterms:W3CDTF">2026-05-03T16:36:39Z</dcterms:created>
  <dcterms:modified xsi:type="dcterms:W3CDTF">2026-05-03T20:12:54Z</dcterms:modified>
</cp:coreProperties>
</file>